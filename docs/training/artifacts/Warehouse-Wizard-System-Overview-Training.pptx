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minute(s)
Open by saying: ‘This is a tour, not a test. You already know the warehouse; we are simply finding where each familiar job lives in Warehouse Wizard.’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Invite participants to describe their own terms and routines. Use those words first, then connect them to the system. Nobody needs to memorize all 22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Use ‘neighborhoods’ rather than a software map. Ask which group feels closest to each person’s day. Role access may hide modules that are not part of their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Ask how the team handles this work today. Then show Dashboard as the place where that familiar decision is recorded, who normally uses it, what happens next, and when an experienced person would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minute(s)
Ask how the team handles this work today. Then show Warehouses as the place where that familiar decision is recorded, who normally uses it, what happens next, and when an experienced person would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minute(s)
Ask how the team handles this work today. Then show Clients as the place where that familiar decision is recorded, who normally uses it, what happens next, and when an experienced person would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minute(s)
Ask how the team handles this work today. Then show Zones as the place where that familiar decision is recorded, who normally uses it, what happens next, and when an experienced person would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minute(s)
Ask how the team handles this work today. Then show Bin Locations as the place where that familiar decision is recorded, who normally uses it, what happens next, and when an experienced person would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minute(s)
Ask how the team handles this work today. Then show Products as the place where that familiar decision is recorded, who normally uses it, what happens next, and when an experienced person would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minute(s)
Ask how the team handles this work today. Then show Packaging Profiles as the place where that familiar decision is recorded, who normally uses it, what happens next, and when an experienced person would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Ask how the team handles this work today. Then show Receiving as the place where that familiar decision is recorded, who normally uses it, what happens next, and when an experienced person would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Ask how the team handles this work today. Then show Put-Away as the place where that familiar decision is recorded, who normally uses it, what happens next, and when an experienced person would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Ask how the team handles this work today. Then show Inventory Search as the place where that familiar decision is recorded, who normally uses it, what happens next, and when an experienced person would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Ask how the team handles this work today. Then show Pick Lists as the place where that familiar decision is recorded, who normally uses it, what happens next, and when an experienced person would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Ask how the team handles this work today. Then show Transfers as the place where that familiar decision is recorded, who normally uses it, what happens next, and when an experienced person would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minute(s)
Ask how the team handles this work today. Then show Location Moves as the place where that familiar decision is recorded, who normally uses it, what happens next, and when an experienced person would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Ask how the team handles this work today. Then show Cycle Counts as the place where that familiar decision is recorded, who normally uses it, what happens next, and when an experienced person would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Ask how the team handles this work today. Then show Statuses as the place where that familiar decision is recorded, who normally uses it, what happens next, and when an experienced person would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minute(s)
Ask how the team handles this work today. Then show Reports as the place where that familiar decision is recorded, who normally uses it, what happens next, and when an experienced person would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minute(s)
Ask how the team handles this work today. Then show Users &amp; Roles as the place where that familiar decision is recorded, who normally uses it, what happens next, and when an experienced person would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minute(s)
Ask how the team handles this work today. Then show System Log as the place where that familiar decision is recorded, who normally uses it, what happens next, and when an experienced person would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minute(s)
Ask how the team handles this work today. Then show Email Log as the place where that familiar decision is recorded, who normally uses it, what happens next, and when an experienced person would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minute(s)
Ask how the team handles this work today. Then show Settings as the place where that familiar decision is recorded, who normally uses it, what happens next, and when an experienced person would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minute(s)
Ask how the team handles this work today. Then show Help Center as the place where that familiar decision is recorded, who normally uses it, what happens next, and when an experienced person would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minute(s)
Ask how the team handles this work today. Then show Setup Wizard as the place where that familiar decision is recorded, who normally uses it, what happens next, and when an experienced person would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Ask the team to tell the story in their own words. Explain that every handoff preserves one pallet identity and Inventory Search helps everyone pick up the same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Let the room answer from experience. If the answer differs, ask why before showing the system path; there may be a valuable site-specific process to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Thank the room for the operational knowledge they brought. Orientation shows where; confidence comes from a supported first run using their own stock and situations.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434"/>
        </a:solidFill>
      </p:bgPr>
    </p:bg>
    <p:spTree>
      <p:nvGrpSpPr>
        <p:cNvPr id="1" name=""/>
        <p:cNvGrpSpPr/>
        <p:nvPr/>
      </p:nvGrpSpPr>
      <p:grpSpPr>
        <a:xfrm>
          <a:off x="0" y="0"/>
          <a:ext cx="0" cy="0"/>
          <a:chOff x="0" y="0"/>
          <a:chExt cx="0" cy="0"/>
        </a:xfrm>
      </p:grpSpPr>
      <p:pic>
        <p:nvPicPr>
          <p:cNvPr id="3" name="Image 0" descr="C:\classicitbb\warehouse-wizard\docs\training\assets\warehouse-team-huddle.png">    </p:cNvPr>
          <p:cNvPicPr>
            <a:picLocks noChangeAspect="1"/>
          </p:cNvPicPr>
          <p:nvPr/>
        </p:nvPicPr>
        <p:blipFill>
          <a:blip r:embed="rId1"/>
          <a:stretch>
            <a:fillRect/>
          </a:stretch>
        </p:blipFill>
        <p:spPr>
          <a:xfrm>
            <a:off x="0" y="0"/>
            <a:ext cx="12191695" cy="6858000"/>
          </a:xfrm>
          <a:prstGeom prst="rect">
            <a:avLst/>
          </a:prstGeom>
        </p:spPr>
      </p:pic>
      <p:sp>
        <p:nvSpPr>
          <p:cNvPr id="4" name="Shape 0"/>
          <p:cNvSpPr/>
          <p:nvPr/>
        </p:nvSpPr>
        <p:spPr>
          <a:xfrm>
            <a:off x="0" y="0"/>
            <a:ext cx="12191695" cy="6858000"/>
          </a:xfrm>
          <a:prstGeom prst="rect">
            <a:avLst/>
          </a:prstGeom>
          <a:solidFill>
            <a:srgbClr val="0B2434">
              <a:alpha val="62000"/>
            </a:srgbClr>
          </a:solidFill>
          <a:ln w="12700">
            <a:solidFill>
              <a:srgbClr val="0B2434">
                <a:alpha val="0"/>
              </a:srgbClr>
            </a:solidFill>
            <a:prstDash val="solid"/>
          </a:ln>
        </p:spPr>
      </p:sp>
      <p:sp>
        <p:nvSpPr>
          <p:cNvPr id="5" name="Shape 1"/>
          <p:cNvSpPr/>
          <p:nvPr/>
        </p:nvSpPr>
        <p:spPr>
          <a:xfrm>
            <a:off x="0" y="0"/>
            <a:ext cx="6766560" cy="6858000"/>
          </a:xfrm>
          <a:prstGeom prst="rect">
            <a:avLst/>
          </a:prstGeom>
          <a:solidFill>
            <a:srgbClr val="0B2434">
              <a:alpha val="92000"/>
            </a:srgbClr>
          </a:solidFill>
          <a:ln w="12700">
            <a:solidFill>
              <a:srgbClr val="0B2434">
                <a:alpha val="0"/>
              </a:srgbClr>
            </a:solidFill>
            <a:prstDash val="solid"/>
          </a:ln>
        </p:spPr>
      </p:sp>
      <p:sp>
        <p:nvSpPr>
          <p:cNvPr id="6" name="Text 2"/>
          <p:cNvSpPr/>
          <p:nvPr/>
        </p:nvSpPr>
        <p:spPr>
          <a:xfrm>
            <a:off x="777240" y="914400"/>
            <a:ext cx="3657600" cy="320040"/>
          </a:xfrm>
          <a:prstGeom prst="rect">
            <a:avLst/>
          </a:prstGeom>
          <a:noFill/>
          <a:ln/>
        </p:spPr>
        <p:txBody>
          <a:bodyPr wrap="square" lIns="0" tIns="0" rIns="0" bIns="0" rtlCol="0" anchor="ctr"/>
          <a:lstStyle/>
          <a:p>
            <a:pPr indent="0" marL="0">
              <a:buNone/>
            </a:pPr>
            <a:r>
              <a:rPr lang="en-US" sz="1400" b="1" spc="220" kern="0" dirty="0">
                <a:solidFill>
                  <a:srgbClr val="FFC928"/>
                </a:solidFill>
              </a:rPr>
              <a:t>WAREHOUSE WIZARD</a:t>
            </a:r>
            <a:endParaRPr lang="en-US" sz="1400" dirty="0"/>
          </a:p>
        </p:txBody>
      </p:sp>
      <p:sp>
        <p:nvSpPr>
          <p:cNvPr id="7" name="Text 3"/>
          <p:cNvSpPr/>
          <p:nvPr/>
        </p:nvSpPr>
        <p:spPr>
          <a:xfrm>
            <a:off x="749808" y="1572768"/>
            <a:ext cx="5669280" cy="685800"/>
          </a:xfrm>
          <a:prstGeom prst="rect">
            <a:avLst/>
          </a:prstGeom>
          <a:noFill/>
          <a:ln/>
        </p:spPr>
        <p:txBody>
          <a:bodyPr wrap="square" lIns="0" tIns="0" rIns="0" bIns="0" rtlCol="0" anchor="ctr"/>
          <a:lstStyle/>
          <a:p>
            <a:pPr indent="0" marL="0">
              <a:buNone/>
            </a:pPr>
            <a:r>
              <a:rPr lang="en-US" sz="4300" b="1" dirty="0">
                <a:solidFill>
                  <a:srgbClr val="FFFFFF"/>
                </a:solidFill>
              </a:rPr>
              <a:t>System Tour</a:t>
            </a:r>
            <a:endParaRPr lang="en-US" sz="4300" dirty="0"/>
          </a:p>
        </p:txBody>
      </p:sp>
      <p:sp>
        <p:nvSpPr>
          <p:cNvPr id="8" name="Text 4"/>
          <p:cNvSpPr/>
          <p:nvPr/>
        </p:nvSpPr>
        <p:spPr>
          <a:xfrm>
            <a:off x="777240" y="2834640"/>
            <a:ext cx="5394960" cy="731520"/>
          </a:xfrm>
          <a:prstGeom prst="rect">
            <a:avLst/>
          </a:prstGeom>
          <a:noFill/>
          <a:ln/>
        </p:spPr>
        <p:txBody>
          <a:bodyPr wrap="square" lIns="0" tIns="0" rIns="0" bIns="0" rtlCol="0" anchor="ctr">
            <a:normAutofit/>
          </a:bodyPr>
          <a:lstStyle/>
          <a:p>
            <a:pPr indent="0" marL="0">
              <a:buNone/>
            </a:pPr>
            <a:r>
              <a:rPr lang="en-US" sz="2100" dirty="0">
                <a:solidFill>
                  <a:srgbClr val="BFE7E5"/>
                </a:solidFill>
              </a:rPr>
              <a:t>Where the work your team already does lives in Warehouse Wizard</a:t>
            </a:r>
            <a:endParaRPr lang="en-US" sz="2100" dirty="0"/>
          </a:p>
        </p:txBody>
      </p:sp>
      <p:sp>
        <p:nvSpPr>
          <p:cNvPr id="9" name="Shape 5"/>
          <p:cNvSpPr/>
          <p:nvPr/>
        </p:nvSpPr>
        <p:spPr>
          <a:xfrm>
            <a:off x="777240" y="4251960"/>
            <a:ext cx="2011680" cy="457200"/>
          </a:xfrm>
          <a:prstGeom prst="roundRect">
            <a:avLst>
              <a:gd name="adj" fmla="val 12000"/>
            </a:avLst>
          </a:prstGeom>
          <a:solidFill>
            <a:srgbClr val="F47C20"/>
          </a:solidFill>
          <a:ln w="12700">
            <a:solidFill>
              <a:srgbClr val="F47C20"/>
            </a:solidFill>
            <a:prstDash val="solid"/>
          </a:ln>
        </p:spPr>
      </p:sp>
      <p:sp>
        <p:nvSpPr>
          <p:cNvPr id="10" name="Text 6"/>
          <p:cNvSpPr/>
          <p:nvPr/>
        </p:nvSpPr>
        <p:spPr>
          <a:xfrm>
            <a:off x="932688" y="4398264"/>
            <a:ext cx="1691640" cy="182880"/>
          </a:xfrm>
          <a:prstGeom prst="rect">
            <a:avLst/>
          </a:prstGeom>
          <a:noFill/>
          <a:ln/>
        </p:spPr>
        <p:txBody>
          <a:bodyPr wrap="square" lIns="0" tIns="0" rIns="0" bIns="0" rtlCol="0" anchor="ctr"/>
          <a:lstStyle/>
          <a:p>
            <a:pPr algn="ctr" indent="0" marL="0">
              <a:buNone/>
            </a:pPr>
            <a:r>
              <a:rPr lang="en-US" sz="1200" b="1" dirty="0">
                <a:solidFill>
                  <a:srgbClr val="FFFFFF"/>
                </a:solidFill>
              </a:rPr>
              <a:t>45 MINUTES</a:t>
            </a:r>
            <a:endParaRPr lang="en-US" sz="1200" dirty="0"/>
          </a:p>
        </p:txBody>
      </p:sp>
      <p:sp>
        <p:nvSpPr>
          <p:cNvPr id="11" name="Text 7"/>
          <p:cNvSpPr/>
          <p:nvPr/>
        </p:nvSpPr>
        <p:spPr>
          <a:xfrm>
            <a:off x="10698480" y="6446520"/>
            <a:ext cx="822960" cy="182880"/>
          </a:xfrm>
          <a:prstGeom prst="rect">
            <a:avLst/>
          </a:prstGeom>
          <a:noFill/>
          <a:ln/>
        </p:spPr>
        <p:txBody>
          <a:bodyPr wrap="square" lIns="0" tIns="0" rIns="0" bIns="0" rtlCol="0" anchor="ctr"/>
          <a:lstStyle/>
          <a:p>
            <a:pPr algn="r" indent="0" marL="0">
              <a:buNone/>
            </a:pPr>
            <a:r>
              <a:rPr lang="en-US" sz="800" dirty="0">
                <a:solidFill>
                  <a:srgbClr val="667985"/>
                </a:solidFill>
              </a:rPr>
              <a:t>1 / 28</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66928" y="384048"/>
            <a:ext cx="9966960" cy="438912"/>
          </a:xfrm>
          <a:prstGeom prst="rect">
            <a:avLst/>
          </a:prstGeom>
          <a:noFill/>
          <a:ln/>
        </p:spPr>
        <p:txBody>
          <a:bodyPr wrap="square" lIns="0" tIns="0" rIns="0" bIns="0" rtlCol="0" anchor="ctr">
            <a:normAutofit/>
          </a:bodyPr>
          <a:lstStyle/>
          <a:p>
            <a:pPr indent="0" marL="0">
              <a:buNone/>
            </a:pPr>
            <a:r>
              <a:rPr lang="en-US" sz="2500" b="1" dirty="0">
                <a:solidFill>
                  <a:srgbClr val="123247"/>
                </a:solidFill>
                <a:latin typeface="Aptos Display" pitchFamily="34" charset="0"/>
                <a:ea typeface="Aptos Display" pitchFamily="34" charset="-122"/>
                <a:cs typeface="Aptos Display" pitchFamily="34" charset="-120"/>
              </a:rPr>
              <a:t>This is a tour, not a test</a:t>
            </a:r>
            <a:endParaRPr lang="en-US" sz="2500" dirty="0"/>
          </a:p>
        </p:txBody>
      </p:sp>
      <p:sp>
        <p:nvSpPr>
          <p:cNvPr id="5" name="Text 2"/>
          <p:cNvSpPr/>
          <p:nvPr/>
        </p:nvSpPr>
        <p:spPr>
          <a:xfrm>
            <a:off x="10698480" y="438912"/>
            <a:ext cx="777240" cy="228600"/>
          </a:xfrm>
          <a:prstGeom prst="rect">
            <a:avLst/>
          </a:prstGeom>
          <a:noFill/>
          <a:ln/>
        </p:spPr>
        <p:txBody>
          <a:bodyPr wrap="square" lIns="0" tIns="0" rIns="0" bIns="0" rtlCol="0" anchor="ctr"/>
          <a:lstStyle/>
          <a:p>
            <a:pPr algn="r" indent="0" marL="0">
              <a:buNone/>
            </a:pPr>
            <a:r>
              <a:rPr lang="en-US" sz="900" b="1" dirty="0">
                <a:solidFill>
                  <a:srgbClr val="087B76"/>
                </a:solidFill>
              </a:rPr>
              <a:t>2 min</a:t>
            </a:r>
            <a:endParaRPr lang="en-US" sz="900" dirty="0"/>
          </a:p>
        </p:txBody>
      </p:sp>
      <p:sp>
        <p:nvSpPr>
          <p:cNvPr id="6" name="Text 3"/>
          <p:cNvSpPr/>
          <p:nvPr/>
        </p:nvSpPr>
        <p:spPr>
          <a:xfrm>
            <a:off x="566928" y="6473952"/>
            <a:ext cx="1097280" cy="182880"/>
          </a:xfrm>
          <a:prstGeom prst="rect">
            <a:avLst/>
          </a:prstGeom>
          <a:noFill/>
          <a:ln/>
        </p:spPr>
        <p:txBody>
          <a:bodyPr wrap="square" lIns="0" tIns="0" rIns="0" bIns="0" rtlCol="0" anchor="ctr"/>
          <a:lstStyle/>
          <a:p>
            <a:pPr indent="0" marL="0">
              <a:buNone/>
            </a:pPr>
            <a:r>
              <a:rPr lang="en-US" sz="800" dirty="0">
                <a:solidFill>
                  <a:srgbClr val="667985"/>
                </a:solidFill>
              </a:rPr>
              <a:t>Product 1.27</a:t>
            </a:r>
            <a:endParaRPr lang="en-US" sz="800" dirty="0"/>
          </a:p>
        </p:txBody>
      </p:sp>
      <p:sp>
        <p:nvSpPr>
          <p:cNvPr id="7" name="Text 4"/>
          <p:cNvSpPr/>
          <p:nvPr/>
        </p:nvSpPr>
        <p:spPr>
          <a:xfrm>
            <a:off x="10789920" y="6473952"/>
            <a:ext cx="731520" cy="182880"/>
          </a:xfrm>
          <a:prstGeom prst="rect">
            <a:avLst/>
          </a:prstGeom>
          <a:noFill/>
          <a:ln/>
        </p:spPr>
        <p:txBody>
          <a:bodyPr wrap="square" lIns="0" tIns="0" rIns="0" bIns="0" rtlCol="0" anchor="ctr"/>
          <a:lstStyle/>
          <a:p>
            <a:pPr algn="r" indent="0" marL="0">
              <a:buNone/>
            </a:pPr>
            <a:r>
              <a:rPr lang="en-US" sz="800" dirty="0">
                <a:solidFill>
                  <a:srgbClr val="667985"/>
                </a:solidFill>
              </a:rPr>
              <a:t>2 / 28</a:t>
            </a:r>
            <a:endParaRPr lang="en-US" sz="800" dirty="0"/>
          </a:p>
        </p:txBody>
      </p:sp>
      <p:sp>
        <p:nvSpPr>
          <p:cNvPr id="8" name="Shape 5"/>
          <p:cNvSpPr/>
          <p:nvPr/>
        </p:nvSpPr>
        <p:spPr>
          <a:xfrm>
            <a:off x="640080" y="1417320"/>
            <a:ext cx="5074920" cy="1691640"/>
          </a:xfrm>
          <a:prstGeom prst="roundRect">
            <a:avLst>
              <a:gd name="adj" fmla="val 3243"/>
            </a:avLst>
          </a:prstGeom>
          <a:solidFill>
            <a:srgbClr val="FFFFFF"/>
          </a:solidFill>
          <a:ln w="15240">
            <a:solidFill>
              <a:srgbClr val="D7E2E6"/>
            </a:solidFill>
            <a:prstDash val="solid"/>
          </a:ln>
          <a:effectLst>
            <a:outerShdw sx="100000" sy="100000" kx="0" ky="0" algn="bl" rotWithShape="0" blurRad="12700" dist="50800" dir="2700000">
              <a:srgbClr val="9DAFB7">
                <a:alpha val="12000"/>
              </a:srgbClr>
            </a:outerShdw>
          </a:effectLst>
        </p:spPr>
      </p:sp>
      <p:sp>
        <p:nvSpPr>
          <p:cNvPr id="9" name="Shape 6"/>
          <p:cNvSpPr/>
          <p:nvPr/>
        </p:nvSpPr>
        <p:spPr>
          <a:xfrm>
            <a:off x="640080" y="1417320"/>
            <a:ext cx="73152" cy="1691640"/>
          </a:xfrm>
          <a:prstGeom prst="rect">
            <a:avLst/>
          </a:prstGeom>
          <a:solidFill>
            <a:srgbClr val="0F9D96"/>
          </a:solidFill>
          <a:ln w="12700">
            <a:solidFill>
              <a:srgbClr val="0F9D96"/>
            </a:solidFill>
            <a:prstDash val="solid"/>
          </a:ln>
        </p:spPr>
      </p:sp>
      <p:sp>
        <p:nvSpPr>
          <p:cNvPr id="10" name="Text 7"/>
          <p:cNvSpPr/>
          <p:nvPr/>
        </p:nvSpPr>
        <p:spPr>
          <a:xfrm>
            <a:off x="868680" y="1600200"/>
            <a:ext cx="4663440" cy="256032"/>
          </a:xfrm>
          <a:prstGeom prst="rect">
            <a:avLst/>
          </a:prstGeom>
          <a:noFill/>
          <a:ln/>
        </p:spPr>
        <p:txBody>
          <a:bodyPr wrap="square" lIns="0" tIns="0" rIns="0" bIns="0" rtlCol="0" anchor="ctr"/>
          <a:lstStyle/>
          <a:p>
            <a:pPr indent="0" marL="0">
              <a:buNone/>
            </a:pPr>
            <a:r>
              <a:rPr lang="en-US" sz="1200" b="1" spc="80" kern="0" dirty="0">
                <a:solidFill>
                  <a:srgbClr val="0F9D96"/>
                </a:solidFill>
              </a:rPr>
              <a:t>FAMILIAR WORK</a:t>
            </a:r>
            <a:endParaRPr lang="en-US" sz="1200" dirty="0"/>
          </a:p>
        </p:txBody>
      </p:sp>
      <p:sp>
        <p:nvSpPr>
          <p:cNvPr id="11" name="Text 8"/>
          <p:cNvSpPr/>
          <p:nvPr/>
        </p:nvSpPr>
        <p:spPr>
          <a:xfrm>
            <a:off x="868680" y="2039112"/>
            <a:ext cx="4663440" cy="896112"/>
          </a:xfrm>
          <a:prstGeom prst="rect">
            <a:avLst/>
          </a:prstGeom>
          <a:noFill/>
          <a:ln/>
        </p:spPr>
        <p:txBody>
          <a:bodyPr wrap="square" lIns="0" tIns="0" rIns="0" bIns="0" rtlCol="0" anchor="ctr">
            <a:normAutofit/>
          </a:bodyPr>
          <a:lstStyle/>
          <a:p>
            <a:pPr indent="0" marL="0">
              <a:buNone/>
            </a:pPr>
            <a:r>
              <a:rPr lang="en-US" sz="1700" b="1" dirty="0">
                <a:solidFill>
                  <a:srgbClr val="16303D"/>
                </a:solidFill>
              </a:rPr>
              <a:t>Start with what happens on your floor</a:t>
            </a:r>
            <a:endParaRPr lang="en-US" sz="1700" dirty="0"/>
          </a:p>
        </p:txBody>
      </p:sp>
      <p:sp>
        <p:nvSpPr>
          <p:cNvPr id="12" name="Shape 9"/>
          <p:cNvSpPr/>
          <p:nvPr/>
        </p:nvSpPr>
        <p:spPr>
          <a:xfrm>
            <a:off x="6199632" y="1417320"/>
            <a:ext cx="5074920" cy="1691640"/>
          </a:xfrm>
          <a:prstGeom prst="roundRect">
            <a:avLst>
              <a:gd name="adj" fmla="val 3243"/>
            </a:avLst>
          </a:prstGeom>
          <a:solidFill>
            <a:srgbClr val="FFFFFF"/>
          </a:solidFill>
          <a:ln w="15240">
            <a:solidFill>
              <a:srgbClr val="D7E2E6"/>
            </a:solidFill>
            <a:prstDash val="solid"/>
          </a:ln>
          <a:effectLst>
            <a:outerShdw sx="100000" sy="100000" kx="0" ky="0" algn="bl" rotWithShape="0" blurRad="12700" dist="50800" dir="2700000">
              <a:srgbClr val="9DAFB7">
                <a:alpha val="12000"/>
              </a:srgbClr>
            </a:outerShdw>
          </a:effectLst>
        </p:spPr>
      </p:sp>
      <p:sp>
        <p:nvSpPr>
          <p:cNvPr id="13" name="Shape 10"/>
          <p:cNvSpPr/>
          <p:nvPr/>
        </p:nvSpPr>
        <p:spPr>
          <a:xfrm>
            <a:off x="6199632" y="1417320"/>
            <a:ext cx="73152" cy="1691640"/>
          </a:xfrm>
          <a:prstGeom prst="rect">
            <a:avLst/>
          </a:prstGeom>
          <a:solidFill>
            <a:srgbClr val="F47C20"/>
          </a:solidFill>
          <a:ln w="12700">
            <a:solidFill>
              <a:srgbClr val="F47C20"/>
            </a:solidFill>
            <a:prstDash val="solid"/>
          </a:ln>
        </p:spPr>
      </p:sp>
      <p:sp>
        <p:nvSpPr>
          <p:cNvPr id="14" name="Text 11"/>
          <p:cNvSpPr/>
          <p:nvPr/>
        </p:nvSpPr>
        <p:spPr>
          <a:xfrm>
            <a:off x="6428232" y="1600200"/>
            <a:ext cx="4663440" cy="256032"/>
          </a:xfrm>
          <a:prstGeom prst="rect">
            <a:avLst/>
          </a:prstGeom>
          <a:noFill/>
          <a:ln/>
        </p:spPr>
        <p:txBody>
          <a:bodyPr wrap="square" lIns="0" tIns="0" rIns="0" bIns="0" rtlCol="0" anchor="ctr"/>
          <a:lstStyle/>
          <a:p>
            <a:pPr indent="0" marL="0">
              <a:buNone/>
            </a:pPr>
            <a:r>
              <a:rPr lang="en-US" sz="1200" b="1" spc="80" kern="0" dirty="0">
                <a:solidFill>
                  <a:srgbClr val="F47C20"/>
                </a:solidFill>
              </a:rPr>
              <a:t>SHARED RECORD</a:t>
            </a:r>
            <a:endParaRPr lang="en-US" sz="1200" dirty="0"/>
          </a:p>
        </p:txBody>
      </p:sp>
      <p:sp>
        <p:nvSpPr>
          <p:cNvPr id="15" name="Text 12"/>
          <p:cNvSpPr/>
          <p:nvPr/>
        </p:nvSpPr>
        <p:spPr>
          <a:xfrm>
            <a:off x="6428232" y="2039112"/>
            <a:ext cx="4663440" cy="896112"/>
          </a:xfrm>
          <a:prstGeom prst="rect">
            <a:avLst/>
          </a:prstGeom>
          <a:noFill/>
          <a:ln/>
        </p:spPr>
        <p:txBody>
          <a:bodyPr wrap="square" lIns="0" tIns="0" rIns="0" bIns="0" rtlCol="0" anchor="ctr">
            <a:normAutofit/>
          </a:bodyPr>
          <a:lstStyle/>
          <a:p>
            <a:pPr indent="0" marL="0">
              <a:buNone/>
            </a:pPr>
            <a:r>
              <a:rPr lang="en-US" sz="1700" b="1" dirty="0">
                <a:solidFill>
                  <a:srgbClr val="16303D"/>
                </a:solidFill>
              </a:rPr>
              <a:t>See where the system remembers it</a:t>
            </a:r>
            <a:endParaRPr lang="en-US" sz="1700" dirty="0"/>
          </a:p>
        </p:txBody>
      </p:sp>
      <p:sp>
        <p:nvSpPr>
          <p:cNvPr id="16" name="Shape 13"/>
          <p:cNvSpPr/>
          <p:nvPr/>
        </p:nvSpPr>
        <p:spPr>
          <a:xfrm>
            <a:off x="640080" y="3566160"/>
            <a:ext cx="5074920" cy="1691640"/>
          </a:xfrm>
          <a:prstGeom prst="roundRect">
            <a:avLst>
              <a:gd name="adj" fmla="val 3243"/>
            </a:avLst>
          </a:prstGeom>
          <a:solidFill>
            <a:srgbClr val="FFFFFF"/>
          </a:solidFill>
          <a:ln w="15240">
            <a:solidFill>
              <a:srgbClr val="D7E2E6"/>
            </a:solidFill>
            <a:prstDash val="solid"/>
          </a:ln>
          <a:effectLst>
            <a:outerShdw sx="100000" sy="100000" kx="0" ky="0" algn="bl" rotWithShape="0" blurRad="12700" dist="50800" dir="2700000">
              <a:srgbClr val="9DAFB7">
                <a:alpha val="12000"/>
              </a:srgbClr>
            </a:outerShdw>
          </a:effectLst>
        </p:spPr>
      </p:sp>
      <p:sp>
        <p:nvSpPr>
          <p:cNvPr id="17" name="Shape 14"/>
          <p:cNvSpPr/>
          <p:nvPr/>
        </p:nvSpPr>
        <p:spPr>
          <a:xfrm>
            <a:off x="640080" y="3566160"/>
            <a:ext cx="73152" cy="1691640"/>
          </a:xfrm>
          <a:prstGeom prst="rect">
            <a:avLst/>
          </a:prstGeom>
          <a:solidFill>
            <a:srgbClr val="123247"/>
          </a:solidFill>
          <a:ln w="12700">
            <a:solidFill>
              <a:srgbClr val="123247"/>
            </a:solidFill>
            <a:prstDash val="solid"/>
          </a:ln>
        </p:spPr>
      </p:sp>
      <p:sp>
        <p:nvSpPr>
          <p:cNvPr id="18" name="Text 15"/>
          <p:cNvSpPr/>
          <p:nvPr/>
        </p:nvSpPr>
        <p:spPr>
          <a:xfrm>
            <a:off x="868680" y="3749040"/>
            <a:ext cx="4663440" cy="256032"/>
          </a:xfrm>
          <a:prstGeom prst="rect">
            <a:avLst/>
          </a:prstGeom>
          <a:noFill/>
          <a:ln/>
        </p:spPr>
        <p:txBody>
          <a:bodyPr wrap="square" lIns="0" tIns="0" rIns="0" bIns="0" rtlCol="0" anchor="ctr"/>
          <a:lstStyle/>
          <a:p>
            <a:pPr indent="0" marL="0">
              <a:buNone/>
            </a:pPr>
            <a:r>
              <a:rPr lang="en-US" sz="1200" b="1" spc="80" kern="0" dirty="0">
                <a:solidFill>
                  <a:srgbClr val="123247"/>
                </a:solidFill>
              </a:rPr>
              <a:t>CLEAR OWNERSHIP</a:t>
            </a:r>
            <a:endParaRPr lang="en-US" sz="1200" dirty="0"/>
          </a:p>
        </p:txBody>
      </p:sp>
      <p:sp>
        <p:nvSpPr>
          <p:cNvPr id="19" name="Text 16"/>
          <p:cNvSpPr/>
          <p:nvPr/>
        </p:nvSpPr>
        <p:spPr>
          <a:xfrm>
            <a:off x="868680" y="4187952"/>
            <a:ext cx="4663440" cy="896112"/>
          </a:xfrm>
          <a:prstGeom prst="rect">
            <a:avLst/>
          </a:prstGeom>
          <a:noFill/>
          <a:ln/>
        </p:spPr>
        <p:txBody>
          <a:bodyPr wrap="square" lIns="0" tIns="0" rIns="0" bIns="0" rtlCol="0" anchor="ctr">
            <a:normAutofit/>
          </a:bodyPr>
          <a:lstStyle/>
          <a:p>
            <a:pPr indent="0" marL="0">
              <a:buNone/>
            </a:pPr>
            <a:r>
              <a:rPr lang="en-US" sz="1700" b="1" dirty="0">
                <a:solidFill>
                  <a:srgbClr val="16303D"/>
                </a:solidFill>
              </a:rPr>
              <a:t>Know who normally works in each area</a:t>
            </a:r>
            <a:endParaRPr lang="en-US" sz="1700" dirty="0"/>
          </a:p>
        </p:txBody>
      </p:sp>
      <p:sp>
        <p:nvSpPr>
          <p:cNvPr id="20" name="Shape 17"/>
          <p:cNvSpPr/>
          <p:nvPr/>
        </p:nvSpPr>
        <p:spPr>
          <a:xfrm>
            <a:off x="6199632" y="3566160"/>
            <a:ext cx="5074920" cy="1691640"/>
          </a:xfrm>
          <a:prstGeom prst="roundRect">
            <a:avLst>
              <a:gd name="adj" fmla="val 3243"/>
            </a:avLst>
          </a:prstGeom>
          <a:solidFill>
            <a:srgbClr val="FFFFFF"/>
          </a:solidFill>
          <a:ln w="15240">
            <a:solidFill>
              <a:srgbClr val="D7E2E6"/>
            </a:solidFill>
            <a:prstDash val="solid"/>
          </a:ln>
          <a:effectLst>
            <a:outerShdw sx="100000" sy="100000" kx="0" ky="0" algn="bl" rotWithShape="0" blurRad="12700" dist="50800" dir="2700000">
              <a:srgbClr val="9DAFB7">
                <a:alpha val="12000"/>
              </a:srgbClr>
            </a:outerShdw>
          </a:effectLst>
        </p:spPr>
      </p:sp>
      <p:sp>
        <p:nvSpPr>
          <p:cNvPr id="21" name="Shape 18"/>
          <p:cNvSpPr/>
          <p:nvPr/>
        </p:nvSpPr>
        <p:spPr>
          <a:xfrm>
            <a:off x="6199632" y="3566160"/>
            <a:ext cx="73152" cy="1691640"/>
          </a:xfrm>
          <a:prstGeom prst="rect">
            <a:avLst/>
          </a:prstGeom>
          <a:solidFill>
            <a:srgbClr val="2F8F5B"/>
          </a:solidFill>
          <a:ln w="12700">
            <a:solidFill>
              <a:srgbClr val="2F8F5B"/>
            </a:solidFill>
            <a:prstDash val="solid"/>
          </a:ln>
        </p:spPr>
      </p:sp>
      <p:sp>
        <p:nvSpPr>
          <p:cNvPr id="22" name="Text 19"/>
          <p:cNvSpPr/>
          <p:nvPr/>
        </p:nvSpPr>
        <p:spPr>
          <a:xfrm>
            <a:off x="6428232" y="3749040"/>
            <a:ext cx="4663440" cy="256032"/>
          </a:xfrm>
          <a:prstGeom prst="rect">
            <a:avLst/>
          </a:prstGeom>
          <a:noFill/>
          <a:ln/>
        </p:spPr>
        <p:txBody>
          <a:bodyPr wrap="square" lIns="0" tIns="0" rIns="0" bIns="0" rtlCol="0" anchor="ctr"/>
          <a:lstStyle/>
          <a:p>
            <a:pPr indent="0" marL="0">
              <a:buNone/>
            </a:pPr>
            <a:r>
              <a:rPr lang="en-US" sz="1200" b="1" spc="80" kern="0" dirty="0">
                <a:solidFill>
                  <a:srgbClr val="2F8F5B"/>
                </a:solidFill>
              </a:rPr>
              <a:t>VISIBLE HANDOFF</a:t>
            </a:r>
            <a:endParaRPr lang="en-US" sz="1200" dirty="0"/>
          </a:p>
        </p:txBody>
      </p:sp>
      <p:sp>
        <p:nvSpPr>
          <p:cNvPr id="23" name="Text 20"/>
          <p:cNvSpPr/>
          <p:nvPr/>
        </p:nvSpPr>
        <p:spPr>
          <a:xfrm>
            <a:off x="6428232" y="4187952"/>
            <a:ext cx="4663440" cy="896112"/>
          </a:xfrm>
          <a:prstGeom prst="rect">
            <a:avLst/>
          </a:prstGeom>
          <a:noFill/>
          <a:ln/>
        </p:spPr>
        <p:txBody>
          <a:bodyPr wrap="square" lIns="0" tIns="0" rIns="0" bIns="0" rtlCol="0" anchor="ctr">
            <a:normAutofit/>
          </a:bodyPr>
          <a:lstStyle/>
          <a:p>
            <a:pPr indent="0" marL="0">
              <a:buNone/>
            </a:pPr>
            <a:r>
              <a:rPr lang="en-US" sz="1700" b="1" dirty="0">
                <a:solidFill>
                  <a:srgbClr val="16303D"/>
                </a:solidFill>
              </a:rPr>
              <a:t>See who receives the work next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66928" y="384048"/>
            <a:ext cx="9966960" cy="438912"/>
          </a:xfrm>
          <a:prstGeom prst="rect">
            <a:avLst/>
          </a:prstGeom>
          <a:noFill/>
          <a:ln/>
        </p:spPr>
        <p:txBody>
          <a:bodyPr wrap="square" lIns="0" tIns="0" rIns="0" bIns="0" rtlCol="0" anchor="ctr">
            <a:normAutofit/>
          </a:bodyPr>
          <a:lstStyle/>
          <a:p>
            <a:pPr indent="0" marL="0">
              <a:buNone/>
            </a:pPr>
            <a:r>
              <a:rPr lang="en-US" sz="2500" b="1" dirty="0">
                <a:solidFill>
                  <a:srgbClr val="123247"/>
                </a:solidFill>
                <a:latin typeface="Aptos Display" pitchFamily="34" charset="0"/>
                <a:ea typeface="Aptos Display" pitchFamily="34" charset="-122"/>
                <a:cs typeface="Aptos Display" pitchFamily="34" charset="-120"/>
              </a:rPr>
              <a:t>Four neighborhoods make the system easier to remember</a:t>
            </a:r>
            <a:endParaRPr lang="en-US" sz="2500" dirty="0"/>
          </a:p>
        </p:txBody>
      </p:sp>
      <p:sp>
        <p:nvSpPr>
          <p:cNvPr id="5" name="Text 2"/>
          <p:cNvSpPr/>
          <p:nvPr/>
        </p:nvSpPr>
        <p:spPr>
          <a:xfrm>
            <a:off x="10698480" y="438912"/>
            <a:ext cx="777240" cy="228600"/>
          </a:xfrm>
          <a:prstGeom prst="rect">
            <a:avLst/>
          </a:prstGeom>
          <a:noFill/>
          <a:ln/>
        </p:spPr>
        <p:txBody>
          <a:bodyPr wrap="square" lIns="0" tIns="0" rIns="0" bIns="0" rtlCol="0" anchor="ctr"/>
          <a:lstStyle/>
          <a:p>
            <a:pPr algn="r" indent="0" marL="0">
              <a:buNone/>
            </a:pPr>
            <a:r>
              <a:rPr lang="en-US" sz="900" b="1" dirty="0">
                <a:solidFill>
                  <a:srgbClr val="087B76"/>
                </a:solidFill>
              </a:rPr>
              <a:t>3 min</a:t>
            </a:r>
            <a:endParaRPr lang="en-US" sz="900" dirty="0"/>
          </a:p>
        </p:txBody>
      </p:sp>
      <p:sp>
        <p:nvSpPr>
          <p:cNvPr id="6" name="Text 3"/>
          <p:cNvSpPr/>
          <p:nvPr/>
        </p:nvSpPr>
        <p:spPr>
          <a:xfrm>
            <a:off x="566928" y="6473952"/>
            <a:ext cx="1097280" cy="182880"/>
          </a:xfrm>
          <a:prstGeom prst="rect">
            <a:avLst/>
          </a:prstGeom>
          <a:noFill/>
          <a:ln/>
        </p:spPr>
        <p:txBody>
          <a:bodyPr wrap="square" lIns="0" tIns="0" rIns="0" bIns="0" rtlCol="0" anchor="ctr"/>
          <a:lstStyle/>
          <a:p>
            <a:pPr indent="0" marL="0">
              <a:buNone/>
            </a:pPr>
            <a:r>
              <a:rPr lang="en-US" sz="800" dirty="0">
                <a:solidFill>
                  <a:srgbClr val="667985"/>
                </a:solidFill>
              </a:rPr>
              <a:t>Product 1.27</a:t>
            </a:r>
            <a:endParaRPr lang="en-US" sz="800" dirty="0"/>
          </a:p>
        </p:txBody>
      </p:sp>
      <p:sp>
        <p:nvSpPr>
          <p:cNvPr id="7" name="Text 4"/>
          <p:cNvSpPr/>
          <p:nvPr/>
        </p:nvSpPr>
        <p:spPr>
          <a:xfrm>
            <a:off x="10789920" y="6473952"/>
            <a:ext cx="731520" cy="182880"/>
          </a:xfrm>
          <a:prstGeom prst="rect">
            <a:avLst/>
          </a:prstGeom>
          <a:noFill/>
          <a:ln/>
        </p:spPr>
        <p:txBody>
          <a:bodyPr wrap="square" lIns="0" tIns="0" rIns="0" bIns="0" rtlCol="0" anchor="ctr"/>
          <a:lstStyle/>
          <a:p>
            <a:pPr algn="r" indent="0" marL="0">
              <a:buNone/>
            </a:pPr>
            <a:r>
              <a:rPr lang="en-US" sz="800" dirty="0">
                <a:solidFill>
                  <a:srgbClr val="667985"/>
                </a:solidFill>
              </a:rPr>
              <a:t>3 / 28</a:t>
            </a:r>
            <a:endParaRPr lang="en-US" sz="800" dirty="0"/>
          </a:p>
        </p:txBody>
      </p:sp>
      <p:sp>
        <p:nvSpPr>
          <p:cNvPr id="8" name="Shape 5"/>
          <p:cNvSpPr/>
          <p:nvPr/>
        </p:nvSpPr>
        <p:spPr>
          <a:xfrm>
            <a:off x="640080" y="1417320"/>
            <a:ext cx="5074920" cy="1691640"/>
          </a:xfrm>
          <a:prstGeom prst="roundRect">
            <a:avLst>
              <a:gd name="adj" fmla="val 3243"/>
            </a:avLst>
          </a:prstGeom>
          <a:solidFill>
            <a:srgbClr val="FFFFFF"/>
          </a:solidFill>
          <a:ln w="15240">
            <a:solidFill>
              <a:srgbClr val="D7E2E6"/>
            </a:solidFill>
            <a:prstDash val="solid"/>
          </a:ln>
          <a:effectLst>
            <a:outerShdw sx="100000" sy="100000" kx="0" ky="0" algn="bl" rotWithShape="0" blurRad="12700" dist="50800" dir="2700000">
              <a:srgbClr val="9DAFB7">
                <a:alpha val="12000"/>
              </a:srgbClr>
            </a:outerShdw>
          </a:effectLst>
        </p:spPr>
      </p:sp>
      <p:sp>
        <p:nvSpPr>
          <p:cNvPr id="9" name="Shape 6"/>
          <p:cNvSpPr/>
          <p:nvPr/>
        </p:nvSpPr>
        <p:spPr>
          <a:xfrm>
            <a:off x="640080" y="1417320"/>
            <a:ext cx="73152" cy="1691640"/>
          </a:xfrm>
          <a:prstGeom prst="rect">
            <a:avLst/>
          </a:prstGeom>
          <a:solidFill>
            <a:srgbClr val="0F9D96"/>
          </a:solidFill>
          <a:ln w="12700">
            <a:solidFill>
              <a:srgbClr val="0F9D96"/>
            </a:solidFill>
            <a:prstDash val="solid"/>
          </a:ln>
        </p:spPr>
      </p:sp>
      <p:sp>
        <p:nvSpPr>
          <p:cNvPr id="10" name="Text 7"/>
          <p:cNvSpPr/>
          <p:nvPr/>
        </p:nvSpPr>
        <p:spPr>
          <a:xfrm>
            <a:off x="868680" y="1600200"/>
            <a:ext cx="4663440" cy="256032"/>
          </a:xfrm>
          <a:prstGeom prst="rect">
            <a:avLst/>
          </a:prstGeom>
          <a:noFill/>
          <a:ln/>
        </p:spPr>
        <p:txBody>
          <a:bodyPr wrap="square" lIns="0" tIns="0" rIns="0" bIns="0" rtlCol="0" anchor="ctr"/>
          <a:lstStyle/>
          <a:p>
            <a:pPr indent="0" marL="0">
              <a:buNone/>
            </a:pPr>
            <a:r>
              <a:rPr lang="en-US" sz="1200" b="1" spc="80" kern="0" dirty="0">
                <a:solidFill>
                  <a:srgbClr val="0F9D96"/>
                </a:solidFill>
              </a:rPr>
              <a:t>SEE THE DAY</a:t>
            </a:r>
            <a:endParaRPr lang="en-US" sz="1200" dirty="0"/>
          </a:p>
        </p:txBody>
      </p:sp>
      <p:sp>
        <p:nvSpPr>
          <p:cNvPr id="11" name="Text 8"/>
          <p:cNvSpPr/>
          <p:nvPr/>
        </p:nvSpPr>
        <p:spPr>
          <a:xfrm>
            <a:off x="868680" y="2039112"/>
            <a:ext cx="4663440" cy="896112"/>
          </a:xfrm>
          <a:prstGeom prst="rect">
            <a:avLst/>
          </a:prstGeom>
          <a:noFill/>
          <a:ln/>
        </p:spPr>
        <p:txBody>
          <a:bodyPr wrap="square" lIns="0" tIns="0" rIns="0" bIns="0" rtlCol="0" anchor="ctr">
            <a:normAutofit/>
          </a:bodyPr>
          <a:lstStyle/>
          <a:p>
            <a:pPr indent="0" marL="0">
              <a:buNone/>
            </a:pPr>
            <a:r>
              <a:rPr lang="en-US" sz="1700" b="1" dirty="0">
                <a:solidFill>
                  <a:srgbClr val="16303D"/>
                </a:solidFill>
              </a:rPr>
              <a:t>Dashboard · Help Center</a:t>
            </a:r>
            <a:endParaRPr lang="en-US" sz="1700" dirty="0"/>
          </a:p>
        </p:txBody>
      </p:sp>
      <p:sp>
        <p:nvSpPr>
          <p:cNvPr id="12" name="Shape 9"/>
          <p:cNvSpPr/>
          <p:nvPr/>
        </p:nvSpPr>
        <p:spPr>
          <a:xfrm>
            <a:off x="6199632" y="1417320"/>
            <a:ext cx="5074920" cy="1691640"/>
          </a:xfrm>
          <a:prstGeom prst="roundRect">
            <a:avLst>
              <a:gd name="adj" fmla="val 3243"/>
            </a:avLst>
          </a:prstGeom>
          <a:solidFill>
            <a:srgbClr val="FFFFFF"/>
          </a:solidFill>
          <a:ln w="15240">
            <a:solidFill>
              <a:srgbClr val="D7E2E6"/>
            </a:solidFill>
            <a:prstDash val="solid"/>
          </a:ln>
          <a:effectLst>
            <a:outerShdw sx="100000" sy="100000" kx="0" ky="0" algn="bl" rotWithShape="0" blurRad="12700" dist="50800" dir="2700000">
              <a:srgbClr val="9DAFB7">
                <a:alpha val="12000"/>
              </a:srgbClr>
            </a:outerShdw>
          </a:effectLst>
        </p:spPr>
      </p:sp>
      <p:sp>
        <p:nvSpPr>
          <p:cNvPr id="13" name="Shape 10"/>
          <p:cNvSpPr/>
          <p:nvPr/>
        </p:nvSpPr>
        <p:spPr>
          <a:xfrm>
            <a:off x="6199632" y="1417320"/>
            <a:ext cx="73152" cy="1691640"/>
          </a:xfrm>
          <a:prstGeom prst="rect">
            <a:avLst/>
          </a:prstGeom>
          <a:solidFill>
            <a:srgbClr val="F47C20"/>
          </a:solidFill>
          <a:ln w="12700">
            <a:solidFill>
              <a:srgbClr val="F47C20"/>
            </a:solidFill>
            <a:prstDash val="solid"/>
          </a:ln>
        </p:spPr>
      </p:sp>
      <p:sp>
        <p:nvSpPr>
          <p:cNvPr id="14" name="Text 11"/>
          <p:cNvSpPr/>
          <p:nvPr/>
        </p:nvSpPr>
        <p:spPr>
          <a:xfrm>
            <a:off x="6428232" y="1600200"/>
            <a:ext cx="4663440" cy="256032"/>
          </a:xfrm>
          <a:prstGeom prst="rect">
            <a:avLst/>
          </a:prstGeom>
          <a:noFill/>
          <a:ln/>
        </p:spPr>
        <p:txBody>
          <a:bodyPr wrap="square" lIns="0" tIns="0" rIns="0" bIns="0" rtlCol="0" anchor="ctr"/>
          <a:lstStyle/>
          <a:p>
            <a:pPr indent="0" marL="0">
              <a:buNone/>
            </a:pPr>
            <a:r>
              <a:rPr lang="en-US" sz="1200" b="1" spc="80" kern="0" dirty="0">
                <a:solidFill>
                  <a:srgbClr val="F47C20"/>
                </a:solidFill>
              </a:rPr>
              <a:t>SET UP THE FLOOR</a:t>
            </a:r>
            <a:endParaRPr lang="en-US" sz="1200" dirty="0"/>
          </a:p>
        </p:txBody>
      </p:sp>
      <p:sp>
        <p:nvSpPr>
          <p:cNvPr id="15" name="Text 12"/>
          <p:cNvSpPr/>
          <p:nvPr/>
        </p:nvSpPr>
        <p:spPr>
          <a:xfrm>
            <a:off x="6428232" y="2039112"/>
            <a:ext cx="4663440" cy="896112"/>
          </a:xfrm>
          <a:prstGeom prst="rect">
            <a:avLst/>
          </a:prstGeom>
          <a:noFill/>
          <a:ln/>
        </p:spPr>
        <p:txBody>
          <a:bodyPr wrap="square" lIns="0" tIns="0" rIns="0" bIns="0" rtlCol="0" anchor="ctr">
            <a:normAutofit/>
          </a:bodyPr>
          <a:lstStyle/>
          <a:p>
            <a:pPr indent="0" marL="0">
              <a:buNone/>
            </a:pPr>
            <a:r>
              <a:rPr lang="en-US" sz="1700" b="1" dirty="0">
                <a:solidFill>
                  <a:srgbClr val="16303D"/>
                </a:solidFill>
              </a:rPr>
              <a:t>Warehouses · Clients · Zones · Locations · Products · Packaging · Setup</a:t>
            </a:r>
            <a:endParaRPr lang="en-US" sz="1700" dirty="0"/>
          </a:p>
        </p:txBody>
      </p:sp>
      <p:sp>
        <p:nvSpPr>
          <p:cNvPr id="16" name="Shape 13"/>
          <p:cNvSpPr/>
          <p:nvPr/>
        </p:nvSpPr>
        <p:spPr>
          <a:xfrm>
            <a:off x="640080" y="3566160"/>
            <a:ext cx="5074920" cy="1691640"/>
          </a:xfrm>
          <a:prstGeom prst="roundRect">
            <a:avLst>
              <a:gd name="adj" fmla="val 3243"/>
            </a:avLst>
          </a:prstGeom>
          <a:solidFill>
            <a:srgbClr val="FFFFFF"/>
          </a:solidFill>
          <a:ln w="15240">
            <a:solidFill>
              <a:srgbClr val="D7E2E6"/>
            </a:solidFill>
            <a:prstDash val="solid"/>
          </a:ln>
          <a:effectLst>
            <a:outerShdw sx="100000" sy="100000" kx="0" ky="0" algn="bl" rotWithShape="0" blurRad="12700" dist="50800" dir="2700000">
              <a:srgbClr val="9DAFB7">
                <a:alpha val="12000"/>
              </a:srgbClr>
            </a:outerShdw>
          </a:effectLst>
        </p:spPr>
      </p:sp>
      <p:sp>
        <p:nvSpPr>
          <p:cNvPr id="17" name="Shape 14"/>
          <p:cNvSpPr/>
          <p:nvPr/>
        </p:nvSpPr>
        <p:spPr>
          <a:xfrm>
            <a:off x="640080" y="3566160"/>
            <a:ext cx="73152" cy="1691640"/>
          </a:xfrm>
          <a:prstGeom prst="rect">
            <a:avLst/>
          </a:prstGeom>
          <a:solidFill>
            <a:srgbClr val="123247"/>
          </a:solidFill>
          <a:ln w="12700">
            <a:solidFill>
              <a:srgbClr val="123247"/>
            </a:solidFill>
            <a:prstDash val="solid"/>
          </a:ln>
        </p:spPr>
      </p:sp>
      <p:sp>
        <p:nvSpPr>
          <p:cNvPr id="18" name="Text 15"/>
          <p:cNvSpPr/>
          <p:nvPr/>
        </p:nvSpPr>
        <p:spPr>
          <a:xfrm>
            <a:off x="868680" y="3749040"/>
            <a:ext cx="4663440" cy="256032"/>
          </a:xfrm>
          <a:prstGeom prst="rect">
            <a:avLst/>
          </a:prstGeom>
          <a:noFill/>
          <a:ln/>
        </p:spPr>
        <p:txBody>
          <a:bodyPr wrap="square" lIns="0" tIns="0" rIns="0" bIns="0" rtlCol="0" anchor="ctr"/>
          <a:lstStyle/>
          <a:p>
            <a:pPr indent="0" marL="0">
              <a:buNone/>
            </a:pPr>
            <a:r>
              <a:rPr lang="en-US" sz="1200" b="1" spc="80" kern="0" dirty="0">
                <a:solidFill>
                  <a:srgbClr val="123247"/>
                </a:solidFill>
              </a:rPr>
              <a:t>MOVE THE STOCK</a:t>
            </a:r>
            <a:endParaRPr lang="en-US" sz="1200" dirty="0"/>
          </a:p>
        </p:txBody>
      </p:sp>
      <p:sp>
        <p:nvSpPr>
          <p:cNvPr id="19" name="Text 16"/>
          <p:cNvSpPr/>
          <p:nvPr/>
        </p:nvSpPr>
        <p:spPr>
          <a:xfrm>
            <a:off x="868680" y="4187952"/>
            <a:ext cx="4663440" cy="896112"/>
          </a:xfrm>
          <a:prstGeom prst="rect">
            <a:avLst/>
          </a:prstGeom>
          <a:noFill/>
          <a:ln/>
        </p:spPr>
        <p:txBody>
          <a:bodyPr wrap="square" lIns="0" tIns="0" rIns="0" bIns="0" rtlCol="0" anchor="ctr">
            <a:normAutofit/>
          </a:bodyPr>
          <a:lstStyle/>
          <a:p>
            <a:pPr indent="0" marL="0">
              <a:buNone/>
            </a:pPr>
            <a:r>
              <a:rPr lang="en-US" sz="1700" b="1" dirty="0">
                <a:solidFill>
                  <a:srgbClr val="16303D"/>
                </a:solidFill>
              </a:rPr>
              <a:t>Receiving · Put-Away · Inventory · Picks · Transfers · Moves · Counts · Status</a:t>
            </a:r>
            <a:endParaRPr lang="en-US" sz="1700" dirty="0"/>
          </a:p>
        </p:txBody>
      </p:sp>
      <p:sp>
        <p:nvSpPr>
          <p:cNvPr id="20" name="Shape 17"/>
          <p:cNvSpPr/>
          <p:nvPr/>
        </p:nvSpPr>
        <p:spPr>
          <a:xfrm>
            <a:off x="6199632" y="3566160"/>
            <a:ext cx="5074920" cy="1691640"/>
          </a:xfrm>
          <a:prstGeom prst="roundRect">
            <a:avLst>
              <a:gd name="adj" fmla="val 3243"/>
            </a:avLst>
          </a:prstGeom>
          <a:solidFill>
            <a:srgbClr val="FFFFFF"/>
          </a:solidFill>
          <a:ln w="15240">
            <a:solidFill>
              <a:srgbClr val="D7E2E6"/>
            </a:solidFill>
            <a:prstDash val="solid"/>
          </a:ln>
          <a:effectLst>
            <a:outerShdw sx="100000" sy="100000" kx="0" ky="0" algn="bl" rotWithShape="0" blurRad="12700" dist="50800" dir="2700000">
              <a:srgbClr val="9DAFB7">
                <a:alpha val="12000"/>
              </a:srgbClr>
            </a:outerShdw>
          </a:effectLst>
        </p:spPr>
      </p:sp>
      <p:sp>
        <p:nvSpPr>
          <p:cNvPr id="21" name="Shape 18"/>
          <p:cNvSpPr/>
          <p:nvPr/>
        </p:nvSpPr>
        <p:spPr>
          <a:xfrm>
            <a:off x="6199632" y="3566160"/>
            <a:ext cx="73152" cy="1691640"/>
          </a:xfrm>
          <a:prstGeom prst="rect">
            <a:avLst/>
          </a:prstGeom>
          <a:solidFill>
            <a:srgbClr val="2F8F5B"/>
          </a:solidFill>
          <a:ln w="12700">
            <a:solidFill>
              <a:srgbClr val="2F8F5B"/>
            </a:solidFill>
            <a:prstDash val="solid"/>
          </a:ln>
        </p:spPr>
      </p:sp>
      <p:sp>
        <p:nvSpPr>
          <p:cNvPr id="22" name="Text 19"/>
          <p:cNvSpPr/>
          <p:nvPr/>
        </p:nvSpPr>
        <p:spPr>
          <a:xfrm>
            <a:off x="6428232" y="3749040"/>
            <a:ext cx="4663440" cy="256032"/>
          </a:xfrm>
          <a:prstGeom prst="rect">
            <a:avLst/>
          </a:prstGeom>
          <a:noFill/>
          <a:ln/>
        </p:spPr>
        <p:txBody>
          <a:bodyPr wrap="square" lIns="0" tIns="0" rIns="0" bIns="0" rtlCol="0" anchor="ctr"/>
          <a:lstStyle/>
          <a:p>
            <a:pPr indent="0" marL="0">
              <a:buNone/>
            </a:pPr>
            <a:r>
              <a:rPr lang="en-US" sz="1200" b="1" spc="80" kern="0" dirty="0">
                <a:solidFill>
                  <a:srgbClr val="2F8F5B"/>
                </a:solidFill>
              </a:rPr>
              <a:t>KEEP THE TEAM INFORMED</a:t>
            </a:r>
            <a:endParaRPr lang="en-US" sz="1200" dirty="0"/>
          </a:p>
        </p:txBody>
      </p:sp>
      <p:sp>
        <p:nvSpPr>
          <p:cNvPr id="23" name="Text 20"/>
          <p:cNvSpPr/>
          <p:nvPr/>
        </p:nvSpPr>
        <p:spPr>
          <a:xfrm>
            <a:off x="6428232" y="4187952"/>
            <a:ext cx="4663440" cy="896112"/>
          </a:xfrm>
          <a:prstGeom prst="rect">
            <a:avLst/>
          </a:prstGeom>
          <a:noFill/>
          <a:ln/>
        </p:spPr>
        <p:txBody>
          <a:bodyPr wrap="square" lIns="0" tIns="0" rIns="0" bIns="0" rtlCol="0" anchor="ctr">
            <a:normAutofit/>
          </a:bodyPr>
          <a:lstStyle/>
          <a:p>
            <a:pPr indent="0" marL="0">
              <a:buNone/>
            </a:pPr>
            <a:r>
              <a:rPr lang="en-US" sz="1700" b="1" dirty="0">
                <a:solidFill>
                  <a:srgbClr val="16303D"/>
                </a:solidFill>
              </a:rPr>
              <a:t>Reports · Users · System Log · Email Log · Settings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66928" y="384048"/>
            <a:ext cx="9966960" cy="438912"/>
          </a:xfrm>
          <a:prstGeom prst="rect">
            <a:avLst/>
          </a:prstGeom>
          <a:noFill/>
          <a:ln/>
        </p:spPr>
        <p:txBody>
          <a:bodyPr wrap="square" lIns="0" tIns="0" rIns="0" bIns="0" rtlCol="0" anchor="ctr">
            <a:normAutofit/>
          </a:bodyPr>
          <a:lstStyle/>
          <a:p>
            <a:pPr indent="0" marL="0">
              <a:buNone/>
            </a:pPr>
            <a:r>
              <a:rPr lang="en-US" sz="2500" b="1" dirty="0">
                <a:solidFill>
                  <a:srgbClr val="123247"/>
                </a:solidFill>
                <a:latin typeface="Aptos Display" pitchFamily="34" charset="0"/>
                <a:ea typeface="Aptos Display" pitchFamily="34" charset="-122"/>
                <a:cs typeface="Aptos Display" pitchFamily="34" charset="-120"/>
              </a:rPr>
              <a:t>Dashboard</a:t>
            </a:r>
            <a:endParaRPr lang="en-US" sz="2500" dirty="0"/>
          </a:p>
        </p:txBody>
      </p:sp>
      <p:sp>
        <p:nvSpPr>
          <p:cNvPr id="5" name="Text 2"/>
          <p:cNvSpPr/>
          <p:nvPr/>
        </p:nvSpPr>
        <p:spPr>
          <a:xfrm>
            <a:off x="10698480" y="438912"/>
            <a:ext cx="777240" cy="228600"/>
          </a:xfrm>
          <a:prstGeom prst="rect">
            <a:avLst/>
          </a:prstGeom>
          <a:noFill/>
          <a:ln/>
        </p:spPr>
        <p:txBody>
          <a:bodyPr wrap="square" lIns="0" tIns="0" rIns="0" bIns="0" rtlCol="0" anchor="ctr"/>
          <a:lstStyle/>
          <a:p>
            <a:pPr algn="r" indent="0" marL="0">
              <a:buNone/>
            </a:pPr>
            <a:r>
              <a:rPr lang="en-US" sz="900" b="1" dirty="0">
                <a:solidFill>
                  <a:srgbClr val="087B76"/>
                </a:solidFill>
              </a:rPr>
              <a:t>2 min</a:t>
            </a:r>
            <a:endParaRPr lang="en-US" sz="900" dirty="0"/>
          </a:p>
        </p:txBody>
      </p:sp>
      <p:sp>
        <p:nvSpPr>
          <p:cNvPr id="6" name="Text 3"/>
          <p:cNvSpPr/>
          <p:nvPr/>
        </p:nvSpPr>
        <p:spPr>
          <a:xfrm>
            <a:off x="585216" y="960120"/>
            <a:ext cx="4023360" cy="219456"/>
          </a:xfrm>
          <a:prstGeom prst="rect">
            <a:avLst/>
          </a:prstGeom>
          <a:noFill/>
          <a:ln/>
        </p:spPr>
        <p:txBody>
          <a:bodyPr wrap="square" lIns="0" tIns="0" rIns="0" bIns="0" rtlCol="0" anchor="ctr"/>
          <a:lstStyle/>
          <a:p>
            <a:pPr indent="0" marL="0">
              <a:buNone/>
            </a:pPr>
            <a:r>
              <a:rPr lang="en-US" sz="1000" b="1" spc="130" kern="0" dirty="0">
                <a:solidFill>
                  <a:srgbClr val="F47C20"/>
                </a:solidFill>
              </a:rPr>
              <a:t>ORIENTATION</a:t>
            </a:r>
            <a:endParaRPr lang="en-US" sz="1000" dirty="0"/>
          </a:p>
        </p:txBody>
      </p:sp>
      <p:sp>
        <p:nvSpPr>
          <p:cNvPr id="7" name="Text 4"/>
          <p:cNvSpPr/>
          <p:nvPr/>
        </p:nvSpPr>
        <p:spPr>
          <a:xfrm>
            <a:off x="566928" y="6473952"/>
            <a:ext cx="1097280" cy="182880"/>
          </a:xfrm>
          <a:prstGeom prst="rect">
            <a:avLst/>
          </a:prstGeom>
          <a:noFill/>
          <a:ln/>
        </p:spPr>
        <p:txBody>
          <a:bodyPr wrap="square" lIns="0" tIns="0" rIns="0" bIns="0" rtlCol="0" anchor="ctr"/>
          <a:lstStyle/>
          <a:p>
            <a:pPr indent="0" marL="0">
              <a:buNone/>
            </a:pPr>
            <a:r>
              <a:rPr lang="en-US" sz="800" dirty="0">
                <a:solidFill>
                  <a:srgbClr val="667985"/>
                </a:solidFill>
              </a:rPr>
              <a:t>Product 1.27</a:t>
            </a:r>
            <a:endParaRPr lang="en-US" sz="800" dirty="0"/>
          </a:p>
        </p:txBody>
      </p:sp>
      <p:sp>
        <p:nvSpPr>
          <p:cNvPr id="8" name="Text 5"/>
          <p:cNvSpPr/>
          <p:nvPr/>
        </p:nvSpPr>
        <p:spPr>
          <a:xfrm>
            <a:off x="10789920" y="6473952"/>
            <a:ext cx="731520" cy="182880"/>
          </a:xfrm>
          <a:prstGeom prst="rect">
            <a:avLst/>
          </a:prstGeom>
          <a:noFill/>
          <a:ln/>
        </p:spPr>
        <p:txBody>
          <a:bodyPr wrap="square" lIns="0" tIns="0" rIns="0" bIns="0" rtlCol="0" anchor="ctr"/>
          <a:lstStyle/>
          <a:p>
            <a:pPr algn="r" indent="0" marL="0">
              <a:buNone/>
            </a:pPr>
            <a:r>
              <a:rPr lang="en-US" sz="800" dirty="0">
                <a:solidFill>
                  <a:srgbClr val="667985"/>
                </a:solidFill>
              </a:rPr>
              <a:t>4 / 28</a:t>
            </a:r>
            <a:endParaRPr lang="en-US" sz="800" dirty="0"/>
          </a:p>
        </p:txBody>
      </p:sp>
      <p:sp>
        <p:nvSpPr>
          <p:cNvPr id="9" name="Shape 6"/>
          <p:cNvSpPr/>
          <p:nvPr/>
        </p:nvSpPr>
        <p:spPr>
          <a:xfrm>
            <a:off x="658368" y="1353312"/>
            <a:ext cx="10835640" cy="914400"/>
          </a:xfrm>
          <a:prstGeom prst="roundRect">
            <a:avLst>
              <a:gd name="adj" fmla="val 5000"/>
            </a:avLst>
          </a:prstGeom>
          <a:solidFill>
            <a:srgbClr val="EFF7F7"/>
          </a:solidFill>
          <a:ln w="15240">
            <a:solidFill>
              <a:srgbClr val="0F9D96"/>
            </a:solidFill>
            <a:prstDash val="solid"/>
          </a:ln>
        </p:spPr>
      </p:sp>
      <p:sp>
        <p:nvSpPr>
          <p:cNvPr id="10" name="Text 7"/>
          <p:cNvSpPr/>
          <p:nvPr/>
        </p:nvSpPr>
        <p:spPr>
          <a:xfrm>
            <a:off x="914400" y="1609344"/>
            <a:ext cx="1280160" cy="228600"/>
          </a:xfrm>
          <a:prstGeom prst="rect">
            <a:avLst/>
          </a:prstGeom>
          <a:noFill/>
          <a:ln/>
        </p:spPr>
        <p:txBody>
          <a:bodyPr wrap="square" lIns="0" tIns="0" rIns="0" bIns="0" rtlCol="0" anchor="ctr"/>
          <a:lstStyle/>
          <a:p>
            <a:pPr indent="0" marL="0">
              <a:buNone/>
            </a:pPr>
            <a:r>
              <a:rPr lang="en-US" sz="1100" b="1" spc="100" kern="0" dirty="0">
                <a:solidFill>
                  <a:srgbClr val="087B76"/>
                </a:solidFill>
              </a:rPr>
              <a:t>WHAT LIVES HERE</a:t>
            </a:r>
            <a:endParaRPr lang="en-US" sz="1100" dirty="0"/>
          </a:p>
        </p:txBody>
      </p:sp>
      <p:sp>
        <p:nvSpPr>
          <p:cNvPr id="11" name="Text 8"/>
          <p:cNvSpPr/>
          <p:nvPr/>
        </p:nvSpPr>
        <p:spPr>
          <a:xfrm>
            <a:off x="2423160" y="1536192"/>
            <a:ext cx="8641080" cy="384048"/>
          </a:xfrm>
          <a:prstGeom prst="rect">
            <a:avLst/>
          </a:prstGeom>
          <a:noFill/>
          <a:ln/>
        </p:spPr>
        <p:txBody>
          <a:bodyPr wrap="square" lIns="0" tIns="0" rIns="0" bIns="0" rtlCol="0" anchor="ctr">
            <a:normAutofit/>
          </a:bodyPr>
          <a:lstStyle/>
          <a:p>
            <a:pPr indent="0" marL="0">
              <a:buNone/>
            </a:pPr>
            <a:r>
              <a:rPr lang="en-US" sz="2000" b="1" dirty="0">
                <a:solidFill>
                  <a:srgbClr val="123247"/>
                </a:solidFill>
              </a:rPr>
              <a:t>Start from live inbound, storage, outbound, capacity, and exception signals.</a:t>
            </a:r>
            <a:endParaRPr lang="en-US" sz="2000" dirty="0"/>
          </a:p>
        </p:txBody>
      </p:sp>
      <p:sp>
        <p:nvSpPr>
          <p:cNvPr id="12" name="Text 9"/>
          <p:cNvSpPr/>
          <p:nvPr/>
        </p:nvSpPr>
        <p:spPr>
          <a:xfrm>
            <a:off x="786384" y="2578608"/>
            <a:ext cx="2103120" cy="228600"/>
          </a:xfrm>
          <a:prstGeom prst="rect">
            <a:avLst/>
          </a:prstGeom>
          <a:noFill/>
          <a:ln/>
        </p:spPr>
        <p:txBody>
          <a:bodyPr wrap="square" lIns="0" tIns="0" rIns="0" bIns="0" rtlCol="0" anchor="ctr"/>
          <a:lstStyle/>
          <a:p>
            <a:pPr indent="0" marL="0">
              <a:buNone/>
            </a:pPr>
            <a:r>
              <a:rPr lang="en-US" sz="1100" b="1" spc="80" kern="0" dirty="0">
                <a:solidFill>
                  <a:srgbClr val="F47C20"/>
                </a:solidFill>
              </a:rPr>
              <a:t>WHO USUALLY WORKS HERE</a:t>
            </a:r>
            <a:endParaRPr lang="en-US" sz="1100" dirty="0"/>
          </a:p>
        </p:txBody>
      </p:sp>
      <p:sp>
        <p:nvSpPr>
          <p:cNvPr id="13" name="Text 10"/>
          <p:cNvSpPr/>
          <p:nvPr/>
        </p:nvSpPr>
        <p:spPr>
          <a:xfrm>
            <a:off x="3063240" y="2542032"/>
            <a:ext cx="7818120" cy="292608"/>
          </a:xfrm>
          <a:prstGeom prst="rect">
            <a:avLst/>
          </a:prstGeom>
          <a:noFill/>
          <a:ln/>
        </p:spPr>
        <p:txBody>
          <a:bodyPr wrap="square" lIns="0" tIns="0" rIns="0" bIns="0" rtlCol="0" anchor="ctr">
            <a:normAutofit/>
          </a:bodyPr>
          <a:lstStyle/>
          <a:p>
            <a:pPr indent="0" marL="0">
              <a:buNone/>
            </a:pPr>
            <a:r>
              <a:rPr lang="en-US" sz="1600" b="1" dirty="0">
                <a:solidFill>
                  <a:srgbClr val="16303D"/>
                </a:solidFill>
              </a:rPr>
              <a:t>Managers · Supervisors · Clerks · Operators</a:t>
            </a:r>
            <a:endParaRPr lang="en-US" sz="1600" dirty="0"/>
          </a:p>
        </p:txBody>
      </p:sp>
      <p:sp>
        <p:nvSpPr>
          <p:cNvPr id="14" name="Text 11"/>
          <p:cNvSpPr/>
          <p:nvPr/>
        </p:nvSpPr>
        <p:spPr>
          <a:xfrm>
            <a:off x="786384" y="3127248"/>
            <a:ext cx="2286000" cy="228600"/>
          </a:xfrm>
          <a:prstGeom prst="rect">
            <a:avLst/>
          </a:prstGeom>
          <a:noFill/>
          <a:ln/>
        </p:spPr>
        <p:txBody>
          <a:bodyPr wrap="square" lIns="0" tIns="0" rIns="0" bIns="0" rtlCol="0" anchor="ctr"/>
          <a:lstStyle/>
          <a:p>
            <a:pPr indent="0" marL="0">
              <a:buNone/>
            </a:pPr>
            <a:r>
              <a:rPr lang="en-US" sz="1100" b="1" spc="80" kern="0" dirty="0">
                <a:solidFill>
                  <a:srgbClr val="087B76"/>
                </a:solidFill>
              </a:rPr>
              <a:t>A NORMAL VISIT LOOKS LIKE</a:t>
            </a:r>
            <a:endParaRPr lang="en-US" sz="1100" dirty="0"/>
          </a:p>
        </p:txBody>
      </p:sp>
      <p:sp>
        <p:nvSpPr>
          <p:cNvPr id="15" name="Shape 12"/>
          <p:cNvSpPr/>
          <p:nvPr/>
        </p:nvSpPr>
        <p:spPr>
          <a:xfrm>
            <a:off x="914400" y="3566160"/>
            <a:ext cx="384048" cy="384048"/>
          </a:xfrm>
          <a:prstGeom prst="ellipse">
            <a:avLst/>
          </a:prstGeom>
          <a:solidFill>
            <a:srgbClr val="0F9D96"/>
          </a:solidFill>
          <a:ln w="12700">
            <a:solidFill>
              <a:srgbClr val="FFFFFF"/>
            </a:solidFill>
            <a:prstDash val="solid"/>
          </a:ln>
        </p:spPr>
      </p:sp>
      <p:sp>
        <p:nvSpPr>
          <p:cNvPr id="16" name="Text 13"/>
          <p:cNvSpPr/>
          <p:nvPr/>
        </p:nvSpPr>
        <p:spPr>
          <a:xfrm>
            <a:off x="914400" y="3657600"/>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7" name="Text 14"/>
          <p:cNvSpPr/>
          <p:nvPr/>
        </p:nvSpPr>
        <p:spPr>
          <a:xfrm>
            <a:off x="1508760" y="3593592"/>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Select active warehouse and Floor, Dock, or Office view</a:t>
            </a:r>
            <a:endParaRPr lang="en-US" sz="1700" dirty="0"/>
          </a:p>
        </p:txBody>
      </p:sp>
      <p:sp>
        <p:nvSpPr>
          <p:cNvPr id="18" name="Shape 15"/>
          <p:cNvSpPr/>
          <p:nvPr/>
        </p:nvSpPr>
        <p:spPr>
          <a:xfrm>
            <a:off x="914400" y="4224528"/>
            <a:ext cx="384048" cy="384048"/>
          </a:xfrm>
          <a:prstGeom prst="ellipse">
            <a:avLst/>
          </a:prstGeom>
          <a:solidFill>
            <a:srgbClr val="0F9D96"/>
          </a:solidFill>
          <a:ln w="12700">
            <a:solidFill>
              <a:srgbClr val="FFFFFF"/>
            </a:solidFill>
            <a:prstDash val="solid"/>
          </a:ln>
        </p:spPr>
      </p:sp>
      <p:sp>
        <p:nvSpPr>
          <p:cNvPr id="19" name="Text 16"/>
          <p:cNvSpPr/>
          <p:nvPr/>
        </p:nvSpPr>
        <p:spPr>
          <a:xfrm>
            <a:off x="914400" y="4315968"/>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0" name="Text 17"/>
          <p:cNvSpPr/>
          <p:nvPr/>
        </p:nvSpPr>
        <p:spPr>
          <a:xfrm>
            <a:off x="1508760" y="4251960"/>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Read open work and exceptions</a:t>
            </a:r>
            <a:endParaRPr lang="en-US" sz="1700" dirty="0"/>
          </a:p>
        </p:txBody>
      </p:sp>
      <p:sp>
        <p:nvSpPr>
          <p:cNvPr id="21" name="Shape 18"/>
          <p:cNvSpPr/>
          <p:nvPr/>
        </p:nvSpPr>
        <p:spPr>
          <a:xfrm>
            <a:off x="914400" y="4882896"/>
            <a:ext cx="384048" cy="384048"/>
          </a:xfrm>
          <a:prstGeom prst="ellipse">
            <a:avLst/>
          </a:prstGeom>
          <a:solidFill>
            <a:srgbClr val="F47C20"/>
          </a:solidFill>
          <a:ln w="12700">
            <a:solidFill>
              <a:srgbClr val="FFFFFF"/>
            </a:solidFill>
            <a:prstDash val="solid"/>
          </a:ln>
        </p:spPr>
      </p:sp>
      <p:sp>
        <p:nvSpPr>
          <p:cNvPr id="22" name="Text 19"/>
          <p:cNvSpPr/>
          <p:nvPr/>
        </p:nvSpPr>
        <p:spPr>
          <a:xfrm>
            <a:off x="914400" y="4974336"/>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3" name="Text 20"/>
          <p:cNvSpPr/>
          <p:nvPr/>
        </p:nvSpPr>
        <p:spPr>
          <a:xfrm>
            <a:off x="1508760" y="4910328"/>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Open the source module for live detail</a:t>
            </a:r>
            <a:endParaRPr lang="en-US" sz="1700" dirty="0"/>
          </a:p>
        </p:txBody>
      </p:sp>
      <p:sp>
        <p:nvSpPr>
          <p:cNvPr id="24" name="Shape 21"/>
          <p:cNvSpPr/>
          <p:nvPr/>
        </p:nvSpPr>
        <p:spPr>
          <a:xfrm>
            <a:off x="713232" y="5623560"/>
            <a:ext cx="5193792" cy="566928"/>
          </a:xfrm>
          <a:prstGeom prst="roundRect">
            <a:avLst>
              <a:gd name="adj" fmla="val 6452"/>
            </a:avLst>
          </a:prstGeom>
          <a:solidFill>
            <a:srgbClr val="EFF7F7"/>
          </a:solidFill>
          <a:ln w="12700">
            <a:solidFill>
              <a:srgbClr val="D7E2E6"/>
            </a:solidFill>
            <a:prstDash val="solid"/>
          </a:ln>
        </p:spPr>
      </p:sp>
      <p:sp>
        <p:nvSpPr>
          <p:cNvPr id="25" name="Text 22"/>
          <p:cNvSpPr/>
          <p:nvPr/>
        </p:nvSpPr>
        <p:spPr>
          <a:xfrm>
            <a:off x="914400"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087B76"/>
                </a:solidFill>
              </a:rPr>
              <a:t>WHAT HAPPENS NEXT  Manager sets priority; operator opens the assigned queue.</a:t>
            </a:r>
            <a:endParaRPr lang="en-US" sz="1150" dirty="0"/>
          </a:p>
        </p:txBody>
      </p:sp>
      <p:sp>
        <p:nvSpPr>
          <p:cNvPr id="26" name="Shape 23"/>
          <p:cNvSpPr/>
          <p:nvPr/>
        </p:nvSpPr>
        <p:spPr>
          <a:xfrm>
            <a:off x="6144768" y="5623560"/>
            <a:ext cx="5193792" cy="566928"/>
          </a:xfrm>
          <a:prstGeom prst="roundRect">
            <a:avLst>
              <a:gd name="adj" fmla="val 6452"/>
            </a:avLst>
          </a:prstGeom>
          <a:solidFill>
            <a:srgbClr val="FFF3DF"/>
          </a:solidFill>
          <a:ln w="12700">
            <a:solidFill>
              <a:srgbClr val="FFC928"/>
            </a:solidFill>
            <a:prstDash val="solid"/>
          </a:ln>
        </p:spPr>
      </p:sp>
      <p:sp>
        <p:nvSpPr>
          <p:cNvPr id="27" name="Text 24"/>
          <p:cNvSpPr/>
          <p:nvPr/>
        </p:nvSpPr>
        <p:spPr>
          <a:xfrm>
            <a:off x="6345936"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C93C3C"/>
                </a:solidFill>
              </a:rPr>
              <a:t>WATCH-OUT  Do not use an aggregate tile as evidence for a pallet decision.</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66928" y="384048"/>
            <a:ext cx="9966960" cy="438912"/>
          </a:xfrm>
          <a:prstGeom prst="rect">
            <a:avLst/>
          </a:prstGeom>
          <a:noFill/>
          <a:ln/>
        </p:spPr>
        <p:txBody>
          <a:bodyPr wrap="square" lIns="0" tIns="0" rIns="0" bIns="0" rtlCol="0" anchor="ctr">
            <a:normAutofit/>
          </a:bodyPr>
          <a:lstStyle/>
          <a:p>
            <a:pPr indent="0" marL="0">
              <a:buNone/>
            </a:pPr>
            <a:r>
              <a:rPr lang="en-US" sz="2500" b="1" dirty="0">
                <a:solidFill>
                  <a:srgbClr val="123247"/>
                </a:solidFill>
                <a:latin typeface="Aptos Display" pitchFamily="34" charset="0"/>
                <a:ea typeface="Aptos Display" pitchFamily="34" charset="-122"/>
                <a:cs typeface="Aptos Display" pitchFamily="34" charset="-120"/>
              </a:rPr>
              <a:t>Warehouses</a:t>
            </a:r>
            <a:endParaRPr lang="en-US" sz="2500" dirty="0"/>
          </a:p>
        </p:txBody>
      </p:sp>
      <p:sp>
        <p:nvSpPr>
          <p:cNvPr id="5" name="Text 2"/>
          <p:cNvSpPr/>
          <p:nvPr/>
        </p:nvSpPr>
        <p:spPr>
          <a:xfrm>
            <a:off x="10698480" y="438912"/>
            <a:ext cx="777240" cy="228600"/>
          </a:xfrm>
          <a:prstGeom prst="rect">
            <a:avLst/>
          </a:prstGeom>
          <a:noFill/>
          <a:ln/>
        </p:spPr>
        <p:txBody>
          <a:bodyPr wrap="square" lIns="0" tIns="0" rIns="0" bIns="0" rtlCol="0" anchor="ctr"/>
          <a:lstStyle/>
          <a:p>
            <a:pPr algn="r" indent="0" marL="0">
              <a:buNone/>
            </a:pPr>
            <a:r>
              <a:rPr lang="en-US" sz="900" b="1" dirty="0">
                <a:solidFill>
                  <a:srgbClr val="087B76"/>
                </a:solidFill>
              </a:rPr>
              <a:t>1 min</a:t>
            </a:r>
            <a:endParaRPr lang="en-US" sz="900" dirty="0"/>
          </a:p>
        </p:txBody>
      </p:sp>
      <p:sp>
        <p:nvSpPr>
          <p:cNvPr id="6" name="Text 3"/>
          <p:cNvSpPr/>
          <p:nvPr/>
        </p:nvSpPr>
        <p:spPr>
          <a:xfrm>
            <a:off x="585216" y="960120"/>
            <a:ext cx="4023360" cy="219456"/>
          </a:xfrm>
          <a:prstGeom prst="rect">
            <a:avLst/>
          </a:prstGeom>
          <a:noFill/>
          <a:ln/>
        </p:spPr>
        <p:txBody>
          <a:bodyPr wrap="square" lIns="0" tIns="0" rIns="0" bIns="0" rtlCol="0" anchor="ctr"/>
          <a:lstStyle/>
          <a:p>
            <a:pPr indent="0" marL="0">
              <a:buNone/>
            </a:pPr>
            <a:r>
              <a:rPr lang="en-US" sz="1000" b="1" spc="130" kern="0" dirty="0">
                <a:solidFill>
                  <a:srgbClr val="F47C20"/>
                </a:solidFill>
              </a:rPr>
              <a:t>STRUCTURE + MASTER DATA</a:t>
            </a:r>
            <a:endParaRPr lang="en-US" sz="1000" dirty="0"/>
          </a:p>
        </p:txBody>
      </p:sp>
      <p:sp>
        <p:nvSpPr>
          <p:cNvPr id="7" name="Text 4"/>
          <p:cNvSpPr/>
          <p:nvPr/>
        </p:nvSpPr>
        <p:spPr>
          <a:xfrm>
            <a:off x="566928" y="6473952"/>
            <a:ext cx="1097280" cy="182880"/>
          </a:xfrm>
          <a:prstGeom prst="rect">
            <a:avLst/>
          </a:prstGeom>
          <a:noFill/>
          <a:ln/>
        </p:spPr>
        <p:txBody>
          <a:bodyPr wrap="square" lIns="0" tIns="0" rIns="0" bIns="0" rtlCol="0" anchor="ctr"/>
          <a:lstStyle/>
          <a:p>
            <a:pPr indent="0" marL="0">
              <a:buNone/>
            </a:pPr>
            <a:r>
              <a:rPr lang="en-US" sz="800" dirty="0">
                <a:solidFill>
                  <a:srgbClr val="667985"/>
                </a:solidFill>
              </a:rPr>
              <a:t>Product 1.27</a:t>
            </a:r>
            <a:endParaRPr lang="en-US" sz="800" dirty="0"/>
          </a:p>
        </p:txBody>
      </p:sp>
      <p:sp>
        <p:nvSpPr>
          <p:cNvPr id="8" name="Text 5"/>
          <p:cNvSpPr/>
          <p:nvPr/>
        </p:nvSpPr>
        <p:spPr>
          <a:xfrm>
            <a:off x="10789920" y="6473952"/>
            <a:ext cx="731520" cy="182880"/>
          </a:xfrm>
          <a:prstGeom prst="rect">
            <a:avLst/>
          </a:prstGeom>
          <a:noFill/>
          <a:ln/>
        </p:spPr>
        <p:txBody>
          <a:bodyPr wrap="square" lIns="0" tIns="0" rIns="0" bIns="0" rtlCol="0" anchor="ctr"/>
          <a:lstStyle/>
          <a:p>
            <a:pPr algn="r" indent="0" marL="0">
              <a:buNone/>
            </a:pPr>
            <a:r>
              <a:rPr lang="en-US" sz="800" dirty="0">
                <a:solidFill>
                  <a:srgbClr val="667985"/>
                </a:solidFill>
              </a:rPr>
              <a:t>5 / 28</a:t>
            </a:r>
            <a:endParaRPr lang="en-US" sz="800" dirty="0"/>
          </a:p>
        </p:txBody>
      </p:sp>
      <p:sp>
        <p:nvSpPr>
          <p:cNvPr id="9" name="Shape 6"/>
          <p:cNvSpPr/>
          <p:nvPr/>
        </p:nvSpPr>
        <p:spPr>
          <a:xfrm>
            <a:off x="658368" y="1353312"/>
            <a:ext cx="10835640" cy="914400"/>
          </a:xfrm>
          <a:prstGeom prst="roundRect">
            <a:avLst>
              <a:gd name="adj" fmla="val 5000"/>
            </a:avLst>
          </a:prstGeom>
          <a:solidFill>
            <a:srgbClr val="EFF7F7"/>
          </a:solidFill>
          <a:ln w="15240">
            <a:solidFill>
              <a:srgbClr val="0F9D96"/>
            </a:solidFill>
            <a:prstDash val="solid"/>
          </a:ln>
        </p:spPr>
      </p:sp>
      <p:sp>
        <p:nvSpPr>
          <p:cNvPr id="10" name="Text 7"/>
          <p:cNvSpPr/>
          <p:nvPr/>
        </p:nvSpPr>
        <p:spPr>
          <a:xfrm>
            <a:off x="914400" y="1609344"/>
            <a:ext cx="1280160" cy="228600"/>
          </a:xfrm>
          <a:prstGeom prst="rect">
            <a:avLst/>
          </a:prstGeom>
          <a:noFill/>
          <a:ln/>
        </p:spPr>
        <p:txBody>
          <a:bodyPr wrap="square" lIns="0" tIns="0" rIns="0" bIns="0" rtlCol="0" anchor="ctr"/>
          <a:lstStyle/>
          <a:p>
            <a:pPr indent="0" marL="0">
              <a:buNone/>
            </a:pPr>
            <a:r>
              <a:rPr lang="en-US" sz="1100" b="1" spc="100" kern="0" dirty="0">
                <a:solidFill>
                  <a:srgbClr val="087B76"/>
                </a:solidFill>
              </a:rPr>
              <a:t>WHAT LIVES HERE</a:t>
            </a:r>
            <a:endParaRPr lang="en-US" sz="1100" dirty="0"/>
          </a:p>
        </p:txBody>
      </p:sp>
      <p:sp>
        <p:nvSpPr>
          <p:cNvPr id="11" name="Text 8"/>
          <p:cNvSpPr/>
          <p:nvPr/>
        </p:nvSpPr>
        <p:spPr>
          <a:xfrm>
            <a:off x="2423160" y="1536192"/>
            <a:ext cx="8641080" cy="384048"/>
          </a:xfrm>
          <a:prstGeom prst="rect">
            <a:avLst/>
          </a:prstGeom>
          <a:noFill/>
          <a:ln/>
        </p:spPr>
        <p:txBody>
          <a:bodyPr wrap="square" lIns="0" tIns="0" rIns="0" bIns="0" rtlCol="0" anchor="ctr">
            <a:normAutofit/>
          </a:bodyPr>
          <a:lstStyle/>
          <a:p>
            <a:pPr indent="0" marL="0">
              <a:buNone/>
            </a:pPr>
            <a:r>
              <a:rPr lang="en-US" sz="2000" b="1" dirty="0">
                <a:solidFill>
                  <a:srgbClr val="123247"/>
                </a:solidFill>
              </a:rPr>
              <a:t>Define the top-level physical facilities used by all warehouse activity.</a:t>
            </a:r>
            <a:endParaRPr lang="en-US" sz="2000" dirty="0"/>
          </a:p>
        </p:txBody>
      </p:sp>
      <p:sp>
        <p:nvSpPr>
          <p:cNvPr id="12" name="Text 9"/>
          <p:cNvSpPr/>
          <p:nvPr/>
        </p:nvSpPr>
        <p:spPr>
          <a:xfrm>
            <a:off x="786384" y="2578608"/>
            <a:ext cx="2103120" cy="228600"/>
          </a:xfrm>
          <a:prstGeom prst="rect">
            <a:avLst/>
          </a:prstGeom>
          <a:noFill/>
          <a:ln/>
        </p:spPr>
        <p:txBody>
          <a:bodyPr wrap="square" lIns="0" tIns="0" rIns="0" bIns="0" rtlCol="0" anchor="ctr"/>
          <a:lstStyle/>
          <a:p>
            <a:pPr indent="0" marL="0">
              <a:buNone/>
            </a:pPr>
            <a:r>
              <a:rPr lang="en-US" sz="1100" b="1" spc="80" kern="0" dirty="0">
                <a:solidFill>
                  <a:srgbClr val="F47C20"/>
                </a:solidFill>
              </a:rPr>
              <a:t>WHO USUALLY WORKS HERE</a:t>
            </a:r>
            <a:endParaRPr lang="en-US" sz="1100" dirty="0"/>
          </a:p>
        </p:txBody>
      </p:sp>
      <p:sp>
        <p:nvSpPr>
          <p:cNvPr id="13" name="Text 10"/>
          <p:cNvSpPr/>
          <p:nvPr/>
        </p:nvSpPr>
        <p:spPr>
          <a:xfrm>
            <a:off x="3063240" y="2542032"/>
            <a:ext cx="7818120" cy="292608"/>
          </a:xfrm>
          <a:prstGeom prst="rect">
            <a:avLst/>
          </a:prstGeom>
          <a:noFill/>
          <a:ln/>
        </p:spPr>
        <p:txBody>
          <a:bodyPr wrap="square" lIns="0" tIns="0" rIns="0" bIns="0" rtlCol="0" anchor="ctr">
            <a:normAutofit/>
          </a:bodyPr>
          <a:lstStyle/>
          <a:p>
            <a:pPr indent="0" marL="0">
              <a:buNone/>
            </a:pPr>
            <a:r>
              <a:rPr lang="en-US" sz="1600" b="1" dirty="0">
                <a:solidFill>
                  <a:srgbClr val="16303D"/>
                </a:solidFill>
              </a:rPr>
              <a:t>Admins · Warehouse Managers</a:t>
            </a:r>
            <a:endParaRPr lang="en-US" sz="1600" dirty="0"/>
          </a:p>
        </p:txBody>
      </p:sp>
      <p:sp>
        <p:nvSpPr>
          <p:cNvPr id="14" name="Text 11"/>
          <p:cNvSpPr/>
          <p:nvPr/>
        </p:nvSpPr>
        <p:spPr>
          <a:xfrm>
            <a:off x="786384" y="3127248"/>
            <a:ext cx="2286000" cy="228600"/>
          </a:xfrm>
          <a:prstGeom prst="rect">
            <a:avLst/>
          </a:prstGeom>
          <a:noFill/>
          <a:ln/>
        </p:spPr>
        <p:txBody>
          <a:bodyPr wrap="square" lIns="0" tIns="0" rIns="0" bIns="0" rtlCol="0" anchor="ctr"/>
          <a:lstStyle/>
          <a:p>
            <a:pPr indent="0" marL="0">
              <a:buNone/>
            </a:pPr>
            <a:r>
              <a:rPr lang="en-US" sz="1100" b="1" spc="80" kern="0" dirty="0">
                <a:solidFill>
                  <a:srgbClr val="087B76"/>
                </a:solidFill>
              </a:rPr>
              <a:t>A NORMAL VISIT LOOKS LIKE</a:t>
            </a:r>
            <a:endParaRPr lang="en-US" sz="1100" dirty="0"/>
          </a:p>
        </p:txBody>
      </p:sp>
      <p:sp>
        <p:nvSpPr>
          <p:cNvPr id="15" name="Shape 12"/>
          <p:cNvSpPr/>
          <p:nvPr/>
        </p:nvSpPr>
        <p:spPr>
          <a:xfrm>
            <a:off x="914400" y="3566160"/>
            <a:ext cx="384048" cy="384048"/>
          </a:xfrm>
          <a:prstGeom prst="ellipse">
            <a:avLst/>
          </a:prstGeom>
          <a:solidFill>
            <a:srgbClr val="0F9D96"/>
          </a:solidFill>
          <a:ln w="12700">
            <a:solidFill>
              <a:srgbClr val="FFFFFF"/>
            </a:solidFill>
            <a:prstDash val="solid"/>
          </a:ln>
        </p:spPr>
      </p:sp>
      <p:sp>
        <p:nvSpPr>
          <p:cNvPr id="16" name="Text 13"/>
          <p:cNvSpPr/>
          <p:nvPr/>
        </p:nvSpPr>
        <p:spPr>
          <a:xfrm>
            <a:off x="914400" y="3657600"/>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7" name="Text 14"/>
          <p:cNvSpPr/>
          <p:nvPr/>
        </p:nvSpPr>
        <p:spPr>
          <a:xfrm>
            <a:off x="1508760" y="3593592"/>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Create one stable unique facility code</a:t>
            </a:r>
            <a:endParaRPr lang="en-US" sz="1700" dirty="0"/>
          </a:p>
        </p:txBody>
      </p:sp>
      <p:sp>
        <p:nvSpPr>
          <p:cNvPr id="18" name="Shape 15"/>
          <p:cNvSpPr/>
          <p:nvPr/>
        </p:nvSpPr>
        <p:spPr>
          <a:xfrm>
            <a:off x="914400" y="4224528"/>
            <a:ext cx="384048" cy="384048"/>
          </a:xfrm>
          <a:prstGeom prst="ellipse">
            <a:avLst/>
          </a:prstGeom>
          <a:solidFill>
            <a:srgbClr val="0F9D96"/>
          </a:solidFill>
          <a:ln w="12700">
            <a:solidFill>
              <a:srgbClr val="FFFFFF"/>
            </a:solidFill>
            <a:prstDash val="solid"/>
          </a:ln>
        </p:spPr>
      </p:sp>
      <p:sp>
        <p:nvSpPr>
          <p:cNvPr id="19" name="Text 16"/>
          <p:cNvSpPr/>
          <p:nvPr/>
        </p:nvSpPr>
        <p:spPr>
          <a:xfrm>
            <a:off x="914400" y="4315968"/>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0" name="Text 17"/>
          <p:cNvSpPr/>
          <p:nvPr/>
        </p:nvSpPr>
        <p:spPr>
          <a:xfrm>
            <a:off x="1508760" y="4251960"/>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Maintain identity, location context, status, and cool capability</a:t>
            </a:r>
            <a:endParaRPr lang="en-US" sz="1700" dirty="0"/>
          </a:p>
        </p:txBody>
      </p:sp>
      <p:sp>
        <p:nvSpPr>
          <p:cNvPr id="21" name="Shape 18"/>
          <p:cNvSpPr/>
          <p:nvPr/>
        </p:nvSpPr>
        <p:spPr>
          <a:xfrm>
            <a:off x="914400" y="4882896"/>
            <a:ext cx="384048" cy="384048"/>
          </a:xfrm>
          <a:prstGeom prst="ellipse">
            <a:avLst/>
          </a:prstGeom>
          <a:solidFill>
            <a:srgbClr val="F47C20"/>
          </a:solidFill>
          <a:ln w="12700">
            <a:solidFill>
              <a:srgbClr val="FFFFFF"/>
            </a:solidFill>
            <a:prstDash val="solid"/>
          </a:ln>
        </p:spPr>
      </p:sp>
      <p:sp>
        <p:nvSpPr>
          <p:cNvPr id="22" name="Text 19"/>
          <p:cNvSpPr/>
          <p:nvPr/>
        </p:nvSpPr>
        <p:spPr>
          <a:xfrm>
            <a:off x="914400" y="4974336"/>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3" name="Text 20"/>
          <p:cNvSpPr/>
          <p:nvPr/>
        </p:nvSpPr>
        <p:spPr>
          <a:xfrm>
            <a:off x="1508760" y="4910328"/>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Confirm the facility exists physically as configured</a:t>
            </a:r>
            <a:endParaRPr lang="en-US" sz="1700" dirty="0"/>
          </a:p>
        </p:txBody>
      </p:sp>
      <p:sp>
        <p:nvSpPr>
          <p:cNvPr id="24" name="Shape 21"/>
          <p:cNvSpPr/>
          <p:nvPr/>
        </p:nvSpPr>
        <p:spPr>
          <a:xfrm>
            <a:off x="713232" y="5623560"/>
            <a:ext cx="5193792" cy="566928"/>
          </a:xfrm>
          <a:prstGeom prst="roundRect">
            <a:avLst>
              <a:gd name="adj" fmla="val 6452"/>
            </a:avLst>
          </a:prstGeom>
          <a:solidFill>
            <a:srgbClr val="EFF7F7"/>
          </a:solidFill>
          <a:ln w="12700">
            <a:solidFill>
              <a:srgbClr val="D7E2E6"/>
            </a:solidFill>
            <a:prstDash val="solid"/>
          </a:ln>
        </p:spPr>
      </p:sp>
      <p:sp>
        <p:nvSpPr>
          <p:cNvPr id="25" name="Text 22"/>
          <p:cNvSpPr/>
          <p:nvPr/>
        </p:nvSpPr>
        <p:spPr>
          <a:xfrm>
            <a:off x="914400"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087B76"/>
                </a:solidFill>
              </a:rPr>
              <a:t>WHAT HAPPENS NEXT  Build zones and locations before releasing work.</a:t>
            </a:r>
            <a:endParaRPr lang="en-US" sz="1150" dirty="0"/>
          </a:p>
        </p:txBody>
      </p:sp>
      <p:sp>
        <p:nvSpPr>
          <p:cNvPr id="26" name="Shape 23"/>
          <p:cNvSpPr/>
          <p:nvPr/>
        </p:nvSpPr>
        <p:spPr>
          <a:xfrm>
            <a:off x="6144768" y="5623560"/>
            <a:ext cx="5193792" cy="566928"/>
          </a:xfrm>
          <a:prstGeom prst="roundRect">
            <a:avLst>
              <a:gd name="adj" fmla="val 6452"/>
            </a:avLst>
          </a:prstGeom>
          <a:solidFill>
            <a:srgbClr val="FFF3DF"/>
          </a:solidFill>
          <a:ln w="12700">
            <a:solidFill>
              <a:srgbClr val="FFC928"/>
            </a:solidFill>
            <a:prstDash val="solid"/>
          </a:ln>
        </p:spPr>
      </p:sp>
      <p:sp>
        <p:nvSpPr>
          <p:cNvPr id="27" name="Text 24"/>
          <p:cNvSpPr/>
          <p:nvPr/>
        </p:nvSpPr>
        <p:spPr>
          <a:xfrm>
            <a:off x="6345936"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C93C3C"/>
                </a:solidFill>
              </a:rPr>
              <a:t>WATCH-OUT  Do not duplicate codes or disable a facility with dependent work.</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66928" y="384048"/>
            <a:ext cx="9966960" cy="438912"/>
          </a:xfrm>
          <a:prstGeom prst="rect">
            <a:avLst/>
          </a:prstGeom>
          <a:noFill/>
          <a:ln/>
        </p:spPr>
        <p:txBody>
          <a:bodyPr wrap="square" lIns="0" tIns="0" rIns="0" bIns="0" rtlCol="0" anchor="ctr">
            <a:normAutofit/>
          </a:bodyPr>
          <a:lstStyle/>
          <a:p>
            <a:pPr indent="0" marL="0">
              <a:buNone/>
            </a:pPr>
            <a:r>
              <a:rPr lang="en-US" sz="2500" b="1" dirty="0">
                <a:solidFill>
                  <a:srgbClr val="123247"/>
                </a:solidFill>
                <a:latin typeface="Aptos Display" pitchFamily="34" charset="0"/>
                <a:ea typeface="Aptos Display" pitchFamily="34" charset="-122"/>
                <a:cs typeface="Aptos Display" pitchFamily="34" charset="-120"/>
              </a:rPr>
              <a:t>Clients</a:t>
            </a:r>
            <a:endParaRPr lang="en-US" sz="2500" dirty="0"/>
          </a:p>
        </p:txBody>
      </p:sp>
      <p:sp>
        <p:nvSpPr>
          <p:cNvPr id="5" name="Text 2"/>
          <p:cNvSpPr/>
          <p:nvPr/>
        </p:nvSpPr>
        <p:spPr>
          <a:xfrm>
            <a:off x="10698480" y="438912"/>
            <a:ext cx="777240" cy="228600"/>
          </a:xfrm>
          <a:prstGeom prst="rect">
            <a:avLst/>
          </a:prstGeom>
          <a:noFill/>
          <a:ln/>
        </p:spPr>
        <p:txBody>
          <a:bodyPr wrap="square" lIns="0" tIns="0" rIns="0" bIns="0" rtlCol="0" anchor="ctr"/>
          <a:lstStyle/>
          <a:p>
            <a:pPr algn="r" indent="0" marL="0">
              <a:buNone/>
            </a:pPr>
            <a:r>
              <a:rPr lang="en-US" sz="900" b="1" dirty="0">
                <a:solidFill>
                  <a:srgbClr val="087B76"/>
                </a:solidFill>
              </a:rPr>
              <a:t>1 min</a:t>
            </a:r>
            <a:endParaRPr lang="en-US" sz="900" dirty="0"/>
          </a:p>
        </p:txBody>
      </p:sp>
      <p:sp>
        <p:nvSpPr>
          <p:cNvPr id="6" name="Text 3"/>
          <p:cNvSpPr/>
          <p:nvPr/>
        </p:nvSpPr>
        <p:spPr>
          <a:xfrm>
            <a:off x="585216" y="960120"/>
            <a:ext cx="4023360" cy="219456"/>
          </a:xfrm>
          <a:prstGeom prst="rect">
            <a:avLst/>
          </a:prstGeom>
          <a:noFill/>
          <a:ln/>
        </p:spPr>
        <p:txBody>
          <a:bodyPr wrap="square" lIns="0" tIns="0" rIns="0" bIns="0" rtlCol="0" anchor="ctr"/>
          <a:lstStyle/>
          <a:p>
            <a:pPr indent="0" marL="0">
              <a:buNone/>
            </a:pPr>
            <a:r>
              <a:rPr lang="en-US" sz="1000" b="1" spc="130" kern="0" dirty="0">
                <a:solidFill>
                  <a:srgbClr val="F47C20"/>
                </a:solidFill>
              </a:rPr>
              <a:t>STRUCTURE + MASTER DATA</a:t>
            </a:r>
            <a:endParaRPr lang="en-US" sz="1000" dirty="0"/>
          </a:p>
        </p:txBody>
      </p:sp>
      <p:sp>
        <p:nvSpPr>
          <p:cNvPr id="7" name="Text 4"/>
          <p:cNvSpPr/>
          <p:nvPr/>
        </p:nvSpPr>
        <p:spPr>
          <a:xfrm>
            <a:off x="566928" y="6473952"/>
            <a:ext cx="1097280" cy="182880"/>
          </a:xfrm>
          <a:prstGeom prst="rect">
            <a:avLst/>
          </a:prstGeom>
          <a:noFill/>
          <a:ln/>
        </p:spPr>
        <p:txBody>
          <a:bodyPr wrap="square" lIns="0" tIns="0" rIns="0" bIns="0" rtlCol="0" anchor="ctr"/>
          <a:lstStyle/>
          <a:p>
            <a:pPr indent="0" marL="0">
              <a:buNone/>
            </a:pPr>
            <a:r>
              <a:rPr lang="en-US" sz="800" dirty="0">
                <a:solidFill>
                  <a:srgbClr val="667985"/>
                </a:solidFill>
              </a:rPr>
              <a:t>Product 1.27</a:t>
            </a:r>
            <a:endParaRPr lang="en-US" sz="800" dirty="0"/>
          </a:p>
        </p:txBody>
      </p:sp>
      <p:sp>
        <p:nvSpPr>
          <p:cNvPr id="8" name="Text 5"/>
          <p:cNvSpPr/>
          <p:nvPr/>
        </p:nvSpPr>
        <p:spPr>
          <a:xfrm>
            <a:off x="10789920" y="6473952"/>
            <a:ext cx="731520" cy="182880"/>
          </a:xfrm>
          <a:prstGeom prst="rect">
            <a:avLst/>
          </a:prstGeom>
          <a:noFill/>
          <a:ln/>
        </p:spPr>
        <p:txBody>
          <a:bodyPr wrap="square" lIns="0" tIns="0" rIns="0" bIns="0" rtlCol="0" anchor="ctr"/>
          <a:lstStyle/>
          <a:p>
            <a:pPr algn="r" indent="0" marL="0">
              <a:buNone/>
            </a:pPr>
            <a:r>
              <a:rPr lang="en-US" sz="800" dirty="0">
                <a:solidFill>
                  <a:srgbClr val="667985"/>
                </a:solidFill>
              </a:rPr>
              <a:t>6 / 28</a:t>
            </a:r>
            <a:endParaRPr lang="en-US" sz="800" dirty="0"/>
          </a:p>
        </p:txBody>
      </p:sp>
      <p:sp>
        <p:nvSpPr>
          <p:cNvPr id="9" name="Shape 6"/>
          <p:cNvSpPr/>
          <p:nvPr/>
        </p:nvSpPr>
        <p:spPr>
          <a:xfrm>
            <a:off x="658368" y="1353312"/>
            <a:ext cx="10835640" cy="914400"/>
          </a:xfrm>
          <a:prstGeom prst="roundRect">
            <a:avLst>
              <a:gd name="adj" fmla="val 5000"/>
            </a:avLst>
          </a:prstGeom>
          <a:solidFill>
            <a:srgbClr val="EFF7F7"/>
          </a:solidFill>
          <a:ln w="15240">
            <a:solidFill>
              <a:srgbClr val="0F9D96"/>
            </a:solidFill>
            <a:prstDash val="solid"/>
          </a:ln>
        </p:spPr>
      </p:sp>
      <p:sp>
        <p:nvSpPr>
          <p:cNvPr id="10" name="Text 7"/>
          <p:cNvSpPr/>
          <p:nvPr/>
        </p:nvSpPr>
        <p:spPr>
          <a:xfrm>
            <a:off x="914400" y="1609344"/>
            <a:ext cx="1280160" cy="228600"/>
          </a:xfrm>
          <a:prstGeom prst="rect">
            <a:avLst/>
          </a:prstGeom>
          <a:noFill/>
          <a:ln/>
        </p:spPr>
        <p:txBody>
          <a:bodyPr wrap="square" lIns="0" tIns="0" rIns="0" bIns="0" rtlCol="0" anchor="ctr"/>
          <a:lstStyle/>
          <a:p>
            <a:pPr indent="0" marL="0">
              <a:buNone/>
            </a:pPr>
            <a:r>
              <a:rPr lang="en-US" sz="1100" b="1" spc="100" kern="0" dirty="0">
                <a:solidFill>
                  <a:srgbClr val="087B76"/>
                </a:solidFill>
              </a:rPr>
              <a:t>WHAT LIVES HERE</a:t>
            </a:r>
            <a:endParaRPr lang="en-US" sz="1100" dirty="0"/>
          </a:p>
        </p:txBody>
      </p:sp>
      <p:sp>
        <p:nvSpPr>
          <p:cNvPr id="11" name="Text 8"/>
          <p:cNvSpPr/>
          <p:nvPr/>
        </p:nvSpPr>
        <p:spPr>
          <a:xfrm>
            <a:off x="2423160" y="1536192"/>
            <a:ext cx="8641080" cy="384048"/>
          </a:xfrm>
          <a:prstGeom prst="rect">
            <a:avLst/>
          </a:prstGeom>
          <a:noFill/>
          <a:ln/>
        </p:spPr>
        <p:txBody>
          <a:bodyPr wrap="square" lIns="0" tIns="0" rIns="0" bIns="0" rtlCol="0" anchor="ctr">
            <a:normAutofit/>
          </a:bodyPr>
          <a:lstStyle/>
          <a:p>
            <a:pPr indent="0" marL="0">
              <a:buNone/>
            </a:pPr>
            <a:r>
              <a:rPr lang="en-US" sz="2000" b="1" dirty="0">
                <a:solidFill>
                  <a:srgbClr val="123247"/>
                </a:solidFill>
              </a:rPr>
              <a:t>Identify who owns 3PL stock and which commercial handling rules apply.</a:t>
            </a:r>
            <a:endParaRPr lang="en-US" sz="2000" dirty="0"/>
          </a:p>
        </p:txBody>
      </p:sp>
      <p:sp>
        <p:nvSpPr>
          <p:cNvPr id="12" name="Text 9"/>
          <p:cNvSpPr/>
          <p:nvPr/>
        </p:nvSpPr>
        <p:spPr>
          <a:xfrm>
            <a:off x="786384" y="2578608"/>
            <a:ext cx="2103120" cy="228600"/>
          </a:xfrm>
          <a:prstGeom prst="rect">
            <a:avLst/>
          </a:prstGeom>
          <a:noFill/>
          <a:ln/>
        </p:spPr>
        <p:txBody>
          <a:bodyPr wrap="square" lIns="0" tIns="0" rIns="0" bIns="0" rtlCol="0" anchor="ctr"/>
          <a:lstStyle/>
          <a:p>
            <a:pPr indent="0" marL="0">
              <a:buNone/>
            </a:pPr>
            <a:r>
              <a:rPr lang="en-US" sz="1100" b="1" spc="80" kern="0" dirty="0">
                <a:solidFill>
                  <a:srgbClr val="F47C20"/>
                </a:solidFill>
              </a:rPr>
              <a:t>WHO USUALLY WORKS HERE</a:t>
            </a:r>
            <a:endParaRPr lang="en-US" sz="1100" dirty="0"/>
          </a:p>
        </p:txBody>
      </p:sp>
      <p:sp>
        <p:nvSpPr>
          <p:cNvPr id="13" name="Text 10"/>
          <p:cNvSpPr/>
          <p:nvPr/>
        </p:nvSpPr>
        <p:spPr>
          <a:xfrm>
            <a:off x="3063240" y="2542032"/>
            <a:ext cx="7818120" cy="292608"/>
          </a:xfrm>
          <a:prstGeom prst="rect">
            <a:avLst/>
          </a:prstGeom>
          <a:noFill/>
          <a:ln/>
        </p:spPr>
        <p:txBody>
          <a:bodyPr wrap="square" lIns="0" tIns="0" rIns="0" bIns="0" rtlCol="0" anchor="ctr">
            <a:normAutofit/>
          </a:bodyPr>
          <a:lstStyle/>
          <a:p>
            <a:pPr indent="0" marL="0">
              <a:buNone/>
            </a:pPr>
            <a:r>
              <a:rPr lang="en-US" sz="1600" b="1" dirty="0">
                <a:solidFill>
                  <a:srgbClr val="16303D"/>
                </a:solidFill>
              </a:rPr>
              <a:t>Admins · Warehouse Managers</a:t>
            </a:r>
            <a:endParaRPr lang="en-US" sz="1600" dirty="0"/>
          </a:p>
        </p:txBody>
      </p:sp>
      <p:sp>
        <p:nvSpPr>
          <p:cNvPr id="14" name="Text 11"/>
          <p:cNvSpPr/>
          <p:nvPr/>
        </p:nvSpPr>
        <p:spPr>
          <a:xfrm>
            <a:off x="786384" y="3127248"/>
            <a:ext cx="2286000" cy="228600"/>
          </a:xfrm>
          <a:prstGeom prst="rect">
            <a:avLst/>
          </a:prstGeom>
          <a:noFill/>
          <a:ln/>
        </p:spPr>
        <p:txBody>
          <a:bodyPr wrap="square" lIns="0" tIns="0" rIns="0" bIns="0" rtlCol="0" anchor="ctr"/>
          <a:lstStyle/>
          <a:p>
            <a:pPr indent="0" marL="0">
              <a:buNone/>
            </a:pPr>
            <a:r>
              <a:rPr lang="en-US" sz="1100" b="1" spc="80" kern="0" dirty="0">
                <a:solidFill>
                  <a:srgbClr val="087B76"/>
                </a:solidFill>
              </a:rPr>
              <a:t>A NORMAL VISIT LOOKS LIKE</a:t>
            </a:r>
            <a:endParaRPr lang="en-US" sz="1100" dirty="0"/>
          </a:p>
        </p:txBody>
      </p:sp>
      <p:sp>
        <p:nvSpPr>
          <p:cNvPr id="15" name="Shape 12"/>
          <p:cNvSpPr/>
          <p:nvPr/>
        </p:nvSpPr>
        <p:spPr>
          <a:xfrm>
            <a:off x="914400" y="3566160"/>
            <a:ext cx="384048" cy="384048"/>
          </a:xfrm>
          <a:prstGeom prst="ellipse">
            <a:avLst/>
          </a:prstGeom>
          <a:solidFill>
            <a:srgbClr val="0F9D96"/>
          </a:solidFill>
          <a:ln w="12700">
            <a:solidFill>
              <a:srgbClr val="FFFFFF"/>
            </a:solidFill>
            <a:prstDash val="solid"/>
          </a:ln>
        </p:spPr>
      </p:sp>
      <p:sp>
        <p:nvSpPr>
          <p:cNvPr id="16" name="Text 13"/>
          <p:cNvSpPr/>
          <p:nvPr/>
        </p:nvSpPr>
        <p:spPr>
          <a:xfrm>
            <a:off x="914400" y="3657600"/>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7" name="Text 14"/>
          <p:cNvSpPr/>
          <p:nvPr/>
        </p:nvSpPr>
        <p:spPr>
          <a:xfrm>
            <a:off x="1508760" y="3593592"/>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Maintain short stable client codes</a:t>
            </a:r>
            <a:endParaRPr lang="en-US" sz="1700" dirty="0"/>
          </a:p>
        </p:txBody>
      </p:sp>
      <p:sp>
        <p:nvSpPr>
          <p:cNvPr id="18" name="Shape 15"/>
          <p:cNvSpPr/>
          <p:nvPr/>
        </p:nvSpPr>
        <p:spPr>
          <a:xfrm>
            <a:off x="914400" y="4224528"/>
            <a:ext cx="384048" cy="384048"/>
          </a:xfrm>
          <a:prstGeom prst="ellipse">
            <a:avLst/>
          </a:prstGeom>
          <a:solidFill>
            <a:srgbClr val="0F9D96"/>
          </a:solidFill>
          <a:ln w="12700">
            <a:solidFill>
              <a:srgbClr val="FFFFFF"/>
            </a:solidFill>
            <a:prstDash val="solid"/>
          </a:ln>
        </p:spPr>
      </p:sp>
      <p:sp>
        <p:nvSpPr>
          <p:cNvPr id="19" name="Text 16"/>
          <p:cNvSpPr/>
          <p:nvPr/>
        </p:nvSpPr>
        <p:spPr>
          <a:xfrm>
            <a:off x="914400" y="4315968"/>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0" name="Text 17"/>
          <p:cNvSpPr/>
          <p:nvPr/>
        </p:nvSpPr>
        <p:spPr>
          <a:xfrm>
            <a:off x="1508760" y="4251960"/>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Set ownership, expiry, and mixed-stock controls</a:t>
            </a:r>
            <a:endParaRPr lang="en-US" sz="1700" dirty="0"/>
          </a:p>
        </p:txBody>
      </p:sp>
      <p:sp>
        <p:nvSpPr>
          <p:cNvPr id="21" name="Shape 18"/>
          <p:cNvSpPr/>
          <p:nvPr/>
        </p:nvSpPr>
        <p:spPr>
          <a:xfrm>
            <a:off x="914400" y="4882896"/>
            <a:ext cx="384048" cy="384048"/>
          </a:xfrm>
          <a:prstGeom prst="ellipse">
            <a:avLst/>
          </a:prstGeom>
          <a:solidFill>
            <a:srgbClr val="F47C20"/>
          </a:solidFill>
          <a:ln w="12700">
            <a:solidFill>
              <a:srgbClr val="FFFFFF"/>
            </a:solidFill>
            <a:prstDash val="solid"/>
          </a:ln>
        </p:spPr>
      </p:sp>
      <p:sp>
        <p:nvSpPr>
          <p:cNvPr id="22" name="Text 19"/>
          <p:cNvSpPr/>
          <p:nvPr/>
        </p:nvSpPr>
        <p:spPr>
          <a:xfrm>
            <a:off x="914400" y="4974336"/>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3" name="Text 20"/>
          <p:cNvSpPr/>
          <p:nvPr/>
        </p:nvSpPr>
        <p:spPr>
          <a:xfrm>
            <a:off x="1508760" y="4910328"/>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Deactivate rather than delete historical context</a:t>
            </a:r>
            <a:endParaRPr lang="en-US" sz="1700" dirty="0"/>
          </a:p>
        </p:txBody>
      </p:sp>
      <p:sp>
        <p:nvSpPr>
          <p:cNvPr id="24" name="Shape 21"/>
          <p:cNvSpPr/>
          <p:nvPr/>
        </p:nvSpPr>
        <p:spPr>
          <a:xfrm>
            <a:off x="713232" y="5623560"/>
            <a:ext cx="5193792" cy="566928"/>
          </a:xfrm>
          <a:prstGeom prst="roundRect">
            <a:avLst>
              <a:gd name="adj" fmla="val 6452"/>
            </a:avLst>
          </a:prstGeom>
          <a:solidFill>
            <a:srgbClr val="EFF7F7"/>
          </a:solidFill>
          <a:ln w="12700">
            <a:solidFill>
              <a:srgbClr val="D7E2E6"/>
            </a:solidFill>
            <a:prstDash val="solid"/>
          </a:ln>
        </p:spPr>
      </p:sp>
      <p:sp>
        <p:nvSpPr>
          <p:cNvPr id="25" name="Text 22"/>
          <p:cNvSpPr/>
          <p:nvPr/>
        </p:nvSpPr>
        <p:spPr>
          <a:xfrm>
            <a:off x="914400"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087B76"/>
                </a:solidFill>
              </a:rPr>
              <a:t>WHAT HAPPENS NEXT  Products and Receiving select the verified owner.</a:t>
            </a:r>
            <a:endParaRPr lang="en-US" sz="1150" dirty="0"/>
          </a:p>
        </p:txBody>
      </p:sp>
      <p:sp>
        <p:nvSpPr>
          <p:cNvPr id="26" name="Shape 23"/>
          <p:cNvSpPr/>
          <p:nvPr/>
        </p:nvSpPr>
        <p:spPr>
          <a:xfrm>
            <a:off x="6144768" y="5623560"/>
            <a:ext cx="5193792" cy="566928"/>
          </a:xfrm>
          <a:prstGeom prst="roundRect">
            <a:avLst>
              <a:gd name="adj" fmla="val 6452"/>
            </a:avLst>
          </a:prstGeom>
          <a:solidFill>
            <a:srgbClr val="FFF3DF"/>
          </a:solidFill>
          <a:ln w="12700">
            <a:solidFill>
              <a:srgbClr val="FFC928"/>
            </a:solidFill>
            <a:prstDash val="solid"/>
          </a:ln>
        </p:spPr>
      </p:sp>
      <p:sp>
        <p:nvSpPr>
          <p:cNvPr id="27" name="Text 24"/>
          <p:cNvSpPr/>
          <p:nvPr/>
        </p:nvSpPr>
        <p:spPr>
          <a:xfrm>
            <a:off x="6345936"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C93C3C"/>
                </a:solidFill>
              </a:rPr>
              <a:t>WATCH-OUT  Never receive stock under a guessed client.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66928" y="384048"/>
            <a:ext cx="9966960" cy="438912"/>
          </a:xfrm>
          <a:prstGeom prst="rect">
            <a:avLst/>
          </a:prstGeom>
          <a:noFill/>
          <a:ln/>
        </p:spPr>
        <p:txBody>
          <a:bodyPr wrap="square" lIns="0" tIns="0" rIns="0" bIns="0" rtlCol="0" anchor="ctr">
            <a:normAutofit/>
          </a:bodyPr>
          <a:lstStyle/>
          <a:p>
            <a:pPr indent="0" marL="0">
              <a:buNone/>
            </a:pPr>
            <a:r>
              <a:rPr lang="en-US" sz="2500" b="1" dirty="0">
                <a:solidFill>
                  <a:srgbClr val="123247"/>
                </a:solidFill>
                <a:latin typeface="Aptos Display" pitchFamily="34" charset="0"/>
                <a:ea typeface="Aptos Display" pitchFamily="34" charset="-122"/>
                <a:cs typeface="Aptos Display" pitchFamily="34" charset="-120"/>
              </a:rPr>
              <a:t>Zones</a:t>
            </a:r>
            <a:endParaRPr lang="en-US" sz="2500" dirty="0"/>
          </a:p>
        </p:txBody>
      </p:sp>
      <p:sp>
        <p:nvSpPr>
          <p:cNvPr id="5" name="Text 2"/>
          <p:cNvSpPr/>
          <p:nvPr/>
        </p:nvSpPr>
        <p:spPr>
          <a:xfrm>
            <a:off x="10698480" y="438912"/>
            <a:ext cx="777240" cy="228600"/>
          </a:xfrm>
          <a:prstGeom prst="rect">
            <a:avLst/>
          </a:prstGeom>
          <a:noFill/>
          <a:ln/>
        </p:spPr>
        <p:txBody>
          <a:bodyPr wrap="square" lIns="0" tIns="0" rIns="0" bIns="0" rtlCol="0" anchor="ctr"/>
          <a:lstStyle/>
          <a:p>
            <a:pPr algn="r" indent="0" marL="0">
              <a:buNone/>
            </a:pPr>
            <a:r>
              <a:rPr lang="en-US" sz="900" b="1" dirty="0">
                <a:solidFill>
                  <a:srgbClr val="087B76"/>
                </a:solidFill>
              </a:rPr>
              <a:t>1 min</a:t>
            </a:r>
            <a:endParaRPr lang="en-US" sz="900" dirty="0"/>
          </a:p>
        </p:txBody>
      </p:sp>
      <p:sp>
        <p:nvSpPr>
          <p:cNvPr id="6" name="Text 3"/>
          <p:cNvSpPr/>
          <p:nvPr/>
        </p:nvSpPr>
        <p:spPr>
          <a:xfrm>
            <a:off x="585216" y="960120"/>
            <a:ext cx="4023360" cy="219456"/>
          </a:xfrm>
          <a:prstGeom prst="rect">
            <a:avLst/>
          </a:prstGeom>
          <a:noFill/>
          <a:ln/>
        </p:spPr>
        <p:txBody>
          <a:bodyPr wrap="square" lIns="0" tIns="0" rIns="0" bIns="0" rtlCol="0" anchor="ctr"/>
          <a:lstStyle/>
          <a:p>
            <a:pPr indent="0" marL="0">
              <a:buNone/>
            </a:pPr>
            <a:r>
              <a:rPr lang="en-US" sz="1000" b="1" spc="130" kern="0" dirty="0">
                <a:solidFill>
                  <a:srgbClr val="F47C20"/>
                </a:solidFill>
              </a:rPr>
              <a:t>STRUCTURE + MASTER DATA</a:t>
            </a:r>
            <a:endParaRPr lang="en-US" sz="1000" dirty="0"/>
          </a:p>
        </p:txBody>
      </p:sp>
      <p:sp>
        <p:nvSpPr>
          <p:cNvPr id="7" name="Text 4"/>
          <p:cNvSpPr/>
          <p:nvPr/>
        </p:nvSpPr>
        <p:spPr>
          <a:xfrm>
            <a:off x="566928" y="6473952"/>
            <a:ext cx="1097280" cy="182880"/>
          </a:xfrm>
          <a:prstGeom prst="rect">
            <a:avLst/>
          </a:prstGeom>
          <a:noFill/>
          <a:ln/>
        </p:spPr>
        <p:txBody>
          <a:bodyPr wrap="square" lIns="0" tIns="0" rIns="0" bIns="0" rtlCol="0" anchor="ctr"/>
          <a:lstStyle/>
          <a:p>
            <a:pPr indent="0" marL="0">
              <a:buNone/>
            </a:pPr>
            <a:r>
              <a:rPr lang="en-US" sz="800" dirty="0">
                <a:solidFill>
                  <a:srgbClr val="667985"/>
                </a:solidFill>
              </a:rPr>
              <a:t>Product 1.27</a:t>
            </a:r>
            <a:endParaRPr lang="en-US" sz="800" dirty="0"/>
          </a:p>
        </p:txBody>
      </p:sp>
      <p:sp>
        <p:nvSpPr>
          <p:cNvPr id="8" name="Text 5"/>
          <p:cNvSpPr/>
          <p:nvPr/>
        </p:nvSpPr>
        <p:spPr>
          <a:xfrm>
            <a:off x="10789920" y="6473952"/>
            <a:ext cx="731520" cy="182880"/>
          </a:xfrm>
          <a:prstGeom prst="rect">
            <a:avLst/>
          </a:prstGeom>
          <a:noFill/>
          <a:ln/>
        </p:spPr>
        <p:txBody>
          <a:bodyPr wrap="square" lIns="0" tIns="0" rIns="0" bIns="0" rtlCol="0" anchor="ctr"/>
          <a:lstStyle/>
          <a:p>
            <a:pPr algn="r" indent="0" marL="0">
              <a:buNone/>
            </a:pPr>
            <a:r>
              <a:rPr lang="en-US" sz="800" dirty="0">
                <a:solidFill>
                  <a:srgbClr val="667985"/>
                </a:solidFill>
              </a:rPr>
              <a:t>7 / 28</a:t>
            </a:r>
            <a:endParaRPr lang="en-US" sz="800" dirty="0"/>
          </a:p>
        </p:txBody>
      </p:sp>
      <p:sp>
        <p:nvSpPr>
          <p:cNvPr id="9" name="Shape 6"/>
          <p:cNvSpPr/>
          <p:nvPr/>
        </p:nvSpPr>
        <p:spPr>
          <a:xfrm>
            <a:off x="658368" y="1353312"/>
            <a:ext cx="10835640" cy="914400"/>
          </a:xfrm>
          <a:prstGeom prst="roundRect">
            <a:avLst>
              <a:gd name="adj" fmla="val 5000"/>
            </a:avLst>
          </a:prstGeom>
          <a:solidFill>
            <a:srgbClr val="EFF7F7"/>
          </a:solidFill>
          <a:ln w="15240">
            <a:solidFill>
              <a:srgbClr val="0F9D96"/>
            </a:solidFill>
            <a:prstDash val="solid"/>
          </a:ln>
        </p:spPr>
      </p:sp>
      <p:sp>
        <p:nvSpPr>
          <p:cNvPr id="10" name="Text 7"/>
          <p:cNvSpPr/>
          <p:nvPr/>
        </p:nvSpPr>
        <p:spPr>
          <a:xfrm>
            <a:off x="914400" y="1609344"/>
            <a:ext cx="1280160" cy="228600"/>
          </a:xfrm>
          <a:prstGeom prst="rect">
            <a:avLst/>
          </a:prstGeom>
          <a:noFill/>
          <a:ln/>
        </p:spPr>
        <p:txBody>
          <a:bodyPr wrap="square" lIns="0" tIns="0" rIns="0" bIns="0" rtlCol="0" anchor="ctr"/>
          <a:lstStyle/>
          <a:p>
            <a:pPr indent="0" marL="0">
              <a:buNone/>
            </a:pPr>
            <a:r>
              <a:rPr lang="en-US" sz="1100" b="1" spc="100" kern="0" dirty="0">
                <a:solidFill>
                  <a:srgbClr val="087B76"/>
                </a:solidFill>
              </a:rPr>
              <a:t>WHAT LIVES HERE</a:t>
            </a:r>
            <a:endParaRPr lang="en-US" sz="1100" dirty="0"/>
          </a:p>
        </p:txBody>
      </p:sp>
      <p:sp>
        <p:nvSpPr>
          <p:cNvPr id="11" name="Text 8"/>
          <p:cNvSpPr/>
          <p:nvPr/>
        </p:nvSpPr>
        <p:spPr>
          <a:xfrm>
            <a:off x="2423160" y="1536192"/>
            <a:ext cx="8641080" cy="384048"/>
          </a:xfrm>
          <a:prstGeom prst="rect">
            <a:avLst/>
          </a:prstGeom>
          <a:noFill/>
          <a:ln/>
        </p:spPr>
        <p:txBody>
          <a:bodyPr wrap="square" lIns="0" tIns="0" rIns="0" bIns="0" rtlCol="0" anchor="ctr">
            <a:normAutofit/>
          </a:bodyPr>
          <a:lstStyle/>
          <a:p>
            <a:pPr indent="0" marL="0">
              <a:buNone/>
            </a:pPr>
            <a:r>
              <a:rPr lang="en-US" sz="2000" b="1" dirty="0">
                <a:solidFill>
                  <a:srgbClr val="123247"/>
                </a:solidFill>
              </a:rPr>
              <a:t>Group space by workflow purpose and temperature class.</a:t>
            </a:r>
            <a:endParaRPr lang="en-US" sz="2000" dirty="0"/>
          </a:p>
        </p:txBody>
      </p:sp>
      <p:sp>
        <p:nvSpPr>
          <p:cNvPr id="12" name="Text 9"/>
          <p:cNvSpPr/>
          <p:nvPr/>
        </p:nvSpPr>
        <p:spPr>
          <a:xfrm>
            <a:off x="786384" y="2578608"/>
            <a:ext cx="2103120" cy="228600"/>
          </a:xfrm>
          <a:prstGeom prst="rect">
            <a:avLst/>
          </a:prstGeom>
          <a:noFill/>
          <a:ln/>
        </p:spPr>
        <p:txBody>
          <a:bodyPr wrap="square" lIns="0" tIns="0" rIns="0" bIns="0" rtlCol="0" anchor="ctr"/>
          <a:lstStyle/>
          <a:p>
            <a:pPr indent="0" marL="0">
              <a:buNone/>
            </a:pPr>
            <a:r>
              <a:rPr lang="en-US" sz="1100" b="1" spc="80" kern="0" dirty="0">
                <a:solidFill>
                  <a:srgbClr val="F47C20"/>
                </a:solidFill>
              </a:rPr>
              <a:t>WHO USUALLY WORKS HERE</a:t>
            </a:r>
            <a:endParaRPr lang="en-US" sz="1100" dirty="0"/>
          </a:p>
        </p:txBody>
      </p:sp>
      <p:sp>
        <p:nvSpPr>
          <p:cNvPr id="13" name="Text 10"/>
          <p:cNvSpPr/>
          <p:nvPr/>
        </p:nvSpPr>
        <p:spPr>
          <a:xfrm>
            <a:off x="3063240" y="2542032"/>
            <a:ext cx="7818120" cy="292608"/>
          </a:xfrm>
          <a:prstGeom prst="rect">
            <a:avLst/>
          </a:prstGeom>
          <a:noFill/>
          <a:ln/>
        </p:spPr>
        <p:txBody>
          <a:bodyPr wrap="square" lIns="0" tIns="0" rIns="0" bIns="0" rtlCol="0" anchor="ctr">
            <a:normAutofit/>
          </a:bodyPr>
          <a:lstStyle/>
          <a:p>
            <a:pPr indent="0" marL="0">
              <a:buNone/>
            </a:pPr>
            <a:r>
              <a:rPr lang="en-US" sz="1600" b="1" dirty="0">
                <a:solidFill>
                  <a:srgbClr val="16303D"/>
                </a:solidFill>
              </a:rPr>
              <a:t>Admins · Warehouse Managers</a:t>
            </a:r>
            <a:endParaRPr lang="en-US" sz="1600" dirty="0"/>
          </a:p>
        </p:txBody>
      </p:sp>
      <p:sp>
        <p:nvSpPr>
          <p:cNvPr id="14" name="Text 11"/>
          <p:cNvSpPr/>
          <p:nvPr/>
        </p:nvSpPr>
        <p:spPr>
          <a:xfrm>
            <a:off x="786384" y="3127248"/>
            <a:ext cx="2286000" cy="228600"/>
          </a:xfrm>
          <a:prstGeom prst="rect">
            <a:avLst/>
          </a:prstGeom>
          <a:noFill/>
          <a:ln/>
        </p:spPr>
        <p:txBody>
          <a:bodyPr wrap="square" lIns="0" tIns="0" rIns="0" bIns="0" rtlCol="0" anchor="ctr"/>
          <a:lstStyle/>
          <a:p>
            <a:pPr indent="0" marL="0">
              <a:buNone/>
            </a:pPr>
            <a:r>
              <a:rPr lang="en-US" sz="1100" b="1" spc="80" kern="0" dirty="0">
                <a:solidFill>
                  <a:srgbClr val="087B76"/>
                </a:solidFill>
              </a:rPr>
              <a:t>A NORMAL VISIT LOOKS LIKE</a:t>
            </a:r>
            <a:endParaRPr lang="en-US" sz="1100" dirty="0"/>
          </a:p>
        </p:txBody>
      </p:sp>
      <p:sp>
        <p:nvSpPr>
          <p:cNvPr id="15" name="Shape 12"/>
          <p:cNvSpPr/>
          <p:nvPr/>
        </p:nvSpPr>
        <p:spPr>
          <a:xfrm>
            <a:off x="914400" y="3566160"/>
            <a:ext cx="384048" cy="384048"/>
          </a:xfrm>
          <a:prstGeom prst="ellipse">
            <a:avLst/>
          </a:prstGeom>
          <a:solidFill>
            <a:srgbClr val="0F9D96"/>
          </a:solidFill>
          <a:ln w="12700">
            <a:solidFill>
              <a:srgbClr val="FFFFFF"/>
            </a:solidFill>
            <a:prstDash val="solid"/>
          </a:ln>
        </p:spPr>
      </p:sp>
      <p:sp>
        <p:nvSpPr>
          <p:cNvPr id="16" name="Text 13"/>
          <p:cNvSpPr/>
          <p:nvPr/>
        </p:nvSpPr>
        <p:spPr>
          <a:xfrm>
            <a:off x="914400" y="3657600"/>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7" name="Text 14"/>
          <p:cNvSpPr/>
          <p:nvPr/>
        </p:nvSpPr>
        <p:spPr>
          <a:xfrm>
            <a:off x="1508760" y="3593592"/>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Separate Receiving, Picking, Dispatch, Quarantine, Bulk, Cool/Frozen uses</a:t>
            </a:r>
            <a:endParaRPr lang="en-US" sz="1700" dirty="0"/>
          </a:p>
        </p:txBody>
      </p:sp>
      <p:sp>
        <p:nvSpPr>
          <p:cNvPr id="18" name="Shape 15"/>
          <p:cNvSpPr/>
          <p:nvPr/>
        </p:nvSpPr>
        <p:spPr>
          <a:xfrm>
            <a:off x="914400" y="4224528"/>
            <a:ext cx="384048" cy="384048"/>
          </a:xfrm>
          <a:prstGeom prst="ellipse">
            <a:avLst/>
          </a:prstGeom>
          <a:solidFill>
            <a:srgbClr val="0F9D96"/>
          </a:solidFill>
          <a:ln w="12700">
            <a:solidFill>
              <a:srgbClr val="FFFFFF"/>
            </a:solidFill>
            <a:prstDash val="solid"/>
          </a:ln>
        </p:spPr>
      </p:sp>
      <p:sp>
        <p:nvSpPr>
          <p:cNvPr id="19" name="Text 16"/>
          <p:cNvSpPr/>
          <p:nvPr/>
        </p:nvSpPr>
        <p:spPr>
          <a:xfrm>
            <a:off x="914400" y="4315968"/>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0" name="Text 17"/>
          <p:cNvSpPr/>
          <p:nvPr/>
        </p:nvSpPr>
        <p:spPr>
          <a:xfrm>
            <a:off x="1508760" y="4251960"/>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Set temperature and no-normal-stock flags</a:t>
            </a:r>
            <a:endParaRPr lang="en-US" sz="1700" dirty="0"/>
          </a:p>
        </p:txBody>
      </p:sp>
      <p:sp>
        <p:nvSpPr>
          <p:cNvPr id="21" name="Shape 18"/>
          <p:cNvSpPr/>
          <p:nvPr/>
        </p:nvSpPr>
        <p:spPr>
          <a:xfrm>
            <a:off x="914400" y="4882896"/>
            <a:ext cx="384048" cy="384048"/>
          </a:xfrm>
          <a:prstGeom prst="ellipse">
            <a:avLst/>
          </a:prstGeom>
          <a:solidFill>
            <a:srgbClr val="F47C20"/>
          </a:solidFill>
          <a:ln w="12700">
            <a:solidFill>
              <a:srgbClr val="FFFFFF"/>
            </a:solidFill>
            <a:prstDash val="solid"/>
          </a:ln>
        </p:spPr>
      </p:sp>
      <p:sp>
        <p:nvSpPr>
          <p:cNvPr id="22" name="Text 19"/>
          <p:cNvSpPr/>
          <p:nvPr/>
        </p:nvSpPr>
        <p:spPr>
          <a:xfrm>
            <a:off x="914400" y="4974336"/>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3" name="Text 20"/>
          <p:cNvSpPr/>
          <p:nvPr/>
        </p:nvSpPr>
        <p:spPr>
          <a:xfrm>
            <a:off x="1508760" y="4910328"/>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Verify zone purpose against the floor</a:t>
            </a:r>
            <a:endParaRPr lang="en-US" sz="1700" dirty="0"/>
          </a:p>
        </p:txBody>
      </p:sp>
      <p:sp>
        <p:nvSpPr>
          <p:cNvPr id="24" name="Shape 21"/>
          <p:cNvSpPr/>
          <p:nvPr/>
        </p:nvSpPr>
        <p:spPr>
          <a:xfrm>
            <a:off x="713232" y="5623560"/>
            <a:ext cx="5193792" cy="566928"/>
          </a:xfrm>
          <a:prstGeom prst="roundRect">
            <a:avLst>
              <a:gd name="adj" fmla="val 6452"/>
            </a:avLst>
          </a:prstGeom>
          <a:solidFill>
            <a:srgbClr val="EFF7F7"/>
          </a:solidFill>
          <a:ln w="12700">
            <a:solidFill>
              <a:srgbClr val="D7E2E6"/>
            </a:solidFill>
            <a:prstDash val="solid"/>
          </a:ln>
        </p:spPr>
      </p:sp>
      <p:sp>
        <p:nvSpPr>
          <p:cNvPr id="25" name="Text 22"/>
          <p:cNvSpPr/>
          <p:nvPr/>
        </p:nvSpPr>
        <p:spPr>
          <a:xfrm>
            <a:off x="914400"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087B76"/>
                </a:solidFill>
              </a:rPr>
              <a:t>WHAT HAPPENS NEXT  Generate exact bin locations and labels.</a:t>
            </a:r>
            <a:endParaRPr lang="en-US" sz="1150" dirty="0"/>
          </a:p>
        </p:txBody>
      </p:sp>
      <p:sp>
        <p:nvSpPr>
          <p:cNvPr id="26" name="Shape 23"/>
          <p:cNvSpPr/>
          <p:nvPr/>
        </p:nvSpPr>
        <p:spPr>
          <a:xfrm>
            <a:off x="6144768" y="5623560"/>
            <a:ext cx="5193792" cy="566928"/>
          </a:xfrm>
          <a:prstGeom prst="roundRect">
            <a:avLst>
              <a:gd name="adj" fmla="val 6452"/>
            </a:avLst>
          </a:prstGeom>
          <a:solidFill>
            <a:srgbClr val="FFF3DF"/>
          </a:solidFill>
          <a:ln w="12700">
            <a:solidFill>
              <a:srgbClr val="FFC928"/>
            </a:solidFill>
            <a:prstDash val="solid"/>
          </a:ln>
        </p:spPr>
      </p:sp>
      <p:sp>
        <p:nvSpPr>
          <p:cNvPr id="27" name="Text 24"/>
          <p:cNvSpPr/>
          <p:nvPr/>
        </p:nvSpPr>
        <p:spPr>
          <a:xfrm>
            <a:off x="6345936"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C93C3C"/>
                </a:solidFill>
              </a:rPr>
              <a:t>WATCH-OUT  Do not mix staging, dispatch, and quarantine rules for convenience.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66928" y="384048"/>
            <a:ext cx="9966960" cy="438912"/>
          </a:xfrm>
          <a:prstGeom prst="rect">
            <a:avLst/>
          </a:prstGeom>
          <a:noFill/>
          <a:ln/>
        </p:spPr>
        <p:txBody>
          <a:bodyPr wrap="square" lIns="0" tIns="0" rIns="0" bIns="0" rtlCol="0" anchor="ctr">
            <a:normAutofit/>
          </a:bodyPr>
          <a:lstStyle/>
          <a:p>
            <a:pPr indent="0" marL="0">
              <a:buNone/>
            </a:pPr>
            <a:r>
              <a:rPr lang="en-US" sz="2500" b="1" dirty="0">
                <a:solidFill>
                  <a:srgbClr val="123247"/>
                </a:solidFill>
                <a:latin typeface="Aptos Display" pitchFamily="34" charset="0"/>
                <a:ea typeface="Aptos Display" pitchFamily="34" charset="-122"/>
                <a:cs typeface="Aptos Display" pitchFamily="34" charset="-120"/>
              </a:rPr>
              <a:t>Bin Locations</a:t>
            </a:r>
            <a:endParaRPr lang="en-US" sz="2500" dirty="0"/>
          </a:p>
        </p:txBody>
      </p:sp>
      <p:sp>
        <p:nvSpPr>
          <p:cNvPr id="5" name="Text 2"/>
          <p:cNvSpPr/>
          <p:nvPr/>
        </p:nvSpPr>
        <p:spPr>
          <a:xfrm>
            <a:off x="10698480" y="438912"/>
            <a:ext cx="777240" cy="228600"/>
          </a:xfrm>
          <a:prstGeom prst="rect">
            <a:avLst/>
          </a:prstGeom>
          <a:noFill/>
          <a:ln/>
        </p:spPr>
        <p:txBody>
          <a:bodyPr wrap="square" lIns="0" tIns="0" rIns="0" bIns="0" rtlCol="0" anchor="ctr"/>
          <a:lstStyle/>
          <a:p>
            <a:pPr algn="r" indent="0" marL="0">
              <a:buNone/>
            </a:pPr>
            <a:r>
              <a:rPr lang="en-US" sz="900" b="1" dirty="0">
                <a:solidFill>
                  <a:srgbClr val="087B76"/>
                </a:solidFill>
              </a:rPr>
              <a:t>1 min</a:t>
            </a:r>
            <a:endParaRPr lang="en-US" sz="900" dirty="0"/>
          </a:p>
        </p:txBody>
      </p:sp>
      <p:sp>
        <p:nvSpPr>
          <p:cNvPr id="6" name="Text 3"/>
          <p:cNvSpPr/>
          <p:nvPr/>
        </p:nvSpPr>
        <p:spPr>
          <a:xfrm>
            <a:off x="585216" y="960120"/>
            <a:ext cx="4023360" cy="219456"/>
          </a:xfrm>
          <a:prstGeom prst="rect">
            <a:avLst/>
          </a:prstGeom>
          <a:noFill/>
          <a:ln/>
        </p:spPr>
        <p:txBody>
          <a:bodyPr wrap="square" lIns="0" tIns="0" rIns="0" bIns="0" rtlCol="0" anchor="ctr"/>
          <a:lstStyle/>
          <a:p>
            <a:pPr indent="0" marL="0">
              <a:buNone/>
            </a:pPr>
            <a:r>
              <a:rPr lang="en-US" sz="1000" b="1" spc="130" kern="0" dirty="0">
                <a:solidFill>
                  <a:srgbClr val="F47C20"/>
                </a:solidFill>
              </a:rPr>
              <a:t>STRUCTURE + MASTER DATA</a:t>
            </a:r>
            <a:endParaRPr lang="en-US" sz="1000" dirty="0"/>
          </a:p>
        </p:txBody>
      </p:sp>
      <p:sp>
        <p:nvSpPr>
          <p:cNvPr id="7" name="Text 4"/>
          <p:cNvSpPr/>
          <p:nvPr/>
        </p:nvSpPr>
        <p:spPr>
          <a:xfrm>
            <a:off x="566928" y="6473952"/>
            <a:ext cx="1097280" cy="182880"/>
          </a:xfrm>
          <a:prstGeom prst="rect">
            <a:avLst/>
          </a:prstGeom>
          <a:noFill/>
          <a:ln/>
        </p:spPr>
        <p:txBody>
          <a:bodyPr wrap="square" lIns="0" tIns="0" rIns="0" bIns="0" rtlCol="0" anchor="ctr"/>
          <a:lstStyle/>
          <a:p>
            <a:pPr indent="0" marL="0">
              <a:buNone/>
            </a:pPr>
            <a:r>
              <a:rPr lang="en-US" sz="800" dirty="0">
                <a:solidFill>
                  <a:srgbClr val="667985"/>
                </a:solidFill>
              </a:rPr>
              <a:t>Product 1.27</a:t>
            </a:r>
            <a:endParaRPr lang="en-US" sz="800" dirty="0"/>
          </a:p>
        </p:txBody>
      </p:sp>
      <p:sp>
        <p:nvSpPr>
          <p:cNvPr id="8" name="Text 5"/>
          <p:cNvSpPr/>
          <p:nvPr/>
        </p:nvSpPr>
        <p:spPr>
          <a:xfrm>
            <a:off x="10789920" y="6473952"/>
            <a:ext cx="731520" cy="182880"/>
          </a:xfrm>
          <a:prstGeom prst="rect">
            <a:avLst/>
          </a:prstGeom>
          <a:noFill/>
          <a:ln/>
        </p:spPr>
        <p:txBody>
          <a:bodyPr wrap="square" lIns="0" tIns="0" rIns="0" bIns="0" rtlCol="0" anchor="ctr"/>
          <a:lstStyle/>
          <a:p>
            <a:pPr algn="r" indent="0" marL="0">
              <a:buNone/>
            </a:pPr>
            <a:r>
              <a:rPr lang="en-US" sz="800" dirty="0">
                <a:solidFill>
                  <a:srgbClr val="667985"/>
                </a:solidFill>
              </a:rPr>
              <a:t>8 / 28</a:t>
            </a:r>
            <a:endParaRPr lang="en-US" sz="800" dirty="0"/>
          </a:p>
        </p:txBody>
      </p:sp>
      <p:sp>
        <p:nvSpPr>
          <p:cNvPr id="9" name="Shape 6"/>
          <p:cNvSpPr/>
          <p:nvPr/>
        </p:nvSpPr>
        <p:spPr>
          <a:xfrm>
            <a:off x="658368" y="1353312"/>
            <a:ext cx="10835640" cy="914400"/>
          </a:xfrm>
          <a:prstGeom prst="roundRect">
            <a:avLst>
              <a:gd name="adj" fmla="val 5000"/>
            </a:avLst>
          </a:prstGeom>
          <a:solidFill>
            <a:srgbClr val="EFF7F7"/>
          </a:solidFill>
          <a:ln w="15240">
            <a:solidFill>
              <a:srgbClr val="0F9D96"/>
            </a:solidFill>
            <a:prstDash val="solid"/>
          </a:ln>
        </p:spPr>
      </p:sp>
      <p:sp>
        <p:nvSpPr>
          <p:cNvPr id="10" name="Text 7"/>
          <p:cNvSpPr/>
          <p:nvPr/>
        </p:nvSpPr>
        <p:spPr>
          <a:xfrm>
            <a:off x="914400" y="1609344"/>
            <a:ext cx="1280160" cy="228600"/>
          </a:xfrm>
          <a:prstGeom prst="rect">
            <a:avLst/>
          </a:prstGeom>
          <a:noFill/>
          <a:ln/>
        </p:spPr>
        <p:txBody>
          <a:bodyPr wrap="square" lIns="0" tIns="0" rIns="0" bIns="0" rtlCol="0" anchor="ctr"/>
          <a:lstStyle/>
          <a:p>
            <a:pPr indent="0" marL="0">
              <a:buNone/>
            </a:pPr>
            <a:r>
              <a:rPr lang="en-US" sz="1100" b="1" spc="100" kern="0" dirty="0">
                <a:solidFill>
                  <a:srgbClr val="087B76"/>
                </a:solidFill>
              </a:rPr>
              <a:t>WHAT LIVES HERE</a:t>
            </a:r>
            <a:endParaRPr lang="en-US" sz="1100" dirty="0"/>
          </a:p>
        </p:txBody>
      </p:sp>
      <p:sp>
        <p:nvSpPr>
          <p:cNvPr id="11" name="Text 8"/>
          <p:cNvSpPr/>
          <p:nvPr/>
        </p:nvSpPr>
        <p:spPr>
          <a:xfrm>
            <a:off x="2423160" y="1536192"/>
            <a:ext cx="8641080" cy="384048"/>
          </a:xfrm>
          <a:prstGeom prst="rect">
            <a:avLst/>
          </a:prstGeom>
          <a:noFill/>
          <a:ln/>
        </p:spPr>
        <p:txBody>
          <a:bodyPr wrap="square" lIns="0" tIns="0" rIns="0" bIns="0" rtlCol="0" anchor="ctr">
            <a:normAutofit/>
          </a:bodyPr>
          <a:lstStyle/>
          <a:p>
            <a:pPr indent="0" marL="0">
              <a:buNone/>
            </a:pPr>
            <a:r>
              <a:rPr lang="en-US" sz="2000" b="1" dirty="0">
                <a:solidFill>
                  <a:srgbClr val="123247"/>
                </a:solidFill>
              </a:rPr>
              <a:t>Define exact cells used for storage, picks, moves, counts, and capacity.</a:t>
            </a:r>
            <a:endParaRPr lang="en-US" sz="2000" dirty="0"/>
          </a:p>
        </p:txBody>
      </p:sp>
      <p:sp>
        <p:nvSpPr>
          <p:cNvPr id="12" name="Text 9"/>
          <p:cNvSpPr/>
          <p:nvPr/>
        </p:nvSpPr>
        <p:spPr>
          <a:xfrm>
            <a:off x="786384" y="2578608"/>
            <a:ext cx="2103120" cy="228600"/>
          </a:xfrm>
          <a:prstGeom prst="rect">
            <a:avLst/>
          </a:prstGeom>
          <a:noFill/>
          <a:ln/>
        </p:spPr>
        <p:txBody>
          <a:bodyPr wrap="square" lIns="0" tIns="0" rIns="0" bIns="0" rtlCol="0" anchor="ctr"/>
          <a:lstStyle/>
          <a:p>
            <a:pPr indent="0" marL="0">
              <a:buNone/>
            </a:pPr>
            <a:r>
              <a:rPr lang="en-US" sz="1100" b="1" spc="80" kern="0" dirty="0">
                <a:solidFill>
                  <a:srgbClr val="F47C20"/>
                </a:solidFill>
              </a:rPr>
              <a:t>WHO USUALLY WORKS HERE</a:t>
            </a:r>
            <a:endParaRPr lang="en-US" sz="1100" dirty="0"/>
          </a:p>
        </p:txBody>
      </p:sp>
      <p:sp>
        <p:nvSpPr>
          <p:cNvPr id="13" name="Text 10"/>
          <p:cNvSpPr/>
          <p:nvPr/>
        </p:nvSpPr>
        <p:spPr>
          <a:xfrm>
            <a:off x="3063240" y="2542032"/>
            <a:ext cx="7818120" cy="292608"/>
          </a:xfrm>
          <a:prstGeom prst="rect">
            <a:avLst/>
          </a:prstGeom>
          <a:noFill/>
          <a:ln/>
        </p:spPr>
        <p:txBody>
          <a:bodyPr wrap="square" lIns="0" tIns="0" rIns="0" bIns="0" rtlCol="0" anchor="ctr">
            <a:normAutofit/>
          </a:bodyPr>
          <a:lstStyle/>
          <a:p>
            <a:pPr indent="0" marL="0">
              <a:buNone/>
            </a:pPr>
            <a:r>
              <a:rPr lang="en-US" sz="1600" b="1" dirty="0">
                <a:solidFill>
                  <a:srgbClr val="16303D"/>
                </a:solidFill>
              </a:rPr>
              <a:t>Admins · Warehouse Managers</a:t>
            </a:r>
            <a:endParaRPr lang="en-US" sz="1600" dirty="0"/>
          </a:p>
        </p:txBody>
      </p:sp>
      <p:sp>
        <p:nvSpPr>
          <p:cNvPr id="14" name="Text 11"/>
          <p:cNvSpPr/>
          <p:nvPr/>
        </p:nvSpPr>
        <p:spPr>
          <a:xfrm>
            <a:off x="786384" y="3127248"/>
            <a:ext cx="2286000" cy="228600"/>
          </a:xfrm>
          <a:prstGeom prst="rect">
            <a:avLst/>
          </a:prstGeom>
          <a:noFill/>
          <a:ln/>
        </p:spPr>
        <p:txBody>
          <a:bodyPr wrap="square" lIns="0" tIns="0" rIns="0" bIns="0" rtlCol="0" anchor="ctr"/>
          <a:lstStyle/>
          <a:p>
            <a:pPr indent="0" marL="0">
              <a:buNone/>
            </a:pPr>
            <a:r>
              <a:rPr lang="en-US" sz="1100" b="1" spc="80" kern="0" dirty="0">
                <a:solidFill>
                  <a:srgbClr val="087B76"/>
                </a:solidFill>
              </a:rPr>
              <a:t>A NORMAL VISIT LOOKS LIKE</a:t>
            </a:r>
            <a:endParaRPr lang="en-US" sz="1100" dirty="0"/>
          </a:p>
        </p:txBody>
      </p:sp>
      <p:sp>
        <p:nvSpPr>
          <p:cNvPr id="15" name="Shape 12"/>
          <p:cNvSpPr/>
          <p:nvPr/>
        </p:nvSpPr>
        <p:spPr>
          <a:xfrm>
            <a:off x="914400" y="3566160"/>
            <a:ext cx="384048" cy="384048"/>
          </a:xfrm>
          <a:prstGeom prst="ellipse">
            <a:avLst/>
          </a:prstGeom>
          <a:solidFill>
            <a:srgbClr val="0F9D96"/>
          </a:solidFill>
          <a:ln w="12700">
            <a:solidFill>
              <a:srgbClr val="FFFFFF"/>
            </a:solidFill>
            <a:prstDash val="solid"/>
          </a:ln>
        </p:spPr>
      </p:sp>
      <p:sp>
        <p:nvSpPr>
          <p:cNvPr id="16" name="Text 13"/>
          <p:cNvSpPr/>
          <p:nvPr/>
        </p:nvSpPr>
        <p:spPr>
          <a:xfrm>
            <a:off x="914400" y="3657600"/>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7" name="Text 14"/>
          <p:cNvSpPr/>
          <p:nvPr/>
        </p:nvSpPr>
        <p:spPr>
          <a:xfrm>
            <a:off x="1508760" y="3593592"/>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Maintain aisle, bay, level, position/depth, sequence, and capacity</a:t>
            </a:r>
            <a:endParaRPr lang="en-US" sz="1700" dirty="0"/>
          </a:p>
        </p:txBody>
      </p:sp>
      <p:sp>
        <p:nvSpPr>
          <p:cNvPr id="18" name="Shape 15"/>
          <p:cNvSpPr/>
          <p:nvPr/>
        </p:nvSpPr>
        <p:spPr>
          <a:xfrm>
            <a:off x="914400" y="4224528"/>
            <a:ext cx="384048" cy="384048"/>
          </a:xfrm>
          <a:prstGeom prst="ellipse">
            <a:avLst/>
          </a:prstGeom>
          <a:solidFill>
            <a:srgbClr val="0F9D96"/>
          </a:solidFill>
          <a:ln w="12700">
            <a:solidFill>
              <a:srgbClr val="FFFFFF"/>
            </a:solidFill>
            <a:prstDash val="solid"/>
          </a:ln>
        </p:spPr>
      </p:sp>
      <p:sp>
        <p:nvSpPr>
          <p:cNvPr id="19" name="Text 16"/>
          <p:cNvSpPr/>
          <p:nvPr/>
        </p:nvSpPr>
        <p:spPr>
          <a:xfrm>
            <a:off x="914400" y="4315968"/>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0" name="Text 17"/>
          <p:cNvSpPr/>
          <p:nvPr/>
        </p:nvSpPr>
        <p:spPr>
          <a:xfrm>
            <a:off x="1508760" y="4251960"/>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Print exact-cell and bay labels</a:t>
            </a:r>
            <a:endParaRPr lang="en-US" sz="1700" dirty="0"/>
          </a:p>
        </p:txBody>
      </p:sp>
      <p:sp>
        <p:nvSpPr>
          <p:cNvPr id="21" name="Shape 18"/>
          <p:cNvSpPr/>
          <p:nvPr/>
        </p:nvSpPr>
        <p:spPr>
          <a:xfrm>
            <a:off x="914400" y="4882896"/>
            <a:ext cx="384048" cy="384048"/>
          </a:xfrm>
          <a:prstGeom prst="ellipse">
            <a:avLst/>
          </a:prstGeom>
          <a:solidFill>
            <a:srgbClr val="F47C20"/>
          </a:solidFill>
          <a:ln w="12700">
            <a:solidFill>
              <a:srgbClr val="FFFFFF"/>
            </a:solidFill>
            <a:prstDash val="solid"/>
          </a:ln>
        </p:spPr>
      </p:sp>
      <p:sp>
        <p:nvSpPr>
          <p:cNvPr id="22" name="Text 19"/>
          <p:cNvSpPr/>
          <p:nvPr/>
        </p:nvSpPr>
        <p:spPr>
          <a:xfrm>
            <a:off x="914400" y="4974336"/>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3" name="Text 20"/>
          <p:cNvSpPr/>
          <p:nvPr/>
        </p:nvSpPr>
        <p:spPr>
          <a:xfrm>
            <a:off x="1508760" y="4910328"/>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Keep active status and physical rack aligned</a:t>
            </a:r>
            <a:endParaRPr lang="en-US" sz="1700" dirty="0"/>
          </a:p>
        </p:txBody>
      </p:sp>
      <p:sp>
        <p:nvSpPr>
          <p:cNvPr id="24" name="Shape 21"/>
          <p:cNvSpPr/>
          <p:nvPr/>
        </p:nvSpPr>
        <p:spPr>
          <a:xfrm>
            <a:off x="713232" y="5623560"/>
            <a:ext cx="5193792" cy="566928"/>
          </a:xfrm>
          <a:prstGeom prst="roundRect">
            <a:avLst>
              <a:gd name="adj" fmla="val 6452"/>
            </a:avLst>
          </a:prstGeom>
          <a:solidFill>
            <a:srgbClr val="EFF7F7"/>
          </a:solidFill>
          <a:ln w="12700">
            <a:solidFill>
              <a:srgbClr val="D7E2E6"/>
            </a:solidFill>
            <a:prstDash val="solid"/>
          </a:ln>
        </p:spPr>
      </p:sp>
      <p:sp>
        <p:nvSpPr>
          <p:cNvPr id="25" name="Text 22"/>
          <p:cNvSpPr/>
          <p:nvPr/>
        </p:nvSpPr>
        <p:spPr>
          <a:xfrm>
            <a:off x="914400"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087B76"/>
                </a:solidFill>
              </a:rPr>
              <a:t>WHAT HAPPENS NEXT  Operators consume the labels in execution modules.</a:t>
            </a:r>
            <a:endParaRPr lang="en-US" sz="1150" dirty="0"/>
          </a:p>
        </p:txBody>
      </p:sp>
      <p:sp>
        <p:nvSpPr>
          <p:cNvPr id="26" name="Shape 23"/>
          <p:cNvSpPr/>
          <p:nvPr/>
        </p:nvSpPr>
        <p:spPr>
          <a:xfrm>
            <a:off x="6144768" y="5623560"/>
            <a:ext cx="5193792" cy="566928"/>
          </a:xfrm>
          <a:prstGeom prst="roundRect">
            <a:avLst>
              <a:gd name="adj" fmla="val 6452"/>
            </a:avLst>
          </a:prstGeom>
          <a:solidFill>
            <a:srgbClr val="FFF3DF"/>
          </a:solidFill>
          <a:ln w="12700">
            <a:solidFill>
              <a:srgbClr val="FFC928"/>
            </a:solidFill>
            <a:prstDash val="solid"/>
          </a:ln>
        </p:spPr>
      </p:sp>
      <p:sp>
        <p:nvSpPr>
          <p:cNvPr id="27" name="Text 24"/>
          <p:cNvSpPr/>
          <p:nvPr/>
        </p:nvSpPr>
        <p:spPr>
          <a:xfrm>
            <a:off x="6345936"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C93C3C"/>
                </a:solidFill>
              </a:rPr>
              <a:t>WATCH-OUT  Never change a code without replacing the floor label.</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66928" y="384048"/>
            <a:ext cx="9966960" cy="438912"/>
          </a:xfrm>
          <a:prstGeom prst="rect">
            <a:avLst/>
          </a:prstGeom>
          <a:noFill/>
          <a:ln/>
        </p:spPr>
        <p:txBody>
          <a:bodyPr wrap="square" lIns="0" tIns="0" rIns="0" bIns="0" rtlCol="0" anchor="ctr">
            <a:normAutofit/>
          </a:bodyPr>
          <a:lstStyle/>
          <a:p>
            <a:pPr indent="0" marL="0">
              <a:buNone/>
            </a:pPr>
            <a:r>
              <a:rPr lang="en-US" sz="2500" b="1" dirty="0">
                <a:solidFill>
                  <a:srgbClr val="123247"/>
                </a:solidFill>
                <a:latin typeface="Aptos Display" pitchFamily="34" charset="0"/>
                <a:ea typeface="Aptos Display" pitchFamily="34" charset="-122"/>
                <a:cs typeface="Aptos Display" pitchFamily="34" charset="-120"/>
              </a:rPr>
              <a:t>Products</a:t>
            </a:r>
            <a:endParaRPr lang="en-US" sz="2500" dirty="0"/>
          </a:p>
        </p:txBody>
      </p:sp>
      <p:sp>
        <p:nvSpPr>
          <p:cNvPr id="5" name="Text 2"/>
          <p:cNvSpPr/>
          <p:nvPr/>
        </p:nvSpPr>
        <p:spPr>
          <a:xfrm>
            <a:off x="10698480" y="438912"/>
            <a:ext cx="777240" cy="228600"/>
          </a:xfrm>
          <a:prstGeom prst="rect">
            <a:avLst/>
          </a:prstGeom>
          <a:noFill/>
          <a:ln/>
        </p:spPr>
        <p:txBody>
          <a:bodyPr wrap="square" lIns="0" tIns="0" rIns="0" bIns="0" rtlCol="0" anchor="ctr"/>
          <a:lstStyle/>
          <a:p>
            <a:pPr algn="r" indent="0" marL="0">
              <a:buNone/>
            </a:pPr>
            <a:r>
              <a:rPr lang="en-US" sz="900" b="1" dirty="0">
                <a:solidFill>
                  <a:srgbClr val="087B76"/>
                </a:solidFill>
              </a:rPr>
              <a:t>1 min</a:t>
            </a:r>
            <a:endParaRPr lang="en-US" sz="900" dirty="0"/>
          </a:p>
        </p:txBody>
      </p:sp>
      <p:sp>
        <p:nvSpPr>
          <p:cNvPr id="6" name="Text 3"/>
          <p:cNvSpPr/>
          <p:nvPr/>
        </p:nvSpPr>
        <p:spPr>
          <a:xfrm>
            <a:off x="585216" y="960120"/>
            <a:ext cx="4023360" cy="219456"/>
          </a:xfrm>
          <a:prstGeom prst="rect">
            <a:avLst/>
          </a:prstGeom>
          <a:noFill/>
          <a:ln/>
        </p:spPr>
        <p:txBody>
          <a:bodyPr wrap="square" lIns="0" tIns="0" rIns="0" bIns="0" rtlCol="0" anchor="ctr"/>
          <a:lstStyle/>
          <a:p>
            <a:pPr indent="0" marL="0">
              <a:buNone/>
            </a:pPr>
            <a:r>
              <a:rPr lang="en-US" sz="1000" b="1" spc="130" kern="0" dirty="0">
                <a:solidFill>
                  <a:srgbClr val="F47C20"/>
                </a:solidFill>
              </a:rPr>
              <a:t>STRUCTURE + MASTER DATA</a:t>
            </a:r>
            <a:endParaRPr lang="en-US" sz="1000" dirty="0"/>
          </a:p>
        </p:txBody>
      </p:sp>
      <p:sp>
        <p:nvSpPr>
          <p:cNvPr id="7" name="Text 4"/>
          <p:cNvSpPr/>
          <p:nvPr/>
        </p:nvSpPr>
        <p:spPr>
          <a:xfrm>
            <a:off x="566928" y="6473952"/>
            <a:ext cx="1097280" cy="182880"/>
          </a:xfrm>
          <a:prstGeom prst="rect">
            <a:avLst/>
          </a:prstGeom>
          <a:noFill/>
          <a:ln/>
        </p:spPr>
        <p:txBody>
          <a:bodyPr wrap="square" lIns="0" tIns="0" rIns="0" bIns="0" rtlCol="0" anchor="ctr"/>
          <a:lstStyle/>
          <a:p>
            <a:pPr indent="0" marL="0">
              <a:buNone/>
            </a:pPr>
            <a:r>
              <a:rPr lang="en-US" sz="800" dirty="0">
                <a:solidFill>
                  <a:srgbClr val="667985"/>
                </a:solidFill>
              </a:rPr>
              <a:t>Product 1.27</a:t>
            </a:r>
            <a:endParaRPr lang="en-US" sz="800" dirty="0"/>
          </a:p>
        </p:txBody>
      </p:sp>
      <p:sp>
        <p:nvSpPr>
          <p:cNvPr id="8" name="Text 5"/>
          <p:cNvSpPr/>
          <p:nvPr/>
        </p:nvSpPr>
        <p:spPr>
          <a:xfrm>
            <a:off x="10789920" y="6473952"/>
            <a:ext cx="731520" cy="182880"/>
          </a:xfrm>
          <a:prstGeom prst="rect">
            <a:avLst/>
          </a:prstGeom>
          <a:noFill/>
          <a:ln/>
        </p:spPr>
        <p:txBody>
          <a:bodyPr wrap="square" lIns="0" tIns="0" rIns="0" bIns="0" rtlCol="0" anchor="ctr"/>
          <a:lstStyle/>
          <a:p>
            <a:pPr algn="r" indent="0" marL="0">
              <a:buNone/>
            </a:pPr>
            <a:r>
              <a:rPr lang="en-US" sz="800" dirty="0">
                <a:solidFill>
                  <a:srgbClr val="667985"/>
                </a:solidFill>
              </a:rPr>
              <a:t>9 / 28</a:t>
            </a:r>
            <a:endParaRPr lang="en-US" sz="800" dirty="0"/>
          </a:p>
        </p:txBody>
      </p:sp>
      <p:sp>
        <p:nvSpPr>
          <p:cNvPr id="9" name="Shape 6"/>
          <p:cNvSpPr/>
          <p:nvPr/>
        </p:nvSpPr>
        <p:spPr>
          <a:xfrm>
            <a:off x="658368" y="1353312"/>
            <a:ext cx="10835640" cy="914400"/>
          </a:xfrm>
          <a:prstGeom prst="roundRect">
            <a:avLst>
              <a:gd name="adj" fmla="val 5000"/>
            </a:avLst>
          </a:prstGeom>
          <a:solidFill>
            <a:srgbClr val="EFF7F7"/>
          </a:solidFill>
          <a:ln w="15240">
            <a:solidFill>
              <a:srgbClr val="0F9D96"/>
            </a:solidFill>
            <a:prstDash val="solid"/>
          </a:ln>
        </p:spPr>
      </p:sp>
      <p:sp>
        <p:nvSpPr>
          <p:cNvPr id="10" name="Text 7"/>
          <p:cNvSpPr/>
          <p:nvPr/>
        </p:nvSpPr>
        <p:spPr>
          <a:xfrm>
            <a:off x="914400" y="1609344"/>
            <a:ext cx="1280160" cy="228600"/>
          </a:xfrm>
          <a:prstGeom prst="rect">
            <a:avLst/>
          </a:prstGeom>
          <a:noFill/>
          <a:ln/>
        </p:spPr>
        <p:txBody>
          <a:bodyPr wrap="square" lIns="0" tIns="0" rIns="0" bIns="0" rtlCol="0" anchor="ctr"/>
          <a:lstStyle/>
          <a:p>
            <a:pPr indent="0" marL="0">
              <a:buNone/>
            </a:pPr>
            <a:r>
              <a:rPr lang="en-US" sz="1100" b="1" spc="100" kern="0" dirty="0">
                <a:solidFill>
                  <a:srgbClr val="087B76"/>
                </a:solidFill>
              </a:rPr>
              <a:t>WHAT LIVES HERE</a:t>
            </a:r>
            <a:endParaRPr lang="en-US" sz="1100" dirty="0"/>
          </a:p>
        </p:txBody>
      </p:sp>
      <p:sp>
        <p:nvSpPr>
          <p:cNvPr id="11" name="Text 8"/>
          <p:cNvSpPr/>
          <p:nvPr/>
        </p:nvSpPr>
        <p:spPr>
          <a:xfrm>
            <a:off x="2423160" y="1536192"/>
            <a:ext cx="8641080" cy="384048"/>
          </a:xfrm>
          <a:prstGeom prst="rect">
            <a:avLst/>
          </a:prstGeom>
          <a:noFill/>
          <a:ln/>
        </p:spPr>
        <p:txBody>
          <a:bodyPr wrap="square" lIns="0" tIns="0" rIns="0" bIns="0" rtlCol="0" anchor="ctr">
            <a:normAutofit/>
          </a:bodyPr>
          <a:lstStyle/>
          <a:p>
            <a:pPr indent="0" marL="0">
              <a:buNone/>
            </a:pPr>
            <a:r>
              <a:rPr lang="en-US" sz="2000" b="1" dirty="0">
                <a:solidFill>
                  <a:srgbClr val="123247"/>
                </a:solidFill>
              </a:rPr>
              <a:t>Define SKU identity, owner, rotation, tracking, temperature, and handling.</a:t>
            </a:r>
            <a:endParaRPr lang="en-US" sz="2000" dirty="0"/>
          </a:p>
        </p:txBody>
      </p:sp>
      <p:sp>
        <p:nvSpPr>
          <p:cNvPr id="12" name="Text 9"/>
          <p:cNvSpPr/>
          <p:nvPr/>
        </p:nvSpPr>
        <p:spPr>
          <a:xfrm>
            <a:off x="786384" y="2578608"/>
            <a:ext cx="2103120" cy="228600"/>
          </a:xfrm>
          <a:prstGeom prst="rect">
            <a:avLst/>
          </a:prstGeom>
          <a:noFill/>
          <a:ln/>
        </p:spPr>
        <p:txBody>
          <a:bodyPr wrap="square" lIns="0" tIns="0" rIns="0" bIns="0" rtlCol="0" anchor="ctr"/>
          <a:lstStyle/>
          <a:p>
            <a:pPr indent="0" marL="0">
              <a:buNone/>
            </a:pPr>
            <a:r>
              <a:rPr lang="en-US" sz="1100" b="1" spc="80" kern="0" dirty="0">
                <a:solidFill>
                  <a:srgbClr val="F47C20"/>
                </a:solidFill>
              </a:rPr>
              <a:t>WHO USUALLY WORKS HERE</a:t>
            </a:r>
            <a:endParaRPr lang="en-US" sz="1100" dirty="0"/>
          </a:p>
        </p:txBody>
      </p:sp>
      <p:sp>
        <p:nvSpPr>
          <p:cNvPr id="13" name="Text 10"/>
          <p:cNvSpPr/>
          <p:nvPr/>
        </p:nvSpPr>
        <p:spPr>
          <a:xfrm>
            <a:off x="3063240" y="2542032"/>
            <a:ext cx="7818120" cy="292608"/>
          </a:xfrm>
          <a:prstGeom prst="rect">
            <a:avLst/>
          </a:prstGeom>
          <a:noFill/>
          <a:ln/>
        </p:spPr>
        <p:txBody>
          <a:bodyPr wrap="square" lIns="0" tIns="0" rIns="0" bIns="0" rtlCol="0" anchor="ctr">
            <a:normAutofit/>
          </a:bodyPr>
          <a:lstStyle/>
          <a:p>
            <a:pPr indent="0" marL="0">
              <a:buNone/>
            </a:pPr>
            <a:r>
              <a:rPr lang="en-US" sz="1600" b="1" dirty="0">
                <a:solidFill>
                  <a:srgbClr val="16303D"/>
                </a:solidFill>
              </a:rPr>
              <a:t>Admins · Managers · Inventory Clerks</a:t>
            </a:r>
            <a:endParaRPr lang="en-US" sz="1600" dirty="0"/>
          </a:p>
        </p:txBody>
      </p:sp>
      <p:sp>
        <p:nvSpPr>
          <p:cNvPr id="14" name="Text 11"/>
          <p:cNvSpPr/>
          <p:nvPr/>
        </p:nvSpPr>
        <p:spPr>
          <a:xfrm>
            <a:off x="786384" y="3127248"/>
            <a:ext cx="2286000" cy="228600"/>
          </a:xfrm>
          <a:prstGeom prst="rect">
            <a:avLst/>
          </a:prstGeom>
          <a:noFill/>
          <a:ln/>
        </p:spPr>
        <p:txBody>
          <a:bodyPr wrap="square" lIns="0" tIns="0" rIns="0" bIns="0" rtlCol="0" anchor="ctr"/>
          <a:lstStyle/>
          <a:p>
            <a:pPr indent="0" marL="0">
              <a:buNone/>
            </a:pPr>
            <a:r>
              <a:rPr lang="en-US" sz="1100" b="1" spc="80" kern="0" dirty="0">
                <a:solidFill>
                  <a:srgbClr val="087B76"/>
                </a:solidFill>
              </a:rPr>
              <a:t>A NORMAL VISIT LOOKS LIKE</a:t>
            </a:r>
            <a:endParaRPr lang="en-US" sz="1100" dirty="0"/>
          </a:p>
        </p:txBody>
      </p:sp>
      <p:sp>
        <p:nvSpPr>
          <p:cNvPr id="15" name="Shape 12"/>
          <p:cNvSpPr/>
          <p:nvPr/>
        </p:nvSpPr>
        <p:spPr>
          <a:xfrm>
            <a:off x="914400" y="3566160"/>
            <a:ext cx="384048" cy="384048"/>
          </a:xfrm>
          <a:prstGeom prst="ellipse">
            <a:avLst/>
          </a:prstGeom>
          <a:solidFill>
            <a:srgbClr val="0F9D96"/>
          </a:solidFill>
          <a:ln w="12700">
            <a:solidFill>
              <a:srgbClr val="FFFFFF"/>
            </a:solidFill>
            <a:prstDash val="solid"/>
          </a:ln>
        </p:spPr>
      </p:sp>
      <p:sp>
        <p:nvSpPr>
          <p:cNvPr id="16" name="Text 13"/>
          <p:cNvSpPr/>
          <p:nvPr/>
        </p:nvSpPr>
        <p:spPr>
          <a:xfrm>
            <a:off x="914400" y="3657600"/>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7" name="Text 14"/>
          <p:cNvSpPr/>
          <p:nvPr/>
        </p:nvSpPr>
        <p:spPr>
          <a:xfrm>
            <a:off x="1508760" y="3593592"/>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Create/import verified SKU, name, owner, and barcode</a:t>
            </a:r>
            <a:endParaRPr lang="en-US" sz="1700" dirty="0"/>
          </a:p>
        </p:txBody>
      </p:sp>
      <p:sp>
        <p:nvSpPr>
          <p:cNvPr id="18" name="Shape 15"/>
          <p:cNvSpPr/>
          <p:nvPr/>
        </p:nvSpPr>
        <p:spPr>
          <a:xfrm>
            <a:off x="914400" y="4224528"/>
            <a:ext cx="384048" cy="384048"/>
          </a:xfrm>
          <a:prstGeom prst="ellipse">
            <a:avLst/>
          </a:prstGeom>
          <a:solidFill>
            <a:srgbClr val="0F9D96"/>
          </a:solidFill>
          <a:ln w="12700">
            <a:solidFill>
              <a:srgbClr val="FFFFFF"/>
            </a:solidFill>
            <a:prstDash val="solid"/>
          </a:ln>
        </p:spPr>
      </p:sp>
      <p:sp>
        <p:nvSpPr>
          <p:cNvPr id="19" name="Text 16"/>
          <p:cNvSpPr/>
          <p:nvPr/>
        </p:nvSpPr>
        <p:spPr>
          <a:xfrm>
            <a:off x="914400" y="4315968"/>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0" name="Text 17"/>
          <p:cNvSpPr/>
          <p:nvPr/>
        </p:nvSpPr>
        <p:spPr>
          <a:xfrm>
            <a:off x="1508760" y="4251960"/>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Set FIFO/FEFO, lot/expiry, and temperature controls</a:t>
            </a:r>
            <a:endParaRPr lang="en-US" sz="1700" dirty="0"/>
          </a:p>
        </p:txBody>
      </p:sp>
      <p:sp>
        <p:nvSpPr>
          <p:cNvPr id="21" name="Shape 18"/>
          <p:cNvSpPr/>
          <p:nvPr/>
        </p:nvSpPr>
        <p:spPr>
          <a:xfrm>
            <a:off x="914400" y="4882896"/>
            <a:ext cx="384048" cy="384048"/>
          </a:xfrm>
          <a:prstGeom prst="ellipse">
            <a:avLst/>
          </a:prstGeom>
          <a:solidFill>
            <a:srgbClr val="F47C20"/>
          </a:solidFill>
          <a:ln w="12700">
            <a:solidFill>
              <a:srgbClr val="FFFFFF"/>
            </a:solidFill>
            <a:prstDash val="solid"/>
          </a:ln>
        </p:spPr>
      </p:sp>
      <p:sp>
        <p:nvSpPr>
          <p:cNvPr id="22" name="Text 19"/>
          <p:cNvSpPr/>
          <p:nvPr/>
        </p:nvSpPr>
        <p:spPr>
          <a:xfrm>
            <a:off x="914400" y="4974336"/>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3" name="Text 20"/>
          <p:cNvSpPr/>
          <p:nvPr/>
        </p:nvSpPr>
        <p:spPr>
          <a:xfrm>
            <a:off x="1508760" y="4910328"/>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Hide discontinued items; preserve history</a:t>
            </a:r>
            <a:endParaRPr lang="en-US" sz="1700" dirty="0"/>
          </a:p>
        </p:txBody>
      </p:sp>
      <p:sp>
        <p:nvSpPr>
          <p:cNvPr id="24" name="Shape 21"/>
          <p:cNvSpPr/>
          <p:nvPr/>
        </p:nvSpPr>
        <p:spPr>
          <a:xfrm>
            <a:off x="713232" y="5623560"/>
            <a:ext cx="5193792" cy="566928"/>
          </a:xfrm>
          <a:prstGeom prst="roundRect">
            <a:avLst>
              <a:gd name="adj" fmla="val 6452"/>
            </a:avLst>
          </a:prstGeom>
          <a:solidFill>
            <a:srgbClr val="EFF7F7"/>
          </a:solidFill>
          <a:ln w="12700">
            <a:solidFill>
              <a:srgbClr val="D7E2E6"/>
            </a:solidFill>
            <a:prstDash val="solid"/>
          </a:ln>
        </p:spPr>
      </p:sp>
      <p:sp>
        <p:nvSpPr>
          <p:cNvPr id="25" name="Text 22"/>
          <p:cNvSpPr/>
          <p:nvPr/>
        </p:nvSpPr>
        <p:spPr>
          <a:xfrm>
            <a:off x="914400"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087B76"/>
                </a:solidFill>
              </a:rPr>
              <a:t>WHAT HAPPENS NEXT  Create the correct Packaging Profile before Receiving.</a:t>
            </a:r>
            <a:endParaRPr lang="en-US" sz="1150" dirty="0"/>
          </a:p>
        </p:txBody>
      </p:sp>
      <p:sp>
        <p:nvSpPr>
          <p:cNvPr id="26" name="Shape 23"/>
          <p:cNvSpPr/>
          <p:nvPr/>
        </p:nvSpPr>
        <p:spPr>
          <a:xfrm>
            <a:off x="6144768" y="5623560"/>
            <a:ext cx="5193792" cy="566928"/>
          </a:xfrm>
          <a:prstGeom prst="roundRect">
            <a:avLst>
              <a:gd name="adj" fmla="val 6452"/>
            </a:avLst>
          </a:prstGeom>
          <a:solidFill>
            <a:srgbClr val="FFF3DF"/>
          </a:solidFill>
          <a:ln w="12700">
            <a:solidFill>
              <a:srgbClr val="FFC928"/>
            </a:solidFill>
            <a:prstDash val="solid"/>
          </a:ln>
        </p:spPr>
      </p:sp>
      <p:sp>
        <p:nvSpPr>
          <p:cNvPr id="27" name="Text 24"/>
          <p:cNvSpPr/>
          <p:nvPr/>
        </p:nvSpPr>
        <p:spPr>
          <a:xfrm>
            <a:off x="6345936"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C93C3C"/>
                </a:solidFill>
              </a:rPr>
              <a:t>WATCH-OUT  No guessed SKUs, duplicate barcodes, or unknown rotation values.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66928" y="384048"/>
            <a:ext cx="9966960" cy="438912"/>
          </a:xfrm>
          <a:prstGeom prst="rect">
            <a:avLst/>
          </a:prstGeom>
          <a:noFill/>
          <a:ln/>
        </p:spPr>
        <p:txBody>
          <a:bodyPr wrap="square" lIns="0" tIns="0" rIns="0" bIns="0" rtlCol="0" anchor="ctr">
            <a:normAutofit/>
          </a:bodyPr>
          <a:lstStyle/>
          <a:p>
            <a:pPr indent="0" marL="0">
              <a:buNone/>
            </a:pPr>
            <a:r>
              <a:rPr lang="en-US" sz="2500" b="1" dirty="0">
                <a:solidFill>
                  <a:srgbClr val="123247"/>
                </a:solidFill>
                <a:latin typeface="Aptos Display" pitchFamily="34" charset="0"/>
                <a:ea typeface="Aptos Display" pitchFamily="34" charset="-122"/>
                <a:cs typeface="Aptos Display" pitchFamily="34" charset="-120"/>
              </a:rPr>
              <a:t>Packaging Profiles</a:t>
            </a:r>
            <a:endParaRPr lang="en-US" sz="2500" dirty="0"/>
          </a:p>
        </p:txBody>
      </p:sp>
      <p:sp>
        <p:nvSpPr>
          <p:cNvPr id="5" name="Text 2"/>
          <p:cNvSpPr/>
          <p:nvPr/>
        </p:nvSpPr>
        <p:spPr>
          <a:xfrm>
            <a:off x="10698480" y="438912"/>
            <a:ext cx="777240" cy="228600"/>
          </a:xfrm>
          <a:prstGeom prst="rect">
            <a:avLst/>
          </a:prstGeom>
          <a:noFill/>
          <a:ln/>
        </p:spPr>
        <p:txBody>
          <a:bodyPr wrap="square" lIns="0" tIns="0" rIns="0" bIns="0" rtlCol="0" anchor="ctr"/>
          <a:lstStyle/>
          <a:p>
            <a:pPr algn="r" indent="0" marL="0">
              <a:buNone/>
            </a:pPr>
            <a:r>
              <a:rPr lang="en-US" sz="900" b="1" dirty="0">
                <a:solidFill>
                  <a:srgbClr val="087B76"/>
                </a:solidFill>
              </a:rPr>
              <a:t>1 min</a:t>
            </a:r>
            <a:endParaRPr lang="en-US" sz="900" dirty="0"/>
          </a:p>
        </p:txBody>
      </p:sp>
      <p:sp>
        <p:nvSpPr>
          <p:cNvPr id="6" name="Text 3"/>
          <p:cNvSpPr/>
          <p:nvPr/>
        </p:nvSpPr>
        <p:spPr>
          <a:xfrm>
            <a:off x="585216" y="960120"/>
            <a:ext cx="4023360" cy="219456"/>
          </a:xfrm>
          <a:prstGeom prst="rect">
            <a:avLst/>
          </a:prstGeom>
          <a:noFill/>
          <a:ln/>
        </p:spPr>
        <p:txBody>
          <a:bodyPr wrap="square" lIns="0" tIns="0" rIns="0" bIns="0" rtlCol="0" anchor="ctr"/>
          <a:lstStyle/>
          <a:p>
            <a:pPr indent="0" marL="0">
              <a:buNone/>
            </a:pPr>
            <a:r>
              <a:rPr lang="en-US" sz="1000" b="1" spc="130" kern="0" dirty="0">
                <a:solidFill>
                  <a:srgbClr val="F47C20"/>
                </a:solidFill>
              </a:rPr>
              <a:t>STRUCTURE + MASTER DATA</a:t>
            </a:r>
            <a:endParaRPr lang="en-US" sz="1000" dirty="0"/>
          </a:p>
        </p:txBody>
      </p:sp>
      <p:sp>
        <p:nvSpPr>
          <p:cNvPr id="7" name="Text 4"/>
          <p:cNvSpPr/>
          <p:nvPr/>
        </p:nvSpPr>
        <p:spPr>
          <a:xfrm>
            <a:off x="566928" y="6473952"/>
            <a:ext cx="1097280" cy="182880"/>
          </a:xfrm>
          <a:prstGeom prst="rect">
            <a:avLst/>
          </a:prstGeom>
          <a:noFill/>
          <a:ln/>
        </p:spPr>
        <p:txBody>
          <a:bodyPr wrap="square" lIns="0" tIns="0" rIns="0" bIns="0" rtlCol="0" anchor="ctr"/>
          <a:lstStyle/>
          <a:p>
            <a:pPr indent="0" marL="0">
              <a:buNone/>
            </a:pPr>
            <a:r>
              <a:rPr lang="en-US" sz="800" dirty="0">
                <a:solidFill>
                  <a:srgbClr val="667985"/>
                </a:solidFill>
              </a:rPr>
              <a:t>Product 1.27</a:t>
            </a:r>
            <a:endParaRPr lang="en-US" sz="800" dirty="0"/>
          </a:p>
        </p:txBody>
      </p:sp>
      <p:sp>
        <p:nvSpPr>
          <p:cNvPr id="8" name="Text 5"/>
          <p:cNvSpPr/>
          <p:nvPr/>
        </p:nvSpPr>
        <p:spPr>
          <a:xfrm>
            <a:off x="10789920" y="6473952"/>
            <a:ext cx="731520" cy="182880"/>
          </a:xfrm>
          <a:prstGeom prst="rect">
            <a:avLst/>
          </a:prstGeom>
          <a:noFill/>
          <a:ln/>
        </p:spPr>
        <p:txBody>
          <a:bodyPr wrap="square" lIns="0" tIns="0" rIns="0" bIns="0" rtlCol="0" anchor="ctr"/>
          <a:lstStyle/>
          <a:p>
            <a:pPr algn="r" indent="0" marL="0">
              <a:buNone/>
            </a:pPr>
            <a:r>
              <a:rPr lang="en-US" sz="800" dirty="0">
                <a:solidFill>
                  <a:srgbClr val="667985"/>
                </a:solidFill>
              </a:rPr>
              <a:t>10 / 28</a:t>
            </a:r>
            <a:endParaRPr lang="en-US" sz="800" dirty="0"/>
          </a:p>
        </p:txBody>
      </p:sp>
      <p:sp>
        <p:nvSpPr>
          <p:cNvPr id="9" name="Shape 6"/>
          <p:cNvSpPr/>
          <p:nvPr/>
        </p:nvSpPr>
        <p:spPr>
          <a:xfrm>
            <a:off x="658368" y="1353312"/>
            <a:ext cx="10835640" cy="914400"/>
          </a:xfrm>
          <a:prstGeom prst="roundRect">
            <a:avLst>
              <a:gd name="adj" fmla="val 5000"/>
            </a:avLst>
          </a:prstGeom>
          <a:solidFill>
            <a:srgbClr val="EFF7F7"/>
          </a:solidFill>
          <a:ln w="15240">
            <a:solidFill>
              <a:srgbClr val="0F9D96"/>
            </a:solidFill>
            <a:prstDash val="solid"/>
          </a:ln>
        </p:spPr>
      </p:sp>
      <p:sp>
        <p:nvSpPr>
          <p:cNvPr id="10" name="Text 7"/>
          <p:cNvSpPr/>
          <p:nvPr/>
        </p:nvSpPr>
        <p:spPr>
          <a:xfrm>
            <a:off x="914400" y="1609344"/>
            <a:ext cx="1280160" cy="228600"/>
          </a:xfrm>
          <a:prstGeom prst="rect">
            <a:avLst/>
          </a:prstGeom>
          <a:noFill/>
          <a:ln/>
        </p:spPr>
        <p:txBody>
          <a:bodyPr wrap="square" lIns="0" tIns="0" rIns="0" bIns="0" rtlCol="0" anchor="ctr"/>
          <a:lstStyle/>
          <a:p>
            <a:pPr indent="0" marL="0">
              <a:buNone/>
            </a:pPr>
            <a:r>
              <a:rPr lang="en-US" sz="1100" b="1" spc="100" kern="0" dirty="0">
                <a:solidFill>
                  <a:srgbClr val="087B76"/>
                </a:solidFill>
              </a:rPr>
              <a:t>WHAT LIVES HERE</a:t>
            </a:r>
            <a:endParaRPr lang="en-US" sz="1100" dirty="0"/>
          </a:p>
        </p:txBody>
      </p:sp>
      <p:sp>
        <p:nvSpPr>
          <p:cNvPr id="11" name="Text 8"/>
          <p:cNvSpPr/>
          <p:nvPr/>
        </p:nvSpPr>
        <p:spPr>
          <a:xfrm>
            <a:off x="2423160" y="1536192"/>
            <a:ext cx="8641080" cy="384048"/>
          </a:xfrm>
          <a:prstGeom prst="rect">
            <a:avLst/>
          </a:prstGeom>
          <a:noFill/>
          <a:ln/>
        </p:spPr>
        <p:txBody>
          <a:bodyPr wrap="square" lIns="0" tIns="0" rIns="0" bIns="0" rtlCol="0" anchor="ctr">
            <a:normAutofit/>
          </a:bodyPr>
          <a:lstStyle/>
          <a:p>
            <a:pPr indent="0" marL="0">
              <a:buNone/>
            </a:pPr>
            <a:r>
              <a:rPr lang="en-US" sz="2000" b="1" dirty="0">
                <a:solidFill>
                  <a:srgbClr val="123247"/>
                </a:solidFill>
              </a:rPr>
              <a:t>Connect each/case/pallet units and barcodes to physical receiving quantities.</a:t>
            </a:r>
            <a:endParaRPr lang="en-US" sz="2000" dirty="0"/>
          </a:p>
        </p:txBody>
      </p:sp>
      <p:sp>
        <p:nvSpPr>
          <p:cNvPr id="12" name="Text 9"/>
          <p:cNvSpPr/>
          <p:nvPr/>
        </p:nvSpPr>
        <p:spPr>
          <a:xfrm>
            <a:off x="786384" y="2578608"/>
            <a:ext cx="2103120" cy="228600"/>
          </a:xfrm>
          <a:prstGeom prst="rect">
            <a:avLst/>
          </a:prstGeom>
          <a:noFill/>
          <a:ln/>
        </p:spPr>
        <p:txBody>
          <a:bodyPr wrap="square" lIns="0" tIns="0" rIns="0" bIns="0" rtlCol="0" anchor="ctr"/>
          <a:lstStyle/>
          <a:p>
            <a:pPr indent="0" marL="0">
              <a:buNone/>
            </a:pPr>
            <a:r>
              <a:rPr lang="en-US" sz="1100" b="1" spc="80" kern="0" dirty="0">
                <a:solidFill>
                  <a:srgbClr val="F47C20"/>
                </a:solidFill>
              </a:rPr>
              <a:t>WHO USUALLY WORKS HERE</a:t>
            </a:r>
            <a:endParaRPr lang="en-US" sz="1100" dirty="0"/>
          </a:p>
        </p:txBody>
      </p:sp>
      <p:sp>
        <p:nvSpPr>
          <p:cNvPr id="13" name="Text 10"/>
          <p:cNvSpPr/>
          <p:nvPr/>
        </p:nvSpPr>
        <p:spPr>
          <a:xfrm>
            <a:off x="3063240" y="2542032"/>
            <a:ext cx="7818120" cy="292608"/>
          </a:xfrm>
          <a:prstGeom prst="rect">
            <a:avLst/>
          </a:prstGeom>
          <a:noFill/>
          <a:ln/>
        </p:spPr>
        <p:txBody>
          <a:bodyPr wrap="square" lIns="0" tIns="0" rIns="0" bIns="0" rtlCol="0" anchor="ctr">
            <a:normAutofit/>
          </a:bodyPr>
          <a:lstStyle/>
          <a:p>
            <a:pPr indent="0" marL="0">
              <a:buNone/>
            </a:pPr>
            <a:r>
              <a:rPr lang="en-US" sz="1600" b="1" dirty="0">
                <a:solidFill>
                  <a:srgbClr val="16303D"/>
                </a:solidFill>
              </a:rPr>
              <a:t>Admins · Managers · Inventory Clerks</a:t>
            </a:r>
            <a:endParaRPr lang="en-US" sz="1600" dirty="0"/>
          </a:p>
        </p:txBody>
      </p:sp>
      <p:sp>
        <p:nvSpPr>
          <p:cNvPr id="14" name="Text 11"/>
          <p:cNvSpPr/>
          <p:nvPr/>
        </p:nvSpPr>
        <p:spPr>
          <a:xfrm>
            <a:off x="786384" y="3127248"/>
            <a:ext cx="2286000" cy="228600"/>
          </a:xfrm>
          <a:prstGeom prst="rect">
            <a:avLst/>
          </a:prstGeom>
          <a:noFill/>
          <a:ln/>
        </p:spPr>
        <p:txBody>
          <a:bodyPr wrap="square" lIns="0" tIns="0" rIns="0" bIns="0" rtlCol="0" anchor="ctr"/>
          <a:lstStyle/>
          <a:p>
            <a:pPr indent="0" marL="0">
              <a:buNone/>
            </a:pPr>
            <a:r>
              <a:rPr lang="en-US" sz="1100" b="1" spc="80" kern="0" dirty="0">
                <a:solidFill>
                  <a:srgbClr val="087B76"/>
                </a:solidFill>
              </a:rPr>
              <a:t>A NORMAL VISIT LOOKS LIKE</a:t>
            </a:r>
            <a:endParaRPr lang="en-US" sz="1100" dirty="0"/>
          </a:p>
        </p:txBody>
      </p:sp>
      <p:sp>
        <p:nvSpPr>
          <p:cNvPr id="15" name="Shape 12"/>
          <p:cNvSpPr/>
          <p:nvPr/>
        </p:nvSpPr>
        <p:spPr>
          <a:xfrm>
            <a:off x="914400" y="3566160"/>
            <a:ext cx="384048" cy="384048"/>
          </a:xfrm>
          <a:prstGeom prst="ellipse">
            <a:avLst/>
          </a:prstGeom>
          <a:solidFill>
            <a:srgbClr val="0F9D96"/>
          </a:solidFill>
          <a:ln w="12700">
            <a:solidFill>
              <a:srgbClr val="FFFFFF"/>
            </a:solidFill>
            <a:prstDash val="solid"/>
          </a:ln>
        </p:spPr>
      </p:sp>
      <p:sp>
        <p:nvSpPr>
          <p:cNvPr id="16" name="Text 13"/>
          <p:cNvSpPr/>
          <p:nvPr/>
        </p:nvSpPr>
        <p:spPr>
          <a:xfrm>
            <a:off x="914400" y="3657600"/>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7" name="Text 14"/>
          <p:cNvSpPr/>
          <p:nvPr/>
        </p:nvSpPr>
        <p:spPr>
          <a:xfrm>
            <a:off x="1508760" y="3593592"/>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Configure pack sizes, dimensions, weights, and barcodes</a:t>
            </a:r>
            <a:endParaRPr lang="en-US" sz="1700" dirty="0"/>
          </a:p>
        </p:txBody>
      </p:sp>
      <p:sp>
        <p:nvSpPr>
          <p:cNvPr id="18" name="Shape 15"/>
          <p:cNvSpPr/>
          <p:nvPr/>
        </p:nvSpPr>
        <p:spPr>
          <a:xfrm>
            <a:off x="914400" y="4224528"/>
            <a:ext cx="384048" cy="384048"/>
          </a:xfrm>
          <a:prstGeom prst="ellipse">
            <a:avLst/>
          </a:prstGeom>
          <a:solidFill>
            <a:srgbClr val="0F9D96"/>
          </a:solidFill>
          <a:ln w="12700">
            <a:solidFill>
              <a:srgbClr val="FFFFFF"/>
            </a:solidFill>
            <a:prstDash val="solid"/>
          </a:ln>
        </p:spPr>
      </p:sp>
      <p:sp>
        <p:nvSpPr>
          <p:cNvPr id="19" name="Text 16"/>
          <p:cNvSpPr/>
          <p:nvPr/>
        </p:nvSpPr>
        <p:spPr>
          <a:xfrm>
            <a:off x="914400" y="4315968"/>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0" name="Text 17"/>
          <p:cNvSpPr/>
          <p:nvPr/>
        </p:nvSpPr>
        <p:spPr>
          <a:xfrm>
            <a:off x="1508760" y="4251960"/>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Keep one appropriate default profile</a:t>
            </a:r>
            <a:endParaRPr lang="en-US" sz="1700" dirty="0"/>
          </a:p>
        </p:txBody>
      </p:sp>
      <p:sp>
        <p:nvSpPr>
          <p:cNvPr id="21" name="Shape 18"/>
          <p:cNvSpPr/>
          <p:nvPr/>
        </p:nvSpPr>
        <p:spPr>
          <a:xfrm>
            <a:off x="914400" y="4882896"/>
            <a:ext cx="384048" cy="384048"/>
          </a:xfrm>
          <a:prstGeom prst="ellipse">
            <a:avLst/>
          </a:prstGeom>
          <a:solidFill>
            <a:srgbClr val="F47C20"/>
          </a:solidFill>
          <a:ln w="12700">
            <a:solidFill>
              <a:srgbClr val="FFFFFF"/>
            </a:solidFill>
            <a:prstDash val="solid"/>
          </a:ln>
        </p:spPr>
      </p:sp>
      <p:sp>
        <p:nvSpPr>
          <p:cNvPr id="22" name="Text 19"/>
          <p:cNvSpPr/>
          <p:nvPr/>
        </p:nvSpPr>
        <p:spPr>
          <a:xfrm>
            <a:off x="914400" y="4974336"/>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3" name="Text 20"/>
          <p:cNvSpPr/>
          <p:nvPr/>
        </p:nvSpPr>
        <p:spPr>
          <a:xfrm>
            <a:off x="1508760" y="4910328"/>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Verify values against the physical pack</a:t>
            </a:r>
            <a:endParaRPr lang="en-US" sz="1700" dirty="0"/>
          </a:p>
        </p:txBody>
      </p:sp>
      <p:sp>
        <p:nvSpPr>
          <p:cNvPr id="24" name="Shape 21"/>
          <p:cNvSpPr/>
          <p:nvPr/>
        </p:nvSpPr>
        <p:spPr>
          <a:xfrm>
            <a:off x="713232" y="5623560"/>
            <a:ext cx="5193792" cy="566928"/>
          </a:xfrm>
          <a:prstGeom prst="roundRect">
            <a:avLst>
              <a:gd name="adj" fmla="val 6452"/>
            </a:avLst>
          </a:prstGeom>
          <a:solidFill>
            <a:srgbClr val="EFF7F7"/>
          </a:solidFill>
          <a:ln w="12700">
            <a:solidFill>
              <a:srgbClr val="D7E2E6"/>
            </a:solidFill>
            <a:prstDash val="solid"/>
          </a:ln>
        </p:spPr>
      </p:sp>
      <p:sp>
        <p:nvSpPr>
          <p:cNvPr id="25" name="Text 22"/>
          <p:cNvSpPr/>
          <p:nvPr/>
        </p:nvSpPr>
        <p:spPr>
          <a:xfrm>
            <a:off x="914400"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087B76"/>
                </a:solidFill>
              </a:rPr>
              <a:t>WHAT HAPPENS NEXT  Receiving interprets scans and quantities from the profile.</a:t>
            </a:r>
            <a:endParaRPr lang="en-US" sz="1150" dirty="0"/>
          </a:p>
        </p:txBody>
      </p:sp>
      <p:sp>
        <p:nvSpPr>
          <p:cNvPr id="26" name="Shape 23"/>
          <p:cNvSpPr/>
          <p:nvPr/>
        </p:nvSpPr>
        <p:spPr>
          <a:xfrm>
            <a:off x="6144768" y="5623560"/>
            <a:ext cx="5193792" cy="566928"/>
          </a:xfrm>
          <a:prstGeom prst="roundRect">
            <a:avLst>
              <a:gd name="adj" fmla="val 6452"/>
            </a:avLst>
          </a:prstGeom>
          <a:solidFill>
            <a:srgbClr val="FFF3DF"/>
          </a:solidFill>
          <a:ln w="12700">
            <a:solidFill>
              <a:srgbClr val="FFC928"/>
            </a:solidFill>
            <a:prstDash val="solid"/>
          </a:ln>
        </p:spPr>
      </p:sp>
      <p:sp>
        <p:nvSpPr>
          <p:cNvPr id="27" name="Text 24"/>
          <p:cNvSpPr/>
          <p:nvPr/>
        </p:nvSpPr>
        <p:spPr>
          <a:xfrm>
            <a:off x="6345936"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C93C3C"/>
                </a:solidFill>
              </a:rPr>
              <a:t>WATCH-OUT  Multiple defaults or incorrect units-per-package create downstream defects.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66928" y="384048"/>
            <a:ext cx="9966960" cy="438912"/>
          </a:xfrm>
          <a:prstGeom prst="rect">
            <a:avLst/>
          </a:prstGeom>
          <a:noFill/>
          <a:ln/>
        </p:spPr>
        <p:txBody>
          <a:bodyPr wrap="square" lIns="0" tIns="0" rIns="0" bIns="0" rtlCol="0" anchor="ctr">
            <a:normAutofit/>
          </a:bodyPr>
          <a:lstStyle/>
          <a:p>
            <a:pPr indent="0" marL="0">
              <a:buNone/>
            </a:pPr>
            <a:r>
              <a:rPr lang="en-US" sz="2500" b="1" dirty="0">
                <a:solidFill>
                  <a:srgbClr val="123247"/>
                </a:solidFill>
                <a:latin typeface="Aptos Display" pitchFamily="34" charset="0"/>
                <a:ea typeface="Aptos Display" pitchFamily="34" charset="-122"/>
                <a:cs typeface="Aptos Display" pitchFamily="34" charset="-120"/>
              </a:rPr>
              <a:t>Receiving</a:t>
            </a:r>
            <a:endParaRPr lang="en-US" sz="2500" dirty="0"/>
          </a:p>
        </p:txBody>
      </p:sp>
      <p:sp>
        <p:nvSpPr>
          <p:cNvPr id="5" name="Text 2"/>
          <p:cNvSpPr/>
          <p:nvPr/>
        </p:nvSpPr>
        <p:spPr>
          <a:xfrm>
            <a:off x="10698480" y="438912"/>
            <a:ext cx="777240" cy="228600"/>
          </a:xfrm>
          <a:prstGeom prst="rect">
            <a:avLst/>
          </a:prstGeom>
          <a:noFill/>
          <a:ln/>
        </p:spPr>
        <p:txBody>
          <a:bodyPr wrap="square" lIns="0" tIns="0" rIns="0" bIns="0" rtlCol="0" anchor="ctr"/>
          <a:lstStyle/>
          <a:p>
            <a:pPr algn="r" indent="0" marL="0">
              <a:buNone/>
            </a:pPr>
            <a:r>
              <a:rPr lang="en-US" sz="900" b="1" dirty="0">
                <a:solidFill>
                  <a:srgbClr val="087B76"/>
                </a:solidFill>
              </a:rPr>
              <a:t>3 min</a:t>
            </a:r>
            <a:endParaRPr lang="en-US" sz="900" dirty="0"/>
          </a:p>
        </p:txBody>
      </p:sp>
      <p:sp>
        <p:nvSpPr>
          <p:cNvPr id="6" name="Text 3"/>
          <p:cNvSpPr/>
          <p:nvPr/>
        </p:nvSpPr>
        <p:spPr>
          <a:xfrm>
            <a:off x="585216" y="960120"/>
            <a:ext cx="4023360" cy="219456"/>
          </a:xfrm>
          <a:prstGeom prst="rect">
            <a:avLst/>
          </a:prstGeom>
          <a:noFill/>
          <a:ln/>
        </p:spPr>
        <p:txBody>
          <a:bodyPr wrap="square" lIns="0" tIns="0" rIns="0" bIns="0" rtlCol="0" anchor="ctr"/>
          <a:lstStyle/>
          <a:p>
            <a:pPr indent="0" marL="0">
              <a:buNone/>
            </a:pPr>
            <a:r>
              <a:rPr lang="en-US" sz="1000" b="1" spc="130" kern="0" dirty="0">
                <a:solidFill>
                  <a:srgbClr val="F47C20"/>
                </a:solidFill>
              </a:rPr>
              <a:t>INBOUND + STORAGE</a:t>
            </a:r>
            <a:endParaRPr lang="en-US" sz="1000" dirty="0"/>
          </a:p>
        </p:txBody>
      </p:sp>
      <p:sp>
        <p:nvSpPr>
          <p:cNvPr id="7" name="Text 4"/>
          <p:cNvSpPr/>
          <p:nvPr/>
        </p:nvSpPr>
        <p:spPr>
          <a:xfrm>
            <a:off x="566928" y="6473952"/>
            <a:ext cx="1097280" cy="182880"/>
          </a:xfrm>
          <a:prstGeom prst="rect">
            <a:avLst/>
          </a:prstGeom>
          <a:noFill/>
          <a:ln/>
        </p:spPr>
        <p:txBody>
          <a:bodyPr wrap="square" lIns="0" tIns="0" rIns="0" bIns="0" rtlCol="0" anchor="ctr"/>
          <a:lstStyle/>
          <a:p>
            <a:pPr indent="0" marL="0">
              <a:buNone/>
            </a:pPr>
            <a:r>
              <a:rPr lang="en-US" sz="800" dirty="0">
                <a:solidFill>
                  <a:srgbClr val="667985"/>
                </a:solidFill>
              </a:rPr>
              <a:t>Product 1.27</a:t>
            </a:r>
            <a:endParaRPr lang="en-US" sz="800" dirty="0"/>
          </a:p>
        </p:txBody>
      </p:sp>
      <p:sp>
        <p:nvSpPr>
          <p:cNvPr id="8" name="Text 5"/>
          <p:cNvSpPr/>
          <p:nvPr/>
        </p:nvSpPr>
        <p:spPr>
          <a:xfrm>
            <a:off x="10789920" y="6473952"/>
            <a:ext cx="731520" cy="182880"/>
          </a:xfrm>
          <a:prstGeom prst="rect">
            <a:avLst/>
          </a:prstGeom>
          <a:noFill/>
          <a:ln/>
        </p:spPr>
        <p:txBody>
          <a:bodyPr wrap="square" lIns="0" tIns="0" rIns="0" bIns="0" rtlCol="0" anchor="ctr"/>
          <a:lstStyle/>
          <a:p>
            <a:pPr algn="r" indent="0" marL="0">
              <a:buNone/>
            </a:pPr>
            <a:r>
              <a:rPr lang="en-US" sz="800" dirty="0">
                <a:solidFill>
                  <a:srgbClr val="667985"/>
                </a:solidFill>
              </a:rPr>
              <a:t>11 / 28</a:t>
            </a:r>
            <a:endParaRPr lang="en-US" sz="800" dirty="0"/>
          </a:p>
        </p:txBody>
      </p:sp>
      <p:sp>
        <p:nvSpPr>
          <p:cNvPr id="9" name="Shape 6"/>
          <p:cNvSpPr/>
          <p:nvPr/>
        </p:nvSpPr>
        <p:spPr>
          <a:xfrm>
            <a:off x="658368" y="1353312"/>
            <a:ext cx="10835640" cy="914400"/>
          </a:xfrm>
          <a:prstGeom prst="roundRect">
            <a:avLst>
              <a:gd name="adj" fmla="val 5000"/>
            </a:avLst>
          </a:prstGeom>
          <a:solidFill>
            <a:srgbClr val="EFF7F7"/>
          </a:solidFill>
          <a:ln w="15240">
            <a:solidFill>
              <a:srgbClr val="0F9D96"/>
            </a:solidFill>
            <a:prstDash val="solid"/>
          </a:ln>
        </p:spPr>
      </p:sp>
      <p:sp>
        <p:nvSpPr>
          <p:cNvPr id="10" name="Text 7"/>
          <p:cNvSpPr/>
          <p:nvPr/>
        </p:nvSpPr>
        <p:spPr>
          <a:xfrm>
            <a:off x="914400" y="1609344"/>
            <a:ext cx="1280160" cy="228600"/>
          </a:xfrm>
          <a:prstGeom prst="rect">
            <a:avLst/>
          </a:prstGeom>
          <a:noFill/>
          <a:ln/>
        </p:spPr>
        <p:txBody>
          <a:bodyPr wrap="square" lIns="0" tIns="0" rIns="0" bIns="0" rtlCol="0" anchor="ctr"/>
          <a:lstStyle/>
          <a:p>
            <a:pPr indent="0" marL="0">
              <a:buNone/>
            </a:pPr>
            <a:r>
              <a:rPr lang="en-US" sz="1100" b="1" spc="100" kern="0" dirty="0">
                <a:solidFill>
                  <a:srgbClr val="087B76"/>
                </a:solidFill>
              </a:rPr>
              <a:t>WHAT LIVES HERE</a:t>
            </a:r>
            <a:endParaRPr lang="en-US" sz="1100" dirty="0"/>
          </a:p>
        </p:txBody>
      </p:sp>
      <p:sp>
        <p:nvSpPr>
          <p:cNvPr id="11" name="Text 8"/>
          <p:cNvSpPr/>
          <p:nvPr/>
        </p:nvSpPr>
        <p:spPr>
          <a:xfrm>
            <a:off x="2423160" y="1536192"/>
            <a:ext cx="8641080" cy="384048"/>
          </a:xfrm>
          <a:prstGeom prst="rect">
            <a:avLst/>
          </a:prstGeom>
          <a:noFill/>
          <a:ln/>
        </p:spPr>
        <p:txBody>
          <a:bodyPr wrap="square" lIns="0" tIns="0" rIns="0" bIns="0" rtlCol="0" anchor="ctr">
            <a:normAutofit/>
          </a:bodyPr>
          <a:lstStyle/>
          <a:p>
            <a:pPr indent="0" marL="0">
              <a:buNone/>
            </a:pPr>
            <a:r>
              <a:rPr lang="en-US" sz="2000" b="1" dirty="0">
                <a:solidFill>
                  <a:srgbClr val="123247"/>
                </a:solidFill>
              </a:rPr>
              <a:t>Create receipt, pallet identity, traceability, labels, and Put-Away work.</a:t>
            </a:r>
            <a:endParaRPr lang="en-US" sz="2000" dirty="0"/>
          </a:p>
        </p:txBody>
      </p:sp>
      <p:sp>
        <p:nvSpPr>
          <p:cNvPr id="12" name="Text 9"/>
          <p:cNvSpPr/>
          <p:nvPr/>
        </p:nvSpPr>
        <p:spPr>
          <a:xfrm>
            <a:off x="786384" y="2578608"/>
            <a:ext cx="2103120" cy="228600"/>
          </a:xfrm>
          <a:prstGeom prst="rect">
            <a:avLst/>
          </a:prstGeom>
          <a:noFill/>
          <a:ln/>
        </p:spPr>
        <p:txBody>
          <a:bodyPr wrap="square" lIns="0" tIns="0" rIns="0" bIns="0" rtlCol="0" anchor="ctr"/>
          <a:lstStyle/>
          <a:p>
            <a:pPr indent="0" marL="0">
              <a:buNone/>
            </a:pPr>
            <a:r>
              <a:rPr lang="en-US" sz="1100" b="1" spc="80" kern="0" dirty="0">
                <a:solidFill>
                  <a:srgbClr val="F47C20"/>
                </a:solidFill>
              </a:rPr>
              <a:t>WHO USUALLY WORKS HERE</a:t>
            </a:r>
            <a:endParaRPr lang="en-US" sz="1100" dirty="0"/>
          </a:p>
        </p:txBody>
      </p:sp>
      <p:sp>
        <p:nvSpPr>
          <p:cNvPr id="13" name="Text 10"/>
          <p:cNvSpPr/>
          <p:nvPr/>
        </p:nvSpPr>
        <p:spPr>
          <a:xfrm>
            <a:off x="3063240" y="2542032"/>
            <a:ext cx="7818120" cy="292608"/>
          </a:xfrm>
          <a:prstGeom prst="rect">
            <a:avLst/>
          </a:prstGeom>
          <a:noFill/>
          <a:ln/>
        </p:spPr>
        <p:txBody>
          <a:bodyPr wrap="square" lIns="0" tIns="0" rIns="0" bIns="0" rtlCol="0" anchor="ctr">
            <a:normAutofit/>
          </a:bodyPr>
          <a:lstStyle/>
          <a:p>
            <a:pPr indent="0" marL="0">
              <a:buNone/>
            </a:pPr>
            <a:r>
              <a:rPr lang="en-US" sz="1600" b="1" dirty="0">
                <a:solidFill>
                  <a:srgbClr val="16303D"/>
                </a:solidFill>
              </a:rPr>
              <a:t>Admins · Managers · Inventory Clerks</a:t>
            </a:r>
            <a:endParaRPr lang="en-US" sz="1600" dirty="0"/>
          </a:p>
        </p:txBody>
      </p:sp>
      <p:sp>
        <p:nvSpPr>
          <p:cNvPr id="14" name="Text 11"/>
          <p:cNvSpPr/>
          <p:nvPr/>
        </p:nvSpPr>
        <p:spPr>
          <a:xfrm>
            <a:off x="786384" y="3127248"/>
            <a:ext cx="2286000" cy="228600"/>
          </a:xfrm>
          <a:prstGeom prst="rect">
            <a:avLst/>
          </a:prstGeom>
          <a:noFill/>
          <a:ln/>
        </p:spPr>
        <p:txBody>
          <a:bodyPr wrap="square" lIns="0" tIns="0" rIns="0" bIns="0" rtlCol="0" anchor="ctr"/>
          <a:lstStyle/>
          <a:p>
            <a:pPr indent="0" marL="0">
              <a:buNone/>
            </a:pPr>
            <a:r>
              <a:rPr lang="en-US" sz="1100" b="1" spc="80" kern="0" dirty="0">
                <a:solidFill>
                  <a:srgbClr val="087B76"/>
                </a:solidFill>
              </a:rPr>
              <a:t>A NORMAL VISIT LOOKS LIKE</a:t>
            </a:r>
            <a:endParaRPr lang="en-US" sz="1100" dirty="0"/>
          </a:p>
        </p:txBody>
      </p:sp>
      <p:sp>
        <p:nvSpPr>
          <p:cNvPr id="15" name="Shape 12"/>
          <p:cNvSpPr/>
          <p:nvPr/>
        </p:nvSpPr>
        <p:spPr>
          <a:xfrm>
            <a:off x="914400" y="3566160"/>
            <a:ext cx="384048" cy="384048"/>
          </a:xfrm>
          <a:prstGeom prst="ellipse">
            <a:avLst/>
          </a:prstGeom>
          <a:solidFill>
            <a:srgbClr val="0F9D96"/>
          </a:solidFill>
          <a:ln w="12700">
            <a:solidFill>
              <a:srgbClr val="FFFFFF"/>
            </a:solidFill>
            <a:prstDash val="solid"/>
          </a:ln>
        </p:spPr>
      </p:sp>
      <p:sp>
        <p:nvSpPr>
          <p:cNvPr id="16" name="Text 13"/>
          <p:cNvSpPr/>
          <p:nvPr/>
        </p:nvSpPr>
        <p:spPr>
          <a:xfrm>
            <a:off x="914400" y="3657600"/>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7" name="Text 14"/>
          <p:cNvSpPr/>
          <p:nvPr/>
        </p:nvSpPr>
        <p:spPr>
          <a:xfrm>
            <a:off x="1508760" y="3593592"/>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Warehouse/container/PO → product scan + commit</a:t>
            </a:r>
            <a:endParaRPr lang="en-US" sz="1700" dirty="0"/>
          </a:p>
        </p:txBody>
      </p:sp>
      <p:sp>
        <p:nvSpPr>
          <p:cNvPr id="18" name="Shape 15"/>
          <p:cNvSpPr/>
          <p:nvPr/>
        </p:nvSpPr>
        <p:spPr>
          <a:xfrm>
            <a:off x="914400" y="4224528"/>
            <a:ext cx="384048" cy="384048"/>
          </a:xfrm>
          <a:prstGeom prst="ellipse">
            <a:avLst/>
          </a:prstGeom>
          <a:solidFill>
            <a:srgbClr val="0F9D96"/>
          </a:solidFill>
          <a:ln w="12700">
            <a:solidFill>
              <a:srgbClr val="FFFFFF"/>
            </a:solidFill>
            <a:prstDash val="solid"/>
          </a:ln>
        </p:spPr>
      </p:sp>
      <p:sp>
        <p:nvSpPr>
          <p:cNvPr id="19" name="Text 16"/>
          <p:cNvSpPr/>
          <p:nvPr/>
        </p:nvSpPr>
        <p:spPr>
          <a:xfrm>
            <a:off x="914400" y="4315968"/>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0" name="Text 17"/>
          <p:cNvSpPr/>
          <p:nvPr/>
        </p:nvSpPr>
        <p:spPr>
          <a:xfrm>
            <a:off x="1508760" y="4251960"/>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Physical total → qty/pallet → pallets → expiry/lot</a:t>
            </a:r>
            <a:endParaRPr lang="en-US" sz="1700" dirty="0"/>
          </a:p>
        </p:txBody>
      </p:sp>
      <p:sp>
        <p:nvSpPr>
          <p:cNvPr id="21" name="Shape 18"/>
          <p:cNvSpPr/>
          <p:nvPr/>
        </p:nvSpPr>
        <p:spPr>
          <a:xfrm>
            <a:off x="914400" y="4882896"/>
            <a:ext cx="384048" cy="384048"/>
          </a:xfrm>
          <a:prstGeom prst="ellipse">
            <a:avLst/>
          </a:prstGeom>
          <a:solidFill>
            <a:srgbClr val="F47C20"/>
          </a:solidFill>
          <a:ln w="12700">
            <a:solidFill>
              <a:srgbClr val="FFFFFF"/>
            </a:solidFill>
            <a:prstDash val="solid"/>
          </a:ln>
        </p:spPr>
      </p:sp>
      <p:sp>
        <p:nvSpPr>
          <p:cNvPr id="22" name="Text 19"/>
          <p:cNvSpPr/>
          <p:nvPr/>
        </p:nvSpPr>
        <p:spPr>
          <a:xfrm>
            <a:off x="914400" y="4974336"/>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3" name="Text 20"/>
          <p:cNvSpPr/>
          <p:nvPr/>
        </p:nvSpPr>
        <p:spPr>
          <a:xfrm>
            <a:off x="1508760" y="4910328"/>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Verify once → receive → print labels → release Put-Away</a:t>
            </a:r>
            <a:endParaRPr lang="en-US" sz="1700" dirty="0"/>
          </a:p>
        </p:txBody>
      </p:sp>
      <p:sp>
        <p:nvSpPr>
          <p:cNvPr id="24" name="Shape 21"/>
          <p:cNvSpPr/>
          <p:nvPr/>
        </p:nvSpPr>
        <p:spPr>
          <a:xfrm>
            <a:off x="713232" y="5623560"/>
            <a:ext cx="5193792" cy="566928"/>
          </a:xfrm>
          <a:prstGeom prst="roundRect">
            <a:avLst>
              <a:gd name="adj" fmla="val 6452"/>
            </a:avLst>
          </a:prstGeom>
          <a:solidFill>
            <a:srgbClr val="EFF7F7"/>
          </a:solidFill>
          <a:ln w="12700">
            <a:solidFill>
              <a:srgbClr val="D7E2E6"/>
            </a:solidFill>
            <a:prstDash val="solid"/>
          </a:ln>
        </p:spPr>
      </p:sp>
      <p:sp>
        <p:nvSpPr>
          <p:cNvPr id="25" name="Text 22"/>
          <p:cNvSpPr/>
          <p:nvPr/>
        </p:nvSpPr>
        <p:spPr>
          <a:xfrm>
            <a:off x="914400"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087B76"/>
                </a:solidFill>
              </a:rPr>
              <a:t>WHAT HAPPENS NEXT  Each labeled pallet has a Put-Away task or identifiable Saved Draft.</a:t>
            </a:r>
            <a:endParaRPr lang="en-US" sz="1150" dirty="0"/>
          </a:p>
        </p:txBody>
      </p:sp>
      <p:sp>
        <p:nvSpPr>
          <p:cNvPr id="26" name="Shape 23"/>
          <p:cNvSpPr/>
          <p:nvPr/>
        </p:nvSpPr>
        <p:spPr>
          <a:xfrm>
            <a:off x="6144768" y="5623560"/>
            <a:ext cx="5193792" cy="566928"/>
          </a:xfrm>
          <a:prstGeom prst="roundRect">
            <a:avLst>
              <a:gd name="adj" fmla="val 6452"/>
            </a:avLst>
          </a:prstGeom>
          <a:solidFill>
            <a:srgbClr val="FFF3DF"/>
          </a:solidFill>
          <a:ln w="12700">
            <a:solidFill>
              <a:srgbClr val="FFC928"/>
            </a:solidFill>
            <a:prstDash val="solid"/>
          </a:ln>
        </p:spPr>
      </p:sp>
      <p:sp>
        <p:nvSpPr>
          <p:cNvPr id="27" name="Text 24"/>
          <p:cNvSpPr/>
          <p:nvPr/>
        </p:nvSpPr>
        <p:spPr>
          <a:xfrm>
            <a:off x="6345936"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C93C3C"/>
                </a:solidFill>
              </a:rPr>
              <a:t>WATCH-OUT  Do not guess SKU/count, skip the commit arrow, or post offline.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66928" y="384048"/>
            <a:ext cx="9966960" cy="438912"/>
          </a:xfrm>
          <a:prstGeom prst="rect">
            <a:avLst/>
          </a:prstGeom>
          <a:noFill/>
          <a:ln/>
        </p:spPr>
        <p:txBody>
          <a:bodyPr wrap="square" lIns="0" tIns="0" rIns="0" bIns="0" rtlCol="0" anchor="ctr">
            <a:normAutofit/>
          </a:bodyPr>
          <a:lstStyle/>
          <a:p>
            <a:pPr indent="0" marL="0">
              <a:buNone/>
            </a:pPr>
            <a:r>
              <a:rPr lang="en-US" sz="2500" b="1" dirty="0">
                <a:solidFill>
                  <a:srgbClr val="123247"/>
                </a:solidFill>
                <a:latin typeface="Aptos Display" pitchFamily="34" charset="0"/>
                <a:ea typeface="Aptos Display" pitchFamily="34" charset="-122"/>
                <a:cs typeface="Aptos Display" pitchFamily="34" charset="-120"/>
              </a:rPr>
              <a:t>Put-Away</a:t>
            </a:r>
            <a:endParaRPr lang="en-US" sz="2500" dirty="0"/>
          </a:p>
        </p:txBody>
      </p:sp>
      <p:sp>
        <p:nvSpPr>
          <p:cNvPr id="5" name="Text 2"/>
          <p:cNvSpPr/>
          <p:nvPr/>
        </p:nvSpPr>
        <p:spPr>
          <a:xfrm>
            <a:off x="10698480" y="438912"/>
            <a:ext cx="777240" cy="228600"/>
          </a:xfrm>
          <a:prstGeom prst="rect">
            <a:avLst/>
          </a:prstGeom>
          <a:noFill/>
          <a:ln/>
        </p:spPr>
        <p:txBody>
          <a:bodyPr wrap="square" lIns="0" tIns="0" rIns="0" bIns="0" rtlCol="0" anchor="ctr"/>
          <a:lstStyle/>
          <a:p>
            <a:pPr algn="r" indent="0" marL="0">
              <a:buNone/>
            </a:pPr>
            <a:r>
              <a:rPr lang="en-US" sz="900" b="1" dirty="0">
                <a:solidFill>
                  <a:srgbClr val="087B76"/>
                </a:solidFill>
              </a:rPr>
              <a:t>2 min</a:t>
            </a:r>
            <a:endParaRPr lang="en-US" sz="900" dirty="0"/>
          </a:p>
        </p:txBody>
      </p:sp>
      <p:sp>
        <p:nvSpPr>
          <p:cNvPr id="6" name="Text 3"/>
          <p:cNvSpPr/>
          <p:nvPr/>
        </p:nvSpPr>
        <p:spPr>
          <a:xfrm>
            <a:off x="585216" y="960120"/>
            <a:ext cx="4023360" cy="219456"/>
          </a:xfrm>
          <a:prstGeom prst="rect">
            <a:avLst/>
          </a:prstGeom>
          <a:noFill/>
          <a:ln/>
        </p:spPr>
        <p:txBody>
          <a:bodyPr wrap="square" lIns="0" tIns="0" rIns="0" bIns="0" rtlCol="0" anchor="ctr"/>
          <a:lstStyle/>
          <a:p>
            <a:pPr indent="0" marL="0">
              <a:buNone/>
            </a:pPr>
            <a:r>
              <a:rPr lang="en-US" sz="1000" b="1" spc="130" kern="0" dirty="0">
                <a:solidFill>
                  <a:srgbClr val="F47C20"/>
                </a:solidFill>
              </a:rPr>
              <a:t>INBOUND + STORAGE</a:t>
            </a:r>
            <a:endParaRPr lang="en-US" sz="1000" dirty="0"/>
          </a:p>
        </p:txBody>
      </p:sp>
      <p:sp>
        <p:nvSpPr>
          <p:cNvPr id="7" name="Text 4"/>
          <p:cNvSpPr/>
          <p:nvPr/>
        </p:nvSpPr>
        <p:spPr>
          <a:xfrm>
            <a:off x="566928" y="6473952"/>
            <a:ext cx="1097280" cy="182880"/>
          </a:xfrm>
          <a:prstGeom prst="rect">
            <a:avLst/>
          </a:prstGeom>
          <a:noFill/>
          <a:ln/>
        </p:spPr>
        <p:txBody>
          <a:bodyPr wrap="square" lIns="0" tIns="0" rIns="0" bIns="0" rtlCol="0" anchor="ctr"/>
          <a:lstStyle/>
          <a:p>
            <a:pPr indent="0" marL="0">
              <a:buNone/>
            </a:pPr>
            <a:r>
              <a:rPr lang="en-US" sz="800" dirty="0">
                <a:solidFill>
                  <a:srgbClr val="667985"/>
                </a:solidFill>
              </a:rPr>
              <a:t>Product 1.27</a:t>
            </a:r>
            <a:endParaRPr lang="en-US" sz="800" dirty="0"/>
          </a:p>
        </p:txBody>
      </p:sp>
      <p:sp>
        <p:nvSpPr>
          <p:cNvPr id="8" name="Text 5"/>
          <p:cNvSpPr/>
          <p:nvPr/>
        </p:nvSpPr>
        <p:spPr>
          <a:xfrm>
            <a:off x="10789920" y="6473952"/>
            <a:ext cx="731520" cy="182880"/>
          </a:xfrm>
          <a:prstGeom prst="rect">
            <a:avLst/>
          </a:prstGeom>
          <a:noFill/>
          <a:ln/>
        </p:spPr>
        <p:txBody>
          <a:bodyPr wrap="square" lIns="0" tIns="0" rIns="0" bIns="0" rtlCol="0" anchor="ctr"/>
          <a:lstStyle/>
          <a:p>
            <a:pPr algn="r" indent="0" marL="0">
              <a:buNone/>
            </a:pPr>
            <a:r>
              <a:rPr lang="en-US" sz="800" dirty="0">
                <a:solidFill>
                  <a:srgbClr val="667985"/>
                </a:solidFill>
              </a:rPr>
              <a:t>12 / 28</a:t>
            </a:r>
            <a:endParaRPr lang="en-US" sz="800" dirty="0"/>
          </a:p>
        </p:txBody>
      </p:sp>
      <p:sp>
        <p:nvSpPr>
          <p:cNvPr id="9" name="Shape 6"/>
          <p:cNvSpPr/>
          <p:nvPr/>
        </p:nvSpPr>
        <p:spPr>
          <a:xfrm>
            <a:off x="658368" y="1353312"/>
            <a:ext cx="10835640" cy="914400"/>
          </a:xfrm>
          <a:prstGeom prst="roundRect">
            <a:avLst>
              <a:gd name="adj" fmla="val 5000"/>
            </a:avLst>
          </a:prstGeom>
          <a:solidFill>
            <a:srgbClr val="EFF7F7"/>
          </a:solidFill>
          <a:ln w="15240">
            <a:solidFill>
              <a:srgbClr val="0F9D96"/>
            </a:solidFill>
            <a:prstDash val="solid"/>
          </a:ln>
        </p:spPr>
      </p:sp>
      <p:sp>
        <p:nvSpPr>
          <p:cNvPr id="10" name="Text 7"/>
          <p:cNvSpPr/>
          <p:nvPr/>
        </p:nvSpPr>
        <p:spPr>
          <a:xfrm>
            <a:off x="914400" y="1609344"/>
            <a:ext cx="1280160" cy="228600"/>
          </a:xfrm>
          <a:prstGeom prst="rect">
            <a:avLst/>
          </a:prstGeom>
          <a:noFill/>
          <a:ln/>
        </p:spPr>
        <p:txBody>
          <a:bodyPr wrap="square" lIns="0" tIns="0" rIns="0" bIns="0" rtlCol="0" anchor="ctr"/>
          <a:lstStyle/>
          <a:p>
            <a:pPr indent="0" marL="0">
              <a:buNone/>
            </a:pPr>
            <a:r>
              <a:rPr lang="en-US" sz="1100" b="1" spc="100" kern="0" dirty="0">
                <a:solidFill>
                  <a:srgbClr val="087B76"/>
                </a:solidFill>
              </a:rPr>
              <a:t>WHAT LIVES HERE</a:t>
            </a:r>
            <a:endParaRPr lang="en-US" sz="1100" dirty="0"/>
          </a:p>
        </p:txBody>
      </p:sp>
      <p:sp>
        <p:nvSpPr>
          <p:cNvPr id="11" name="Text 8"/>
          <p:cNvSpPr/>
          <p:nvPr/>
        </p:nvSpPr>
        <p:spPr>
          <a:xfrm>
            <a:off x="2423160" y="1536192"/>
            <a:ext cx="8641080" cy="384048"/>
          </a:xfrm>
          <a:prstGeom prst="rect">
            <a:avLst/>
          </a:prstGeom>
          <a:noFill/>
          <a:ln/>
        </p:spPr>
        <p:txBody>
          <a:bodyPr wrap="square" lIns="0" tIns="0" rIns="0" bIns="0" rtlCol="0" anchor="ctr">
            <a:normAutofit/>
          </a:bodyPr>
          <a:lstStyle/>
          <a:p>
            <a:pPr indent="0" marL="0">
              <a:buNone/>
            </a:pPr>
            <a:r>
              <a:rPr lang="en-US" sz="2000" b="1" dirty="0">
                <a:solidFill>
                  <a:srgbClr val="123247"/>
                </a:solidFill>
              </a:rPr>
              <a:t>Store one identified pallet in one exact eligible cell and make it available.</a:t>
            </a:r>
            <a:endParaRPr lang="en-US" sz="2000" dirty="0"/>
          </a:p>
        </p:txBody>
      </p:sp>
      <p:sp>
        <p:nvSpPr>
          <p:cNvPr id="12" name="Text 9"/>
          <p:cNvSpPr/>
          <p:nvPr/>
        </p:nvSpPr>
        <p:spPr>
          <a:xfrm>
            <a:off x="786384" y="2578608"/>
            <a:ext cx="2103120" cy="228600"/>
          </a:xfrm>
          <a:prstGeom prst="rect">
            <a:avLst/>
          </a:prstGeom>
          <a:noFill/>
          <a:ln/>
        </p:spPr>
        <p:txBody>
          <a:bodyPr wrap="square" lIns="0" tIns="0" rIns="0" bIns="0" rtlCol="0" anchor="ctr"/>
          <a:lstStyle/>
          <a:p>
            <a:pPr indent="0" marL="0">
              <a:buNone/>
            </a:pPr>
            <a:r>
              <a:rPr lang="en-US" sz="1100" b="1" spc="80" kern="0" dirty="0">
                <a:solidFill>
                  <a:srgbClr val="F47C20"/>
                </a:solidFill>
              </a:rPr>
              <a:t>WHO USUALLY WORKS HERE</a:t>
            </a:r>
            <a:endParaRPr lang="en-US" sz="1100" dirty="0"/>
          </a:p>
        </p:txBody>
      </p:sp>
      <p:sp>
        <p:nvSpPr>
          <p:cNvPr id="13" name="Text 10"/>
          <p:cNvSpPr/>
          <p:nvPr/>
        </p:nvSpPr>
        <p:spPr>
          <a:xfrm>
            <a:off x="3063240" y="2542032"/>
            <a:ext cx="7818120" cy="292608"/>
          </a:xfrm>
          <a:prstGeom prst="rect">
            <a:avLst/>
          </a:prstGeom>
          <a:noFill/>
          <a:ln/>
        </p:spPr>
        <p:txBody>
          <a:bodyPr wrap="square" lIns="0" tIns="0" rIns="0" bIns="0" rtlCol="0" anchor="ctr">
            <a:normAutofit/>
          </a:bodyPr>
          <a:lstStyle/>
          <a:p>
            <a:pPr indent="0" marL="0">
              <a:buNone/>
            </a:pPr>
            <a:r>
              <a:rPr lang="en-US" sz="1600" b="1" dirty="0">
                <a:solidFill>
                  <a:srgbClr val="16303D"/>
                </a:solidFill>
              </a:rPr>
              <a:t>Admins · Managers · Clerks · Operators</a:t>
            </a:r>
            <a:endParaRPr lang="en-US" sz="1600" dirty="0"/>
          </a:p>
        </p:txBody>
      </p:sp>
      <p:sp>
        <p:nvSpPr>
          <p:cNvPr id="14" name="Text 11"/>
          <p:cNvSpPr/>
          <p:nvPr/>
        </p:nvSpPr>
        <p:spPr>
          <a:xfrm>
            <a:off x="786384" y="3127248"/>
            <a:ext cx="2286000" cy="228600"/>
          </a:xfrm>
          <a:prstGeom prst="rect">
            <a:avLst/>
          </a:prstGeom>
          <a:noFill/>
          <a:ln/>
        </p:spPr>
        <p:txBody>
          <a:bodyPr wrap="square" lIns="0" tIns="0" rIns="0" bIns="0" rtlCol="0" anchor="ctr"/>
          <a:lstStyle/>
          <a:p>
            <a:pPr indent="0" marL="0">
              <a:buNone/>
            </a:pPr>
            <a:r>
              <a:rPr lang="en-US" sz="1100" b="1" spc="80" kern="0" dirty="0">
                <a:solidFill>
                  <a:srgbClr val="087B76"/>
                </a:solidFill>
              </a:rPr>
              <a:t>A NORMAL VISIT LOOKS LIKE</a:t>
            </a:r>
            <a:endParaRPr lang="en-US" sz="1100" dirty="0"/>
          </a:p>
        </p:txBody>
      </p:sp>
      <p:sp>
        <p:nvSpPr>
          <p:cNvPr id="15" name="Shape 12"/>
          <p:cNvSpPr/>
          <p:nvPr/>
        </p:nvSpPr>
        <p:spPr>
          <a:xfrm>
            <a:off x="914400" y="3566160"/>
            <a:ext cx="384048" cy="384048"/>
          </a:xfrm>
          <a:prstGeom prst="ellipse">
            <a:avLst/>
          </a:prstGeom>
          <a:solidFill>
            <a:srgbClr val="0F9D96"/>
          </a:solidFill>
          <a:ln w="12700">
            <a:solidFill>
              <a:srgbClr val="FFFFFF"/>
            </a:solidFill>
            <a:prstDash val="solid"/>
          </a:ln>
        </p:spPr>
      </p:sp>
      <p:sp>
        <p:nvSpPr>
          <p:cNvPr id="16" name="Text 13"/>
          <p:cNvSpPr/>
          <p:nvPr/>
        </p:nvSpPr>
        <p:spPr>
          <a:xfrm>
            <a:off x="914400" y="3657600"/>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7" name="Text 14"/>
          <p:cNvSpPr/>
          <p:nvPr/>
        </p:nvSpPr>
        <p:spPr>
          <a:xfrm>
            <a:off x="1508760" y="3593592"/>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Select task and scan pallet</a:t>
            </a:r>
            <a:endParaRPr lang="en-US" sz="1700" dirty="0"/>
          </a:p>
        </p:txBody>
      </p:sp>
      <p:sp>
        <p:nvSpPr>
          <p:cNvPr id="18" name="Shape 15"/>
          <p:cNvSpPr/>
          <p:nvPr/>
        </p:nvSpPr>
        <p:spPr>
          <a:xfrm>
            <a:off x="914400" y="4224528"/>
            <a:ext cx="384048" cy="384048"/>
          </a:xfrm>
          <a:prstGeom prst="ellipse">
            <a:avLst/>
          </a:prstGeom>
          <a:solidFill>
            <a:srgbClr val="0F9D96"/>
          </a:solidFill>
          <a:ln w="12700">
            <a:solidFill>
              <a:srgbClr val="FFFFFF"/>
            </a:solidFill>
            <a:prstDash val="solid"/>
          </a:ln>
        </p:spPr>
      </p:sp>
      <p:sp>
        <p:nvSpPr>
          <p:cNvPr id="19" name="Text 16"/>
          <p:cNvSpPr/>
          <p:nvPr/>
        </p:nvSpPr>
        <p:spPr>
          <a:xfrm>
            <a:off x="914400" y="4315968"/>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0" name="Text 17"/>
          <p:cNvSpPr/>
          <p:nvPr/>
        </p:nvSpPr>
        <p:spPr>
          <a:xfrm>
            <a:off x="1508760" y="4251960"/>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Scan exact location or select exact bay cell</a:t>
            </a:r>
            <a:endParaRPr lang="en-US" sz="1700" dirty="0"/>
          </a:p>
        </p:txBody>
      </p:sp>
      <p:sp>
        <p:nvSpPr>
          <p:cNvPr id="21" name="Shape 18"/>
          <p:cNvSpPr/>
          <p:nvPr/>
        </p:nvSpPr>
        <p:spPr>
          <a:xfrm>
            <a:off x="914400" y="4882896"/>
            <a:ext cx="384048" cy="384048"/>
          </a:xfrm>
          <a:prstGeom prst="ellipse">
            <a:avLst/>
          </a:prstGeom>
          <a:solidFill>
            <a:srgbClr val="F47C20"/>
          </a:solidFill>
          <a:ln w="12700">
            <a:solidFill>
              <a:srgbClr val="FFFFFF"/>
            </a:solidFill>
            <a:prstDash val="solid"/>
          </a:ln>
        </p:spPr>
      </p:sp>
      <p:sp>
        <p:nvSpPr>
          <p:cNvPr id="22" name="Text 19"/>
          <p:cNvSpPr/>
          <p:nvPr/>
        </p:nvSpPr>
        <p:spPr>
          <a:xfrm>
            <a:off x="914400" y="4974336"/>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3" name="Text 20"/>
          <p:cNvSpPr/>
          <p:nvPr/>
        </p:nvSpPr>
        <p:spPr>
          <a:xfrm>
            <a:off x="1508760" y="4910328"/>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Verify safety/capacity/temperature → place → confirm once</a:t>
            </a:r>
            <a:endParaRPr lang="en-US" sz="1700" dirty="0"/>
          </a:p>
        </p:txBody>
      </p:sp>
      <p:sp>
        <p:nvSpPr>
          <p:cNvPr id="24" name="Shape 21"/>
          <p:cNvSpPr/>
          <p:nvPr/>
        </p:nvSpPr>
        <p:spPr>
          <a:xfrm>
            <a:off x="713232" y="5623560"/>
            <a:ext cx="5193792" cy="566928"/>
          </a:xfrm>
          <a:prstGeom prst="roundRect">
            <a:avLst>
              <a:gd name="adj" fmla="val 6452"/>
            </a:avLst>
          </a:prstGeom>
          <a:solidFill>
            <a:srgbClr val="EFF7F7"/>
          </a:solidFill>
          <a:ln w="12700">
            <a:solidFill>
              <a:srgbClr val="D7E2E6"/>
            </a:solidFill>
            <a:prstDash val="solid"/>
          </a:ln>
        </p:spPr>
      </p:sp>
      <p:sp>
        <p:nvSpPr>
          <p:cNvPr id="25" name="Text 22"/>
          <p:cNvSpPr/>
          <p:nvPr/>
        </p:nvSpPr>
        <p:spPr>
          <a:xfrm>
            <a:off x="914400"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087B76"/>
                </a:solidFill>
              </a:rPr>
              <a:t>WHAT HAPPENS NEXT  Task clears and Inventory Search shows the stored location.</a:t>
            </a:r>
            <a:endParaRPr lang="en-US" sz="1150" dirty="0"/>
          </a:p>
        </p:txBody>
      </p:sp>
      <p:sp>
        <p:nvSpPr>
          <p:cNvPr id="26" name="Shape 23"/>
          <p:cNvSpPr/>
          <p:nvPr/>
        </p:nvSpPr>
        <p:spPr>
          <a:xfrm>
            <a:off x="6144768" y="5623560"/>
            <a:ext cx="5193792" cy="566928"/>
          </a:xfrm>
          <a:prstGeom prst="roundRect">
            <a:avLst>
              <a:gd name="adj" fmla="val 6452"/>
            </a:avLst>
          </a:prstGeom>
          <a:solidFill>
            <a:srgbClr val="FFF3DF"/>
          </a:solidFill>
          <a:ln w="12700">
            <a:solidFill>
              <a:srgbClr val="FFC928"/>
            </a:solidFill>
            <a:prstDash val="solid"/>
          </a:ln>
        </p:spPr>
      </p:sp>
      <p:sp>
        <p:nvSpPr>
          <p:cNvPr id="27" name="Text 24"/>
          <p:cNvSpPr/>
          <p:nvPr/>
        </p:nvSpPr>
        <p:spPr>
          <a:xfrm>
            <a:off x="6345936"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C93C3C"/>
                </a:solidFill>
              </a:rPr>
              <a:t>WATCH-OUT  A bay code is not final; never force a blocked or stale destination.</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66928" y="384048"/>
            <a:ext cx="9966960" cy="438912"/>
          </a:xfrm>
          <a:prstGeom prst="rect">
            <a:avLst/>
          </a:prstGeom>
          <a:noFill/>
          <a:ln/>
        </p:spPr>
        <p:txBody>
          <a:bodyPr wrap="square" lIns="0" tIns="0" rIns="0" bIns="0" rtlCol="0" anchor="ctr">
            <a:normAutofit/>
          </a:bodyPr>
          <a:lstStyle/>
          <a:p>
            <a:pPr indent="0" marL="0">
              <a:buNone/>
            </a:pPr>
            <a:r>
              <a:rPr lang="en-US" sz="2500" b="1" dirty="0">
                <a:solidFill>
                  <a:srgbClr val="123247"/>
                </a:solidFill>
                <a:latin typeface="Aptos Display" pitchFamily="34" charset="0"/>
                <a:ea typeface="Aptos Display" pitchFamily="34" charset="-122"/>
                <a:cs typeface="Aptos Display" pitchFamily="34" charset="-120"/>
              </a:rPr>
              <a:t>Inventory Search</a:t>
            </a:r>
            <a:endParaRPr lang="en-US" sz="2500" dirty="0"/>
          </a:p>
        </p:txBody>
      </p:sp>
      <p:sp>
        <p:nvSpPr>
          <p:cNvPr id="5" name="Text 2"/>
          <p:cNvSpPr/>
          <p:nvPr/>
        </p:nvSpPr>
        <p:spPr>
          <a:xfrm>
            <a:off x="10698480" y="438912"/>
            <a:ext cx="777240" cy="228600"/>
          </a:xfrm>
          <a:prstGeom prst="rect">
            <a:avLst/>
          </a:prstGeom>
          <a:noFill/>
          <a:ln/>
        </p:spPr>
        <p:txBody>
          <a:bodyPr wrap="square" lIns="0" tIns="0" rIns="0" bIns="0" rtlCol="0" anchor="ctr"/>
          <a:lstStyle/>
          <a:p>
            <a:pPr algn="r" indent="0" marL="0">
              <a:buNone/>
            </a:pPr>
            <a:r>
              <a:rPr lang="en-US" sz="900" b="1" dirty="0">
                <a:solidFill>
                  <a:srgbClr val="087B76"/>
                </a:solidFill>
              </a:rPr>
              <a:t>2 min</a:t>
            </a:r>
            <a:endParaRPr lang="en-US" sz="900" dirty="0"/>
          </a:p>
        </p:txBody>
      </p:sp>
      <p:sp>
        <p:nvSpPr>
          <p:cNvPr id="6" name="Text 3"/>
          <p:cNvSpPr/>
          <p:nvPr/>
        </p:nvSpPr>
        <p:spPr>
          <a:xfrm>
            <a:off x="585216" y="960120"/>
            <a:ext cx="4023360" cy="219456"/>
          </a:xfrm>
          <a:prstGeom prst="rect">
            <a:avLst/>
          </a:prstGeom>
          <a:noFill/>
          <a:ln/>
        </p:spPr>
        <p:txBody>
          <a:bodyPr wrap="square" lIns="0" tIns="0" rIns="0" bIns="0" rtlCol="0" anchor="ctr"/>
          <a:lstStyle/>
          <a:p>
            <a:pPr indent="0" marL="0">
              <a:buNone/>
            </a:pPr>
            <a:r>
              <a:rPr lang="en-US" sz="1000" b="1" spc="130" kern="0" dirty="0">
                <a:solidFill>
                  <a:srgbClr val="F47C20"/>
                </a:solidFill>
              </a:rPr>
              <a:t>INVENTORY CONTROL</a:t>
            </a:r>
            <a:endParaRPr lang="en-US" sz="1000" dirty="0"/>
          </a:p>
        </p:txBody>
      </p:sp>
      <p:sp>
        <p:nvSpPr>
          <p:cNvPr id="7" name="Text 4"/>
          <p:cNvSpPr/>
          <p:nvPr/>
        </p:nvSpPr>
        <p:spPr>
          <a:xfrm>
            <a:off x="566928" y="6473952"/>
            <a:ext cx="1097280" cy="182880"/>
          </a:xfrm>
          <a:prstGeom prst="rect">
            <a:avLst/>
          </a:prstGeom>
          <a:noFill/>
          <a:ln/>
        </p:spPr>
        <p:txBody>
          <a:bodyPr wrap="square" lIns="0" tIns="0" rIns="0" bIns="0" rtlCol="0" anchor="ctr"/>
          <a:lstStyle/>
          <a:p>
            <a:pPr indent="0" marL="0">
              <a:buNone/>
            </a:pPr>
            <a:r>
              <a:rPr lang="en-US" sz="800" dirty="0">
                <a:solidFill>
                  <a:srgbClr val="667985"/>
                </a:solidFill>
              </a:rPr>
              <a:t>Product 1.27</a:t>
            </a:r>
            <a:endParaRPr lang="en-US" sz="800" dirty="0"/>
          </a:p>
        </p:txBody>
      </p:sp>
      <p:sp>
        <p:nvSpPr>
          <p:cNvPr id="8" name="Text 5"/>
          <p:cNvSpPr/>
          <p:nvPr/>
        </p:nvSpPr>
        <p:spPr>
          <a:xfrm>
            <a:off x="10789920" y="6473952"/>
            <a:ext cx="731520" cy="182880"/>
          </a:xfrm>
          <a:prstGeom prst="rect">
            <a:avLst/>
          </a:prstGeom>
          <a:noFill/>
          <a:ln/>
        </p:spPr>
        <p:txBody>
          <a:bodyPr wrap="square" lIns="0" tIns="0" rIns="0" bIns="0" rtlCol="0" anchor="ctr"/>
          <a:lstStyle/>
          <a:p>
            <a:pPr algn="r" indent="0" marL="0">
              <a:buNone/>
            </a:pPr>
            <a:r>
              <a:rPr lang="en-US" sz="800" dirty="0">
                <a:solidFill>
                  <a:srgbClr val="667985"/>
                </a:solidFill>
              </a:rPr>
              <a:t>13 / 28</a:t>
            </a:r>
            <a:endParaRPr lang="en-US" sz="800" dirty="0"/>
          </a:p>
        </p:txBody>
      </p:sp>
      <p:sp>
        <p:nvSpPr>
          <p:cNvPr id="9" name="Shape 6"/>
          <p:cNvSpPr/>
          <p:nvPr/>
        </p:nvSpPr>
        <p:spPr>
          <a:xfrm>
            <a:off x="658368" y="1353312"/>
            <a:ext cx="10835640" cy="914400"/>
          </a:xfrm>
          <a:prstGeom prst="roundRect">
            <a:avLst>
              <a:gd name="adj" fmla="val 5000"/>
            </a:avLst>
          </a:prstGeom>
          <a:solidFill>
            <a:srgbClr val="EFF7F7"/>
          </a:solidFill>
          <a:ln w="15240">
            <a:solidFill>
              <a:srgbClr val="0F9D96"/>
            </a:solidFill>
            <a:prstDash val="solid"/>
          </a:ln>
        </p:spPr>
      </p:sp>
      <p:sp>
        <p:nvSpPr>
          <p:cNvPr id="10" name="Text 7"/>
          <p:cNvSpPr/>
          <p:nvPr/>
        </p:nvSpPr>
        <p:spPr>
          <a:xfrm>
            <a:off x="914400" y="1609344"/>
            <a:ext cx="1280160" cy="228600"/>
          </a:xfrm>
          <a:prstGeom prst="rect">
            <a:avLst/>
          </a:prstGeom>
          <a:noFill/>
          <a:ln/>
        </p:spPr>
        <p:txBody>
          <a:bodyPr wrap="square" lIns="0" tIns="0" rIns="0" bIns="0" rtlCol="0" anchor="ctr"/>
          <a:lstStyle/>
          <a:p>
            <a:pPr indent="0" marL="0">
              <a:buNone/>
            </a:pPr>
            <a:r>
              <a:rPr lang="en-US" sz="1100" b="1" spc="100" kern="0" dirty="0">
                <a:solidFill>
                  <a:srgbClr val="087B76"/>
                </a:solidFill>
              </a:rPr>
              <a:t>WHAT LIVES HERE</a:t>
            </a:r>
            <a:endParaRPr lang="en-US" sz="1100" dirty="0"/>
          </a:p>
        </p:txBody>
      </p:sp>
      <p:sp>
        <p:nvSpPr>
          <p:cNvPr id="11" name="Text 8"/>
          <p:cNvSpPr/>
          <p:nvPr/>
        </p:nvSpPr>
        <p:spPr>
          <a:xfrm>
            <a:off x="2423160" y="1536192"/>
            <a:ext cx="8641080" cy="384048"/>
          </a:xfrm>
          <a:prstGeom prst="rect">
            <a:avLst/>
          </a:prstGeom>
          <a:noFill/>
          <a:ln/>
        </p:spPr>
        <p:txBody>
          <a:bodyPr wrap="square" lIns="0" tIns="0" rIns="0" bIns="0" rtlCol="0" anchor="ctr">
            <a:normAutofit/>
          </a:bodyPr>
          <a:lstStyle/>
          <a:p>
            <a:pPr indent="0" marL="0">
              <a:buNone/>
            </a:pPr>
            <a:r>
              <a:rPr lang="en-US" sz="2000" b="1" dirty="0">
                <a:solidFill>
                  <a:srgbClr val="123247"/>
                </a:solidFill>
              </a:rPr>
              <a:t>Provide the live pallet truth: quantity, status, owner, lot, location, and history.</a:t>
            </a:r>
            <a:endParaRPr lang="en-US" sz="2000" dirty="0"/>
          </a:p>
        </p:txBody>
      </p:sp>
      <p:sp>
        <p:nvSpPr>
          <p:cNvPr id="12" name="Text 9"/>
          <p:cNvSpPr/>
          <p:nvPr/>
        </p:nvSpPr>
        <p:spPr>
          <a:xfrm>
            <a:off x="786384" y="2578608"/>
            <a:ext cx="2103120" cy="228600"/>
          </a:xfrm>
          <a:prstGeom prst="rect">
            <a:avLst/>
          </a:prstGeom>
          <a:noFill/>
          <a:ln/>
        </p:spPr>
        <p:txBody>
          <a:bodyPr wrap="square" lIns="0" tIns="0" rIns="0" bIns="0" rtlCol="0" anchor="ctr"/>
          <a:lstStyle/>
          <a:p>
            <a:pPr indent="0" marL="0">
              <a:buNone/>
            </a:pPr>
            <a:r>
              <a:rPr lang="en-US" sz="1100" b="1" spc="80" kern="0" dirty="0">
                <a:solidFill>
                  <a:srgbClr val="F47C20"/>
                </a:solidFill>
              </a:rPr>
              <a:t>WHO USUALLY WORKS HERE</a:t>
            </a:r>
            <a:endParaRPr lang="en-US" sz="1100" dirty="0"/>
          </a:p>
        </p:txBody>
      </p:sp>
      <p:sp>
        <p:nvSpPr>
          <p:cNvPr id="13" name="Text 10"/>
          <p:cNvSpPr/>
          <p:nvPr/>
        </p:nvSpPr>
        <p:spPr>
          <a:xfrm>
            <a:off x="3063240" y="2542032"/>
            <a:ext cx="7818120" cy="292608"/>
          </a:xfrm>
          <a:prstGeom prst="rect">
            <a:avLst/>
          </a:prstGeom>
          <a:noFill/>
          <a:ln/>
        </p:spPr>
        <p:txBody>
          <a:bodyPr wrap="square" lIns="0" tIns="0" rIns="0" bIns="0" rtlCol="0" anchor="ctr">
            <a:normAutofit/>
          </a:bodyPr>
          <a:lstStyle/>
          <a:p>
            <a:pPr indent="0" marL="0">
              <a:buNone/>
            </a:pPr>
            <a:r>
              <a:rPr lang="en-US" sz="1600" b="1" dirty="0">
                <a:solidFill>
                  <a:srgbClr val="16303D"/>
                </a:solidFill>
              </a:rPr>
              <a:t>All approved operational roles</a:t>
            </a:r>
            <a:endParaRPr lang="en-US" sz="1600" dirty="0"/>
          </a:p>
        </p:txBody>
      </p:sp>
      <p:sp>
        <p:nvSpPr>
          <p:cNvPr id="14" name="Text 11"/>
          <p:cNvSpPr/>
          <p:nvPr/>
        </p:nvSpPr>
        <p:spPr>
          <a:xfrm>
            <a:off x="786384" y="3127248"/>
            <a:ext cx="2286000" cy="228600"/>
          </a:xfrm>
          <a:prstGeom prst="rect">
            <a:avLst/>
          </a:prstGeom>
          <a:noFill/>
          <a:ln/>
        </p:spPr>
        <p:txBody>
          <a:bodyPr wrap="square" lIns="0" tIns="0" rIns="0" bIns="0" rtlCol="0" anchor="ctr"/>
          <a:lstStyle/>
          <a:p>
            <a:pPr indent="0" marL="0">
              <a:buNone/>
            </a:pPr>
            <a:r>
              <a:rPr lang="en-US" sz="1100" b="1" spc="80" kern="0" dirty="0">
                <a:solidFill>
                  <a:srgbClr val="087B76"/>
                </a:solidFill>
              </a:rPr>
              <a:t>A NORMAL VISIT LOOKS LIKE</a:t>
            </a:r>
            <a:endParaRPr lang="en-US" sz="1100" dirty="0"/>
          </a:p>
        </p:txBody>
      </p:sp>
      <p:sp>
        <p:nvSpPr>
          <p:cNvPr id="15" name="Shape 12"/>
          <p:cNvSpPr/>
          <p:nvPr/>
        </p:nvSpPr>
        <p:spPr>
          <a:xfrm>
            <a:off x="914400" y="3566160"/>
            <a:ext cx="384048" cy="384048"/>
          </a:xfrm>
          <a:prstGeom prst="ellipse">
            <a:avLst/>
          </a:prstGeom>
          <a:solidFill>
            <a:srgbClr val="0F9D96"/>
          </a:solidFill>
          <a:ln w="12700">
            <a:solidFill>
              <a:srgbClr val="FFFFFF"/>
            </a:solidFill>
            <a:prstDash val="solid"/>
          </a:ln>
        </p:spPr>
      </p:sp>
      <p:sp>
        <p:nvSpPr>
          <p:cNvPr id="16" name="Text 13"/>
          <p:cNvSpPr/>
          <p:nvPr/>
        </p:nvSpPr>
        <p:spPr>
          <a:xfrm>
            <a:off x="914400" y="3657600"/>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7" name="Text 14"/>
          <p:cNvSpPr/>
          <p:nvPr/>
        </p:nvSpPr>
        <p:spPr>
          <a:xfrm>
            <a:off x="1508760" y="3593592"/>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Search pallet, SKU, lot, warehouse, zone, or location</a:t>
            </a:r>
            <a:endParaRPr lang="en-US" sz="1700" dirty="0"/>
          </a:p>
        </p:txBody>
      </p:sp>
      <p:sp>
        <p:nvSpPr>
          <p:cNvPr id="18" name="Shape 15"/>
          <p:cNvSpPr/>
          <p:nvPr/>
        </p:nvSpPr>
        <p:spPr>
          <a:xfrm>
            <a:off x="914400" y="4224528"/>
            <a:ext cx="384048" cy="384048"/>
          </a:xfrm>
          <a:prstGeom prst="ellipse">
            <a:avLst/>
          </a:prstGeom>
          <a:solidFill>
            <a:srgbClr val="0F9D96"/>
          </a:solidFill>
          <a:ln w="12700">
            <a:solidFill>
              <a:srgbClr val="FFFFFF"/>
            </a:solidFill>
            <a:prstDash val="solid"/>
          </a:ln>
        </p:spPr>
      </p:sp>
      <p:sp>
        <p:nvSpPr>
          <p:cNvPr id="19" name="Text 16"/>
          <p:cNvSpPr/>
          <p:nvPr/>
        </p:nvSpPr>
        <p:spPr>
          <a:xfrm>
            <a:off x="914400" y="4315968"/>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0" name="Text 17"/>
          <p:cNvSpPr/>
          <p:nvPr/>
        </p:nvSpPr>
        <p:spPr>
          <a:xfrm>
            <a:off x="1508760" y="4251960"/>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Open detail and movement history</a:t>
            </a:r>
            <a:endParaRPr lang="en-US" sz="1700" dirty="0"/>
          </a:p>
        </p:txBody>
      </p:sp>
      <p:sp>
        <p:nvSpPr>
          <p:cNvPr id="21" name="Shape 18"/>
          <p:cNvSpPr/>
          <p:nvPr/>
        </p:nvSpPr>
        <p:spPr>
          <a:xfrm>
            <a:off x="914400" y="4882896"/>
            <a:ext cx="384048" cy="384048"/>
          </a:xfrm>
          <a:prstGeom prst="ellipse">
            <a:avLst/>
          </a:prstGeom>
          <a:solidFill>
            <a:srgbClr val="F47C20"/>
          </a:solidFill>
          <a:ln w="12700">
            <a:solidFill>
              <a:srgbClr val="FFFFFF"/>
            </a:solidFill>
            <a:prstDash val="solid"/>
          </a:ln>
        </p:spPr>
      </p:sp>
      <p:sp>
        <p:nvSpPr>
          <p:cNvPr id="22" name="Text 19"/>
          <p:cNvSpPr/>
          <p:nvPr/>
        </p:nvSpPr>
        <p:spPr>
          <a:xfrm>
            <a:off x="914400" y="4974336"/>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3" name="Text 20"/>
          <p:cNvSpPr/>
          <p:nvPr/>
        </p:nvSpPr>
        <p:spPr>
          <a:xfrm>
            <a:off x="1508760" y="4910328"/>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Compare the record with the physical floor</a:t>
            </a:r>
            <a:endParaRPr lang="en-US" sz="1700" dirty="0"/>
          </a:p>
        </p:txBody>
      </p:sp>
      <p:sp>
        <p:nvSpPr>
          <p:cNvPr id="24" name="Shape 21"/>
          <p:cNvSpPr/>
          <p:nvPr/>
        </p:nvSpPr>
        <p:spPr>
          <a:xfrm>
            <a:off x="713232" y="5623560"/>
            <a:ext cx="5193792" cy="566928"/>
          </a:xfrm>
          <a:prstGeom prst="roundRect">
            <a:avLst>
              <a:gd name="adj" fmla="val 6452"/>
            </a:avLst>
          </a:prstGeom>
          <a:solidFill>
            <a:srgbClr val="EFF7F7"/>
          </a:solidFill>
          <a:ln w="12700">
            <a:solidFill>
              <a:srgbClr val="D7E2E6"/>
            </a:solidFill>
            <a:prstDash val="solid"/>
          </a:ln>
        </p:spPr>
      </p:sp>
      <p:sp>
        <p:nvSpPr>
          <p:cNvPr id="25" name="Text 22"/>
          <p:cNvSpPr/>
          <p:nvPr/>
        </p:nvSpPr>
        <p:spPr>
          <a:xfrm>
            <a:off x="914400"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087B76"/>
                </a:solidFill>
              </a:rPr>
              <a:t>WHAT HAPPENS NEXT  Verified facts justify the next pick, move, transfer, status, or count action.</a:t>
            </a:r>
            <a:endParaRPr lang="en-US" sz="1150" dirty="0"/>
          </a:p>
        </p:txBody>
      </p:sp>
      <p:sp>
        <p:nvSpPr>
          <p:cNvPr id="26" name="Shape 23"/>
          <p:cNvSpPr/>
          <p:nvPr/>
        </p:nvSpPr>
        <p:spPr>
          <a:xfrm>
            <a:off x="6144768" y="5623560"/>
            <a:ext cx="5193792" cy="566928"/>
          </a:xfrm>
          <a:prstGeom prst="roundRect">
            <a:avLst>
              <a:gd name="adj" fmla="val 6452"/>
            </a:avLst>
          </a:prstGeom>
          <a:solidFill>
            <a:srgbClr val="FFF3DF"/>
          </a:solidFill>
          <a:ln w="12700">
            <a:solidFill>
              <a:srgbClr val="FFC928"/>
            </a:solidFill>
            <a:prstDash val="solid"/>
          </a:ln>
        </p:spPr>
      </p:sp>
      <p:sp>
        <p:nvSpPr>
          <p:cNvPr id="27" name="Text 24"/>
          <p:cNvSpPr/>
          <p:nvPr/>
        </p:nvSpPr>
        <p:spPr>
          <a:xfrm>
            <a:off x="6345936"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C93C3C"/>
                </a:solidFill>
              </a:rPr>
              <a:t>WATCH-OUT  Do not act from memory, paper, dashboard totals, or hidden filters.</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66928" y="384048"/>
            <a:ext cx="9966960" cy="438912"/>
          </a:xfrm>
          <a:prstGeom prst="rect">
            <a:avLst/>
          </a:prstGeom>
          <a:noFill/>
          <a:ln/>
        </p:spPr>
        <p:txBody>
          <a:bodyPr wrap="square" lIns="0" tIns="0" rIns="0" bIns="0" rtlCol="0" anchor="ctr">
            <a:normAutofit/>
          </a:bodyPr>
          <a:lstStyle/>
          <a:p>
            <a:pPr indent="0" marL="0">
              <a:buNone/>
            </a:pPr>
            <a:r>
              <a:rPr lang="en-US" sz="2500" b="1" dirty="0">
                <a:solidFill>
                  <a:srgbClr val="123247"/>
                </a:solidFill>
                <a:latin typeface="Aptos Display" pitchFamily="34" charset="0"/>
                <a:ea typeface="Aptos Display" pitchFamily="34" charset="-122"/>
                <a:cs typeface="Aptos Display" pitchFamily="34" charset="-120"/>
              </a:rPr>
              <a:t>Pick Lists</a:t>
            </a:r>
            <a:endParaRPr lang="en-US" sz="2500" dirty="0"/>
          </a:p>
        </p:txBody>
      </p:sp>
      <p:sp>
        <p:nvSpPr>
          <p:cNvPr id="5" name="Text 2"/>
          <p:cNvSpPr/>
          <p:nvPr/>
        </p:nvSpPr>
        <p:spPr>
          <a:xfrm>
            <a:off x="10698480" y="438912"/>
            <a:ext cx="777240" cy="228600"/>
          </a:xfrm>
          <a:prstGeom prst="rect">
            <a:avLst/>
          </a:prstGeom>
          <a:noFill/>
          <a:ln/>
        </p:spPr>
        <p:txBody>
          <a:bodyPr wrap="square" lIns="0" tIns="0" rIns="0" bIns="0" rtlCol="0" anchor="ctr"/>
          <a:lstStyle/>
          <a:p>
            <a:pPr algn="r" indent="0" marL="0">
              <a:buNone/>
            </a:pPr>
            <a:r>
              <a:rPr lang="en-US" sz="900" b="1" dirty="0">
                <a:solidFill>
                  <a:srgbClr val="087B76"/>
                </a:solidFill>
              </a:rPr>
              <a:t>3 min</a:t>
            </a:r>
            <a:endParaRPr lang="en-US" sz="900" dirty="0"/>
          </a:p>
        </p:txBody>
      </p:sp>
      <p:sp>
        <p:nvSpPr>
          <p:cNvPr id="6" name="Text 3"/>
          <p:cNvSpPr/>
          <p:nvPr/>
        </p:nvSpPr>
        <p:spPr>
          <a:xfrm>
            <a:off x="585216" y="960120"/>
            <a:ext cx="4023360" cy="219456"/>
          </a:xfrm>
          <a:prstGeom prst="rect">
            <a:avLst/>
          </a:prstGeom>
          <a:noFill/>
          <a:ln/>
        </p:spPr>
        <p:txBody>
          <a:bodyPr wrap="square" lIns="0" tIns="0" rIns="0" bIns="0" rtlCol="0" anchor="ctr"/>
          <a:lstStyle/>
          <a:p>
            <a:pPr indent="0" marL="0">
              <a:buNone/>
            </a:pPr>
            <a:r>
              <a:rPr lang="en-US" sz="1000" b="1" spc="130" kern="0" dirty="0">
                <a:solidFill>
                  <a:srgbClr val="F47C20"/>
                </a:solidFill>
              </a:rPr>
              <a:t>OUTBOUND</a:t>
            </a:r>
            <a:endParaRPr lang="en-US" sz="1000" dirty="0"/>
          </a:p>
        </p:txBody>
      </p:sp>
      <p:sp>
        <p:nvSpPr>
          <p:cNvPr id="7" name="Text 4"/>
          <p:cNvSpPr/>
          <p:nvPr/>
        </p:nvSpPr>
        <p:spPr>
          <a:xfrm>
            <a:off x="566928" y="6473952"/>
            <a:ext cx="1097280" cy="182880"/>
          </a:xfrm>
          <a:prstGeom prst="rect">
            <a:avLst/>
          </a:prstGeom>
          <a:noFill/>
          <a:ln/>
        </p:spPr>
        <p:txBody>
          <a:bodyPr wrap="square" lIns="0" tIns="0" rIns="0" bIns="0" rtlCol="0" anchor="ctr"/>
          <a:lstStyle/>
          <a:p>
            <a:pPr indent="0" marL="0">
              <a:buNone/>
            </a:pPr>
            <a:r>
              <a:rPr lang="en-US" sz="800" dirty="0">
                <a:solidFill>
                  <a:srgbClr val="667985"/>
                </a:solidFill>
              </a:rPr>
              <a:t>Product 1.27</a:t>
            </a:r>
            <a:endParaRPr lang="en-US" sz="800" dirty="0"/>
          </a:p>
        </p:txBody>
      </p:sp>
      <p:sp>
        <p:nvSpPr>
          <p:cNvPr id="8" name="Text 5"/>
          <p:cNvSpPr/>
          <p:nvPr/>
        </p:nvSpPr>
        <p:spPr>
          <a:xfrm>
            <a:off x="10789920" y="6473952"/>
            <a:ext cx="731520" cy="182880"/>
          </a:xfrm>
          <a:prstGeom prst="rect">
            <a:avLst/>
          </a:prstGeom>
          <a:noFill/>
          <a:ln/>
        </p:spPr>
        <p:txBody>
          <a:bodyPr wrap="square" lIns="0" tIns="0" rIns="0" bIns="0" rtlCol="0" anchor="ctr"/>
          <a:lstStyle/>
          <a:p>
            <a:pPr algn="r" indent="0" marL="0">
              <a:buNone/>
            </a:pPr>
            <a:r>
              <a:rPr lang="en-US" sz="800" dirty="0">
                <a:solidFill>
                  <a:srgbClr val="667985"/>
                </a:solidFill>
              </a:rPr>
              <a:t>14 / 28</a:t>
            </a:r>
            <a:endParaRPr lang="en-US" sz="800" dirty="0"/>
          </a:p>
        </p:txBody>
      </p:sp>
      <p:sp>
        <p:nvSpPr>
          <p:cNvPr id="9" name="Shape 6"/>
          <p:cNvSpPr/>
          <p:nvPr/>
        </p:nvSpPr>
        <p:spPr>
          <a:xfrm>
            <a:off x="658368" y="1353312"/>
            <a:ext cx="10835640" cy="914400"/>
          </a:xfrm>
          <a:prstGeom prst="roundRect">
            <a:avLst>
              <a:gd name="adj" fmla="val 5000"/>
            </a:avLst>
          </a:prstGeom>
          <a:solidFill>
            <a:srgbClr val="EFF7F7"/>
          </a:solidFill>
          <a:ln w="15240">
            <a:solidFill>
              <a:srgbClr val="0F9D96"/>
            </a:solidFill>
            <a:prstDash val="solid"/>
          </a:ln>
        </p:spPr>
      </p:sp>
      <p:sp>
        <p:nvSpPr>
          <p:cNvPr id="10" name="Text 7"/>
          <p:cNvSpPr/>
          <p:nvPr/>
        </p:nvSpPr>
        <p:spPr>
          <a:xfrm>
            <a:off x="914400" y="1609344"/>
            <a:ext cx="1280160" cy="228600"/>
          </a:xfrm>
          <a:prstGeom prst="rect">
            <a:avLst/>
          </a:prstGeom>
          <a:noFill/>
          <a:ln/>
        </p:spPr>
        <p:txBody>
          <a:bodyPr wrap="square" lIns="0" tIns="0" rIns="0" bIns="0" rtlCol="0" anchor="ctr"/>
          <a:lstStyle/>
          <a:p>
            <a:pPr indent="0" marL="0">
              <a:buNone/>
            </a:pPr>
            <a:r>
              <a:rPr lang="en-US" sz="1100" b="1" spc="100" kern="0" dirty="0">
                <a:solidFill>
                  <a:srgbClr val="087B76"/>
                </a:solidFill>
              </a:rPr>
              <a:t>WHAT LIVES HERE</a:t>
            </a:r>
            <a:endParaRPr lang="en-US" sz="1100" dirty="0"/>
          </a:p>
        </p:txBody>
      </p:sp>
      <p:sp>
        <p:nvSpPr>
          <p:cNvPr id="11" name="Text 8"/>
          <p:cNvSpPr/>
          <p:nvPr/>
        </p:nvSpPr>
        <p:spPr>
          <a:xfrm>
            <a:off x="2423160" y="1536192"/>
            <a:ext cx="8641080" cy="384048"/>
          </a:xfrm>
          <a:prstGeom prst="rect">
            <a:avLst/>
          </a:prstGeom>
          <a:noFill/>
          <a:ln/>
        </p:spPr>
        <p:txBody>
          <a:bodyPr wrap="square" lIns="0" tIns="0" rIns="0" bIns="0" rtlCol="0" anchor="ctr">
            <a:normAutofit/>
          </a:bodyPr>
          <a:lstStyle/>
          <a:p>
            <a:pPr indent="0" marL="0">
              <a:buNone/>
            </a:pPr>
            <a:r>
              <a:rPr lang="en-US" sz="2000" b="1" dirty="0">
                <a:solidFill>
                  <a:srgbClr val="123247"/>
                </a:solidFill>
              </a:rPr>
              <a:t>Plan, release, assign, and execute outbound whole-pallet work.</a:t>
            </a:r>
            <a:endParaRPr lang="en-US" sz="2000" dirty="0"/>
          </a:p>
        </p:txBody>
      </p:sp>
      <p:sp>
        <p:nvSpPr>
          <p:cNvPr id="12" name="Text 9"/>
          <p:cNvSpPr/>
          <p:nvPr/>
        </p:nvSpPr>
        <p:spPr>
          <a:xfrm>
            <a:off x="786384" y="2578608"/>
            <a:ext cx="2103120" cy="228600"/>
          </a:xfrm>
          <a:prstGeom prst="rect">
            <a:avLst/>
          </a:prstGeom>
          <a:noFill/>
          <a:ln/>
        </p:spPr>
        <p:txBody>
          <a:bodyPr wrap="square" lIns="0" tIns="0" rIns="0" bIns="0" rtlCol="0" anchor="ctr"/>
          <a:lstStyle/>
          <a:p>
            <a:pPr indent="0" marL="0">
              <a:buNone/>
            </a:pPr>
            <a:r>
              <a:rPr lang="en-US" sz="1100" b="1" spc="80" kern="0" dirty="0">
                <a:solidFill>
                  <a:srgbClr val="F47C20"/>
                </a:solidFill>
              </a:rPr>
              <a:t>WHO USUALLY WORKS HERE</a:t>
            </a:r>
            <a:endParaRPr lang="en-US" sz="1100" dirty="0"/>
          </a:p>
        </p:txBody>
      </p:sp>
      <p:sp>
        <p:nvSpPr>
          <p:cNvPr id="13" name="Text 10"/>
          <p:cNvSpPr/>
          <p:nvPr/>
        </p:nvSpPr>
        <p:spPr>
          <a:xfrm>
            <a:off x="3063240" y="2542032"/>
            <a:ext cx="7818120" cy="292608"/>
          </a:xfrm>
          <a:prstGeom prst="rect">
            <a:avLst/>
          </a:prstGeom>
          <a:noFill/>
          <a:ln/>
        </p:spPr>
        <p:txBody>
          <a:bodyPr wrap="square" lIns="0" tIns="0" rIns="0" bIns="0" rtlCol="0" anchor="ctr">
            <a:normAutofit/>
          </a:bodyPr>
          <a:lstStyle/>
          <a:p>
            <a:pPr indent="0" marL="0">
              <a:buNone/>
            </a:pPr>
            <a:r>
              <a:rPr lang="en-US" sz="1600" b="1" dirty="0">
                <a:solidFill>
                  <a:srgbClr val="16303D"/>
                </a:solidFill>
              </a:rPr>
              <a:t>Managers · Supervisors · Operators</a:t>
            </a:r>
            <a:endParaRPr lang="en-US" sz="1600" dirty="0"/>
          </a:p>
        </p:txBody>
      </p:sp>
      <p:sp>
        <p:nvSpPr>
          <p:cNvPr id="14" name="Text 11"/>
          <p:cNvSpPr/>
          <p:nvPr/>
        </p:nvSpPr>
        <p:spPr>
          <a:xfrm>
            <a:off x="786384" y="3127248"/>
            <a:ext cx="2286000" cy="228600"/>
          </a:xfrm>
          <a:prstGeom prst="rect">
            <a:avLst/>
          </a:prstGeom>
          <a:noFill/>
          <a:ln/>
        </p:spPr>
        <p:txBody>
          <a:bodyPr wrap="square" lIns="0" tIns="0" rIns="0" bIns="0" rtlCol="0" anchor="ctr"/>
          <a:lstStyle/>
          <a:p>
            <a:pPr indent="0" marL="0">
              <a:buNone/>
            </a:pPr>
            <a:r>
              <a:rPr lang="en-US" sz="1100" b="1" spc="80" kern="0" dirty="0">
                <a:solidFill>
                  <a:srgbClr val="087B76"/>
                </a:solidFill>
              </a:rPr>
              <a:t>A NORMAL VISIT LOOKS LIKE</a:t>
            </a:r>
            <a:endParaRPr lang="en-US" sz="1100" dirty="0"/>
          </a:p>
        </p:txBody>
      </p:sp>
      <p:sp>
        <p:nvSpPr>
          <p:cNvPr id="15" name="Shape 12"/>
          <p:cNvSpPr/>
          <p:nvPr/>
        </p:nvSpPr>
        <p:spPr>
          <a:xfrm>
            <a:off x="914400" y="3566160"/>
            <a:ext cx="384048" cy="384048"/>
          </a:xfrm>
          <a:prstGeom prst="ellipse">
            <a:avLst/>
          </a:prstGeom>
          <a:solidFill>
            <a:srgbClr val="0F9D96"/>
          </a:solidFill>
          <a:ln w="12700">
            <a:solidFill>
              <a:srgbClr val="FFFFFF"/>
            </a:solidFill>
            <a:prstDash val="solid"/>
          </a:ln>
        </p:spPr>
      </p:sp>
      <p:sp>
        <p:nvSpPr>
          <p:cNvPr id="16" name="Text 13"/>
          <p:cNvSpPr/>
          <p:nvPr/>
        </p:nvSpPr>
        <p:spPr>
          <a:xfrm>
            <a:off x="914400" y="3657600"/>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7" name="Text 14"/>
          <p:cNvSpPr/>
          <p:nvPr/>
        </p:nvSpPr>
        <p:spPr>
          <a:xfrm>
            <a:off x="1508760" y="3593592"/>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Manager verifies demand, stock, staging, owner, and due time</a:t>
            </a:r>
            <a:endParaRPr lang="en-US" sz="1700" dirty="0"/>
          </a:p>
        </p:txBody>
      </p:sp>
      <p:sp>
        <p:nvSpPr>
          <p:cNvPr id="18" name="Shape 15"/>
          <p:cNvSpPr/>
          <p:nvPr/>
        </p:nvSpPr>
        <p:spPr>
          <a:xfrm>
            <a:off x="914400" y="4224528"/>
            <a:ext cx="384048" cy="384048"/>
          </a:xfrm>
          <a:prstGeom prst="ellipse">
            <a:avLst/>
          </a:prstGeom>
          <a:solidFill>
            <a:srgbClr val="0F9D96"/>
          </a:solidFill>
          <a:ln w="12700">
            <a:solidFill>
              <a:srgbClr val="FFFFFF"/>
            </a:solidFill>
            <a:prstDash val="solid"/>
          </a:ln>
        </p:spPr>
      </p:sp>
      <p:sp>
        <p:nvSpPr>
          <p:cNvPr id="19" name="Text 16"/>
          <p:cNvSpPr/>
          <p:nvPr/>
        </p:nvSpPr>
        <p:spPr>
          <a:xfrm>
            <a:off x="914400" y="4315968"/>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0" name="Text 17"/>
          <p:cNvSpPr/>
          <p:nvPr/>
        </p:nvSpPr>
        <p:spPr>
          <a:xfrm>
            <a:off x="1508760" y="4251960"/>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Release executable whole-pallet tasks</a:t>
            </a:r>
            <a:endParaRPr lang="en-US" sz="1700" dirty="0"/>
          </a:p>
        </p:txBody>
      </p:sp>
      <p:sp>
        <p:nvSpPr>
          <p:cNvPr id="21" name="Shape 18"/>
          <p:cNvSpPr/>
          <p:nvPr/>
        </p:nvSpPr>
        <p:spPr>
          <a:xfrm>
            <a:off x="914400" y="4882896"/>
            <a:ext cx="384048" cy="384048"/>
          </a:xfrm>
          <a:prstGeom prst="ellipse">
            <a:avLst/>
          </a:prstGeom>
          <a:solidFill>
            <a:srgbClr val="F47C20"/>
          </a:solidFill>
          <a:ln w="12700">
            <a:solidFill>
              <a:srgbClr val="FFFFFF"/>
            </a:solidFill>
            <a:prstDash val="solid"/>
          </a:ln>
        </p:spPr>
      </p:sp>
      <p:sp>
        <p:nvSpPr>
          <p:cNvPr id="22" name="Text 19"/>
          <p:cNvSpPr/>
          <p:nvPr/>
        </p:nvSpPr>
        <p:spPr>
          <a:xfrm>
            <a:off x="914400" y="4974336"/>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3" name="Text 20"/>
          <p:cNvSpPr/>
          <p:nvPr/>
        </p:nvSpPr>
        <p:spPr>
          <a:xfrm>
            <a:off x="1508760" y="4910328"/>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Operator scans assigned location + pallet → confirms → stages</a:t>
            </a:r>
            <a:endParaRPr lang="en-US" sz="1700" dirty="0"/>
          </a:p>
        </p:txBody>
      </p:sp>
      <p:sp>
        <p:nvSpPr>
          <p:cNvPr id="24" name="Shape 21"/>
          <p:cNvSpPr/>
          <p:nvPr/>
        </p:nvSpPr>
        <p:spPr>
          <a:xfrm>
            <a:off x="713232" y="5623560"/>
            <a:ext cx="5193792" cy="566928"/>
          </a:xfrm>
          <a:prstGeom prst="roundRect">
            <a:avLst>
              <a:gd name="adj" fmla="val 6452"/>
            </a:avLst>
          </a:prstGeom>
          <a:solidFill>
            <a:srgbClr val="EFF7F7"/>
          </a:solidFill>
          <a:ln w="12700">
            <a:solidFill>
              <a:srgbClr val="D7E2E6"/>
            </a:solidFill>
            <a:prstDash val="solid"/>
          </a:ln>
        </p:spPr>
      </p:sp>
      <p:sp>
        <p:nvSpPr>
          <p:cNvPr id="25" name="Text 22"/>
          <p:cNvSpPr/>
          <p:nvPr/>
        </p:nvSpPr>
        <p:spPr>
          <a:xfrm>
            <a:off x="914400"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087B76"/>
                </a:solidFill>
              </a:rPr>
              <a:t>WHAT HAPPENS NEXT  Completed pallets move to the directed outbound lane.</a:t>
            </a:r>
            <a:endParaRPr lang="en-US" sz="1150" dirty="0"/>
          </a:p>
        </p:txBody>
      </p:sp>
      <p:sp>
        <p:nvSpPr>
          <p:cNvPr id="26" name="Shape 23"/>
          <p:cNvSpPr/>
          <p:nvPr/>
        </p:nvSpPr>
        <p:spPr>
          <a:xfrm>
            <a:off x="6144768" y="5623560"/>
            <a:ext cx="5193792" cy="566928"/>
          </a:xfrm>
          <a:prstGeom prst="roundRect">
            <a:avLst>
              <a:gd name="adj" fmla="val 6452"/>
            </a:avLst>
          </a:prstGeom>
          <a:solidFill>
            <a:srgbClr val="FFF3DF"/>
          </a:solidFill>
          <a:ln w="12700">
            <a:solidFill>
              <a:srgbClr val="FFC928"/>
            </a:solidFill>
            <a:prstDash val="solid"/>
          </a:ln>
        </p:spPr>
      </p:sp>
      <p:sp>
        <p:nvSpPr>
          <p:cNvPr id="27" name="Text 24"/>
          <p:cNvSpPr/>
          <p:nvPr/>
        </p:nvSpPr>
        <p:spPr>
          <a:xfrm>
            <a:off x="6345936"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C93C3C"/>
                </a:solidFill>
              </a:rPr>
              <a:t>WATCH-OUT  No short release, normal pallet split, or forced quantity mismatch.</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66928" y="384048"/>
            <a:ext cx="9966960" cy="438912"/>
          </a:xfrm>
          <a:prstGeom prst="rect">
            <a:avLst/>
          </a:prstGeom>
          <a:noFill/>
          <a:ln/>
        </p:spPr>
        <p:txBody>
          <a:bodyPr wrap="square" lIns="0" tIns="0" rIns="0" bIns="0" rtlCol="0" anchor="ctr">
            <a:normAutofit/>
          </a:bodyPr>
          <a:lstStyle/>
          <a:p>
            <a:pPr indent="0" marL="0">
              <a:buNone/>
            </a:pPr>
            <a:r>
              <a:rPr lang="en-US" sz="2500" b="1" dirty="0">
                <a:solidFill>
                  <a:srgbClr val="123247"/>
                </a:solidFill>
                <a:latin typeface="Aptos Display" pitchFamily="34" charset="0"/>
                <a:ea typeface="Aptos Display" pitchFamily="34" charset="-122"/>
                <a:cs typeface="Aptos Display" pitchFamily="34" charset="-120"/>
              </a:rPr>
              <a:t>Transfers</a:t>
            </a:r>
            <a:endParaRPr lang="en-US" sz="2500" dirty="0"/>
          </a:p>
        </p:txBody>
      </p:sp>
      <p:sp>
        <p:nvSpPr>
          <p:cNvPr id="5" name="Text 2"/>
          <p:cNvSpPr/>
          <p:nvPr/>
        </p:nvSpPr>
        <p:spPr>
          <a:xfrm>
            <a:off x="10698480" y="438912"/>
            <a:ext cx="777240" cy="228600"/>
          </a:xfrm>
          <a:prstGeom prst="rect">
            <a:avLst/>
          </a:prstGeom>
          <a:noFill/>
          <a:ln/>
        </p:spPr>
        <p:txBody>
          <a:bodyPr wrap="square" lIns="0" tIns="0" rIns="0" bIns="0" rtlCol="0" anchor="ctr"/>
          <a:lstStyle/>
          <a:p>
            <a:pPr algn="r" indent="0" marL="0">
              <a:buNone/>
            </a:pPr>
            <a:r>
              <a:rPr lang="en-US" sz="900" b="1" dirty="0">
                <a:solidFill>
                  <a:srgbClr val="087B76"/>
                </a:solidFill>
              </a:rPr>
              <a:t>2 min</a:t>
            </a:r>
            <a:endParaRPr lang="en-US" sz="900" dirty="0"/>
          </a:p>
        </p:txBody>
      </p:sp>
      <p:sp>
        <p:nvSpPr>
          <p:cNvPr id="6" name="Text 3"/>
          <p:cNvSpPr/>
          <p:nvPr/>
        </p:nvSpPr>
        <p:spPr>
          <a:xfrm>
            <a:off x="585216" y="960120"/>
            <a:ext cx="4023360" cy="219456"/>
          </a:xfrm>
          <a:prstGeom prst="rect">
            <a:avLst/>
          </a:prstGeom>
          <a:noFill/>
          <a:ln/>
        </p:spPr>
        <p:txBody>
          <a:bodyPr wrap="square" lIns="0" tIns="0" rIns="0" bIns="0" rtlCol="0" anchor="ctr"/>
          <a:lstStyle/>
          <a:p>
            <a:pPr indent="0" marL="0">
              <a:buNone/>
            </a:pPr>
            <a:r>
              <a:rPr lang="en-US" sz="1000" b="1" spc="130" kern="0" dirty="0">
                <a:solidFill>
                  <a:srgbClr val="F47C20"/>
                </a:solidFill>
              </a:rPr>
              <a:t>MOVEMENT + HANDOFF</a:t>
            </a:r>
            <a:endParaRPr lang="en-US" sz="1000" dirty="0"/>
          </a:p>
        </p:txBody>
      </p:sp>
      <p:sp>
        <p:nvSpPr>
          <p:cNvPr id="7" name="Text 4"/>
          <p:cNvSpPr/>
          <p:nvPr/>
        </p:nvSpPr>
        <p:spPr>
          <a:xfrm>
            <a:off x="566928" y="6473952"/>
            <a:ext cx="1097280" cy="182880"/>
          </a:xfrm>
          <a:prstGeom prst="rect">
            <a:avLst/>
          </a:prstGeom>
          <a:noFill/>
          <a:ln/>
        </p:spPr>
        <p:txBody>
          <a:bodyPr wrap="square" lIns="0" tIns="0" rIns="0" bIns="0" rtlCol="0" anchor="ctr"/>
          <a:lstStyle/>
          <a:p>
            <a:pPr indent="0" marL="0">
              <a:buNone/>
            </a:pPr>
            <a:r>
              <a:rPr lang="en-US" sz="800" dirty="0">
                <a:solidFill>
                  <a:srgbClr val="667985"/>
                </a:solidFill>
              </a:rPr>
              <a:t>Product 1.27</a:t>
            </a:r>
            <a:endParaRPr lang="en-US" sz="800" dirty="0"/>
          </a:p>
        </p:txBody>
      </p:sp>
      <p:sp>
        <p:nvSpPr>
          <p:cNvPr id="8" name="Text 5"/>
          <p:cNvSpPr/>
          <p:nvPr/>
        </p:nvSpPr>
        <p:spPr>
          <a:xfrm>
            <a:off x="10789920" y="6473952"/>
            <a:ext cx="731520" cy="182880"/>
          </a:xfrm>
          <a:prstGeom prst="rect">
            <a:avLst/>
          </a:prstGeom>
          <a:noFill/>
          <a:ln/>
        </p:spPr>
        <p:txBody>
          <a:bodyPr wrap="square" lIns="0" tIns="0" rIns="0" bIns="0" rtlCol="0" anchor="ctr"/>
          <a:lstStyle/>
          <a:p>
            <a:pPr algn="r" indent="0" marL="0">
              <a:buNone/>
            </a:pPr>
            <a:r>
              <a:rPr lang="en-US" sz="800" dirty="0">
                <a:solidFill>
                  <a:srgbClr val="667985"/>
                </a:solidFill>
              </a:rPr>
              <a:t>15 / 28</a:t>
            </a:r>
            <a:endParaRPr lang="en-US" sz="800" dirty="0"/>
          </a:p>
        </p:txBody>
      </p:sp>
      <p:sp>
        <p:nvSpPr>
          <p:cNvPr id="9" name="Shape 6"/>
          <p:cNvSpPr/>
          <p:nvPr/>
        </p:nvSpPr>
        <p:spPr>
          <a:xfrm>
            <a:off x="658368" y="1353312"/>
            <a:ext cx="10835640" cy="914400"/>
          </a:xfrm>
          <a:prstGeom prst="roundRect">
            <a:avLst>
              <a:gd name="adj" fmla="val 5000"/>
            </a:avLst>
          </a:prstGeom>
          <a:solidFill>
            <a:srgbClr val="EFF7F7"/>
          </a:solidFill>
          <a:ln w="15240">
            <a:solidFill>
              <a:srgbClr val="0F9D96"/>
            </a:solidFill>
            <a:prstDash val="solid"/>
          </a:ln>
        </p:spPr>
      </p:sp>
      <p:sp>
        <p:nvSpPr>
          <p:cNvPr id="10" name="Text 7"/>
          <p:cNvSpPr/>
          <p:nvPr/>
        </p:nvSpPr>
        <p:spPr>
          <a:xfrm>
            <a:off x="914400" y="1609344"/>
            <a:ext cx="1280160" cy="228600"/>
          </a:xfrm>
          <a:prstGeom prst="rect">
            <a:avLst/>
          </a:prstGeom>
          <a:noFill/>
          <a:ln/>
        </p:spPr>
        <p:txBody>
          <a:bodyPr wrap="square" lIns="0" tIns="0" rIns="0" bIns="0" rtlCol="0" anchor="ctr"/>
          <a:lstStyle/>
          <a:p>
            <a:pPr indent="0" marL="0">
              <a:buNone/>
            </a:pPr>
            <a:r>
              <a:rPr lang="en-US" sz="1100" b="1" spc="100" kern="0" dirty="0">
                <a:solidFill>
                  <a:srgbClr val="087B76"/>
                </a:solidFill>
              </a:rPr>
              <a:t>WHAT LIVES HERE</a:t>
            </a:r>
            <a:endParaRPr lang="en-US" sz="1100" dirty="0"/>
          </a:p>
        </p:txBody>
      </p:sp>
      <p:sp>
        <p:nvSpPr>
          <p:cNvPr id="11" name="Text 8"/>
          <p:cNvSpPr/>
          <p:nvPr/>
        </p:nvSpPr>
        <p:spPr>
          <a:xfrm>
            <a:off x="2423160" y="1536192"/>
            <a:ext cx="8641080" cy="384048"/>
          </a:xfrm>
          <a:prstGeom prst="rect">
            <a:avLst/>
          </a:prstGeom>
          <a:noFill/>
          <a:ln/>
        </p:spPr>
        <p:txBody>
          <a:bodyPr wrap="square" lIns="0" tIns="0" rIns="0" bIns="0" rtlCol="0" anchor="ctr">
            <a:normAutofit/>
          </a:bodyPr>
          <a:lstStyle/>
          <a:p>
            <a:pPr indent="0" marL="0">
              <a:buNone/>
            </a:pPr>
            <a:r>
              <a:rPr lang="en-US" sz="2000" b="1" dirty="0">
                <a:solidFill>
                  <a:srgbClr val="123247"/>
                </a:solidFill>
              </a:rPr>
              <a:t>Move pallet identity across warehouse boundaries with signed handoffs.</a:t>
            </a:r>
            <a:endParaRPr lang="en-US" sz="2000" dirty="0"/>
          </a:p>
        </p:txBody>
      </p:sp>
      <p:sp>
        <p:nvSpPr>
          <p:cNvPr id="12" name="Text 9"/>
          <p:cNvSpPr/>
          <p:nvPr/>
        </p:nvSpPr>
        <p:spPr>
          <a:xfrm>
            <a:off x="786384" y="2578608"/>
            <a:ext cx="2103120" cy="228600"/>
          </a:xfrm>
          <a:prstGeom prst="rect">
            <a:avLst/>
          </a:prstGeom>
          <a:noFill/>
          <a:ln/>
        </p:spPr>
        <p:txBody>
          <a:bodyPr wrap="square" lIns="0" tIns="0" rIns="0" bIns="0" rtlCol="0" anchor="ctr"/>
          <a:lstStyle/>
          <a:p>
            <a:pPr indent="0" marL="0">
              <a:buNone/>
            </a:pPr>
            <a:r>
              <a:rPr lang="en-US" sz="1100" b="1" spc="80" kern="0" dirty="0">
                <a:solidFill>
                  <a:srgbClr val="F47C20"/>
                </a:solidFill>
              </a:rPr>
              <a:t>WHO USUALLY WORKS HERE</a:t>
            </a:r>
            <a:endParaRPr lang="en-US" sz="1100" dirty="0"/>
          </a:p>
        </p:txBody>
      </p:sp>
      <p:sp>
        <p:nvSpPr>
          <p:cNvPr id="13" name="Text 10"/>
          <p:cNvSpPr/>
          <p:nvPr/>
        </p:nvSpPr>
        <p:spPr>
          <a:xfrm>
            <a:off x="3063240" y="2542032"/>
            <a:ext cx="7818120" cy="292608"/>
          </a:xfrm>
          <a:prstGeom prst="rect">
            <a:avLst/>
          </a:prstGeom>
          <a:noFill/>
          <a:ln/>
        </p:spPr>
        <p:txBody>
          <a:bodyPr wrap="square" lIns="0" tIns="0" rIns="0" bIns="0" rtlCol="0" anchor="ctr">
            <a:normAutofit/>
          </a:bodyPr>
          <a:lstStyle/>
          <a:p>
            <a:pPr indent="0" marL="0">
              <a:buNone/>
            </a:pPr>
            <a:r>
              <a:rPr lang="en-US" sz="1600" b="1" dirty="0">
                <a:solidFill>
                  <a:srgbClr val="16303D"/>
                </a:solidFill>
              </a:rPr>
              <a:t>Managers · Clerks · Supervisors · Dispatch Drivers</a:t>
            </a:r>
            <a:endParaRPr lang="en-US" sz="1600" dirty="0"/>
          </a:p>
        </p:txBody>
      </p:sp>
      <p:sp>
        <p:nvSpPr>
          <p:cNvPr id="14" name="Text 11"/>
          <p:cNvSpPr/>
          <p:nvPr/>
        </p:nvSpPr>
        <p:spPr>
          <a:xfrm>
            <a:off x="786384" y="3127248"/>
            <a:ext cx="2286000" cy="228600"/>
          </a:xfrm>
          <a:prstGeom prst="rect">
            <a:avLst/>
          </a:prstGeom>
          <a:noFill/>
          <a:ln/>
        </p:spPr>
        <p:txBody>
          <a:bodyPr wrap="square" lIns="0" tIns="0" rIns="0" bIns="0" rtlCol="0" anchor="ctr"/>
          <a:lstStyle/>
          <a:p>
            <a:pPr indent="0" marL="0">
              <a:buNone/>
            </a:pPr>
            <a:r>
              <a:rPr lang="en-US" sz="1100" b="1" spc="80" kern="0" dirty="0">
                <a:solidFill>
                  <a:srgbClr val="087B76"/>
                </a:solidFill>
              </a:rPr>
              <a:t>A NORMAL VISIT LOOKS LIKE</a:t>
            </a:r>
            <a:endParaRPr lang="en-US" sz="1100" dirty="0"/>
          </a:p>
        </p:txBody>
      </p:sp>
      <p:sp>
        <p:nvSpPr>
          <p:cNvPr id="15" name="Shape 12"/>
          <p:cNvSpPr/>
          <p:nvPr/>
        </p:nvSpPr>
        <p:spPr>
          <a:xfrm>
            <a:off x="914400" y="3566160"/>
            <a:ext cx="384048" cy="384048"/>
          </a:xfrm>
          <a:prstGeom prst="ellipse">
            <a:avLst/>
          </a:prstGeom>
          <a:solidFill>
            <a:srgbClr val="0F9D96"/>
          </a:solidFill>
          <a:ln w="12700">
            <a:solidFill>
              <a:srgbClr val="FFFFFF"/>
            </a:solidFill>
            <a:prstDash val="solid"/>
          </a:ln>
        </p:spPr>
      </p:sp>
      <p:sp>
        <p:nvSpPr>
          <p:cNvPr id="16" name="Text 13"/>
          <p:cNvSpPr/>
          <p:nvPr/>
        </p:nvSpPr>
        <p:spPr>
          <a:xfrm>
            <a:off x="914400" y="3657600"/>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7" name="Text 14"/>
          <p:cNvSpPr/>
          <p:nvPr/>
        </p:nvSpPr>
        <p:spPr>
          <a:xfrm>
            <a:off x="1508760" y="3593592"/>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Create and stage the verified pallet/route</a:t>
            </a:r>
            <a:endParaRPr lang="en-US" sz="1700" dirty="0"/>
          </a:p>
        </p:txBody>
      </p:sp>
      <p:sp>
        <p:nvSpPr>
          <p:cNvPr id="18" name="Shape 15"/>
          <p:cNvSpPr/>
          <p:nvPr/>
        </p:nvSpPr>
        <p:spPr>
          <a:xfrm>
            <a:off x="914400" y="4224528"/>
            <a:ext cx="384048" cy="384048"/>
          </a:xfrm>
          <a:prstGeom prst="ellipse">
            <a:avLst/>
          </a:prstGeom>
          <a:solidFill>
            <a:srgbClr val="0F9D96"/>
          </a:solidFill>
          <a:ln w="12700">
            <a:solidFill>
              <a:srgbClr val="FFFFFF"/>
            </a:solidFill>
            <a:prstDash val="solid"/>
          </a:ln>
        </p:spPr>
      </p:sp>
      <p:sp>
        <p:nvSpPr>
          <p:cNvPr id="19" name="Text 16"/>
          <p:cNvSpPr/>
          <p:nvPr/>
        </p:nvSpPr>
        <p:spPr>
          <a:xfrm>
            <a:off x="914400" y="4315968"/>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0" name="Text 17"/>
          <p:cNvSpPr/>
          <p:nvPr/>
        </p:nvSpPr>
        <p:spPr>
          <a:xfrm>
            <a:off x="1508760" y="4251960"/>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Driver signs after physical departure</a:t>
            </a:r>
            <a:endParaRPr lang="en-US" sz="1700" dirty="0"/>
          </a:p>
        </p:txBody>
      </p:sp>
      <p:sp>
        <p:nvSpPr>
          <p:cNvPr id="21" name="Shape 18"/>
          <p:cNvSpPr/>
          <p:nvPr/>
        </p:nvSpPr>
        <p:spPr>
          <a:xfrm>
            <a:off x="914400" y="4882896"/>
            <a:ext cx="384048" cy="384048"/>
          </a:xfrm>
          <a:prstGeom prst="ellipse">
            <a:avLst/>
          </a:prstGeom>
          <a:solidFill>
            <a:srgbClr val="F47C20"/>
          </a:solidFill>
          <a:ln w="12700">
            <a:solidFill>
              <a:srgbClr val="FFFFFF"/>
            </a:solidFill>
            <a:prstDash val="solid"/>
          </a:ln>
        </p:spPr>
      </p:sp>
      <p:sp>
        <p:nvSpPr>
          <p:cNvPr id="22" name="Text 19"/>
          <p:cNvSpPr/>
          <p:nvPr/>
        </p:nvSpPr>
        <p:spPr>
          <a:xfrm>
            <a:off x="914400" y="4974336"/>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3" name="Text 20"/>
          <p:cNvSpPr/>
          <p:nvPr/>
        </p:nvSpPr>
        <p:spPr>
          <a:xfrm>
            <a:off x="1508760" y="4910328"/>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Destination receives and immediately triggers Put-Away</a:t>
            </a:r>
            <a:endParaRPr lang="en-US" sz="1700" dirty="0"/>
          </a:p>
        </p:txBody>
      </p:sp>
      <p:sp>
        <p:nvSpPr>
          <p:cNvPr id="24" name="Shape 21"/>
          <p:cNvSpPr/>
          <p:nvPr/>
        </p:nvSpPr>
        <p:spPr>
          <a:xfrm>
            <a:off x="713232" y="5623560"/>
            <a:ext cx="5193792" cy="566928"/>
          </a:xfrm>
          <a:prstGeom prst="roundRect">
            <a:avLst>
              <a:gd name="adj" fmla="val 6452"/>
            </a:avLst>
          </a:prstGeom>
          <a:solidFill>
            <a:srgbClr val="EFF7F7"/>
          </a:solidFill>
          <a:ln w="12700">
            <a:solidFill>
              <a:srgbClr val="D7E2E6"/>
            </a:solidFill>
            <a:prstDash val="solid"/>
          </a:ln>
        </p:spPr>
      </p:sp>
      <p:sp>
        <p:nvSpPr>
          <p:cNvPr id="25" name="Text 22"/>
          <p:cNvSpPr/>
          <p:nvPr/>
        </p:nvSpPr>
        <p:spPr>
          <a:xfrm>
            <a:off x="914400"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087B76"/>
                </a:solidFill>
              </a:rPr>
              <a:t>WHAT HAPPENS NEXT  Destination Receiving and Put-Away finish the journey.</a:t>
            </a:r>
            <a:endParaRPr lang="en-US" sz="1150" dirty="0"/>
          </a:p>
        </p:txBody>
      </p:sp>
      <p:sp>
        <p:nvSpPr>
          <p:cNvPr id="26" name="Shape 23"/>
          <p:cNvSpPr/>
          <p:nvPr/>
        </p:nvSpPr>
        <p:spPr>
          <a:xfrm>
            <a:off x="6144768" y="5623560"/>
            <a:ext cx="5193792" cy="566928"/>
          </a:xfrm>
          <a:prstGeom prst="roundRect">
            <a:avLst>
              <a:gd name="adj" fmla="val 6452"/>
            </a:avLst>
          </a:prstGeom>
          <a:solidFill>
            <a:srgbClr val="FFF3DF"/>
          </a:solidFill>
          <a:ln w="12700">
            <a:solidFill>
              <a:srgbClr val="FFC928"/>
            </a:solidFill>
            <a:prstDash val="solid"/>
          </a:ln>
        </p:spPr>
      </p:sp>
      <p:sp>
        <p:nvSpPr>
          <p:cNvPr id="27" name="Text 24"/>
          <p:cNvSpPr/>
          <p:nvPr/>
        </p:nvSpPr>
        <p:spPr>
          <a:xfrm>
            <a:off x="6345936"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C93C3C"/>
                </a:solidFill>
              </a:rPr>
              <a:t>WATCH-OUT  Do not sign before departure or strand received stock in a lane.</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66928" y="384048"/>
            <a:ext cx="9966960" cy="438912"/>
          </a:xfrm>
          <a:prstGeom prst="rect">
            <a:avLst/>
          </a:prstGeom>
          <a:noFill/>
          <a:ln/>
        </p:spPr>
        <p:txBody>
          <a:bodyPr wrap="square" lIns="0" tIns="0" rIns="0" bIns="0" rtlCol="0" anchor="ctr">
            <a:normAutofit/>
          </a:bodyPr>
          <a:lstStyle/>
          <a:p>
            <a:pPr indent="0" marL="0">
              <a:buNone/>
            </a:pPr>
            <a:r>
              <a:rPr lang="en-US" sz="2500" b="1" dirty="0">
                <a:solidFill>
                  <a:srgbClr val="123247"/>
                </a:solidFill>
                <a:latin typeface="Aptos Display" pitchFamily="34" charset="0"/>
                <a:ea typeface="Aptos Display" pitchFamily="34" charset="-122"/>
                <a:cs typeface="Aptos Display" pitchFamily="34" charset="-120"/>
              </a:rPr>
              <a:t>Location Moves</a:t>
            </a:r>
            <a:endParaRPr lang="en-US" sz="2500" dirty="0"/>
          </a:p>
        </p:txBody>
      </p:sp>
      <p:sp>
        <p:nvSpPr>
          <p:cNvPr id="5" name="Text 2"/>
          <p:cNvSpPr/>
          <p:nvPr/>
        </p:nvSpPr>
        <p:spPr>
          <a:xfrm>
            <a:off x="10698480" y="438912"/>
            <a:ext cx="777240" cy="228600"/>
          </a:xfrm>
          <a:prstGeom prst="rect">
            <a:avLst/>
          </a:prstGeom>
          <a:noFill/>
          <a:ln/>
        </p:spPr>
        <p:txBody>
          <a:bodyPr wrap="square" lIns="0" tIns="0" rIns="0" bIns="0" rtlCol="0" anchor="ctr"/>
          <a:lstStyle/>
          <a:p>
            <a:pPr algn="r" indent="0" marL="0">
              <a:buNone/>
            </a:pPr>
            <a:r>
              <a:rPr lang="en-US" sz="900" b="1" dirty="0">
                <a:solidFill>
                  <a:srgbClr val="087B76"/>
                </a:solidFill>
              </a:rPr>
              <a:t>1 min</a:t>
            </a:r>
            <a:endParaRPr lang="en-US" sz="900" dirty="0"/>
          </a:p>
        </p:txBody>
      </p:sp>
      <p:sp>
        <p:nvSpPr>
          <p:cNvPr id="6" name="Text 3"/>
          <p:cNvSpPr/>
          <p:nvPr/>
        </p:nvSpPr>
        <p:spPr>
          <a:xfrm>
            <a:off x="585216" y="960120"/>
            <a:ext cx="4023360" cy="219456"/>
          </a:xfrm>
          <a:prstGeom prst="rect">
            <a:avLst/>
          </a:prstGeom>
          <a:noFill/>
          <a:ln/>
        </p:spPr>
        <p:txBody>
          <a:bodyPr wrap="square" lIns="0" tIns="0" rIns="0" bIns="0" rtlCol="0" anchor="ctr"/>
          <a:lstStyle/>
          <a:p>
            <a:pPr indent="0" marL="0">
              <a:buNone/>
            </a:pPr>
            <a:r>
              <a:rPr lang="en-US" sz="1000" b="1" spc="130" kern="0" dirty="0">
                <a:solidFill>
                  <a:srgbClr val="F47C20"/>
                </a:solidFill>
              </a:rPr>
              <a:t>MOVEMENT + HANDOFF</a:t>
            </a:r>
            <a:endParaRPr lang="en-US" sz="1000" dirty="0"/>
          </a:p>
        </p:txBody>
      </p:sp>
      <p:sp>
        <p:nvSpPr>
          <p:cNvPr id="7" name="Text 4"/>
          <p:cNvSpPr/>
          <p:nvPr/>
        </p:nvSpPr>
        <p:spPr>
          <a:xfrm>
            <a:off x="566928" y="6473952"/>
            <a:ext cx="1097280" cy="182880"/>
          </a:xfrm>
          <a:prstGeom prst="rect">
            <a:avLst/>
          </a:prstGeom>
          <a:noFill/>
          <a:ln/>
        </p:spPr>
        <p:txBody>
          <a:bodyPr wrap="square" lIns="0" tIns="0" rIns="0" bIns="0" rtlCol="0" anchor="ctr"/>
          <a:lstStyle/>
          <a:p>
            <a:pPr indent="0" marL="0">
              <a:buNone/>
            </a:pPr>
            <a:r>
              <a:rPr lang="en-US" sz="800" dirty="0">
                <a:solidFill>
                  <a:srgbClr val="667985"/>
                </a:solidFill>
              </a:rPr>
              <a:t>Product 1.27</a:t>
            </a:r>
            <a:endParaRPr lang="en-US" sz="800" dirty="0"/>
          </a:p>
        </p:txBody>
      </p:sp>
      <p:sp>
        <p:nvSpPr>
          <p:cNvPr id="8" name="Text 5"/>
          <p:cNvSpPr/>
          <p:nvPr/>
        </p:nvSpPr>
        <p:spPr>
          <a:xfrm>
            <a:off x="10789920" y="6473952"/>
            <a:ext cx="731520" cy="182880"/>
          </a:xfrm>
          <a:prstGeom prst="rect">
            <a:avLst/>
          </a:prstGeom>
          <a:noFill/>
          <a:ln/>
        </p:spPr>
        <p:txBody>
          <a:bodyPr wrap="square" lIns="0" tIns="0" rIns="0" bIns="0" rtlCol="0" anchor="ctr"/>
          <a:lstStyle/>
          <a:p>
            <a:pPr algn="r" indent="0" marL="0">
              <a:buNone/>
            </a:pPr>
            <a:r>
              <a:rPr lang="en-US" sz="800" dirty="0">
                <a:solidFill>
                  <a:srgbClr val="667985"/>
                </a:solidFill>
              </a:rPr>
              <a:t>16 / 28</a:t>
            </a:r>
            <a:endParaRPr lang="en-US" sz="800" dirty="0"/>
          </a:p>
        </p:txBody>
      </p:sp>
      <p:sp>
        <p:nvSpPr>
          <p:cNvPr id="9" name="Shape 6"/>
          <p:cNvSpPr/>
          <p:nvPr/>
        </p:nvSpPr>
        <p:spPr>
          <a:xfrm>
            <a:off x="658368" y="1353312"/>
            <a:ext cx="10835640" cy="914400"/>
          </a:xfrm>
          <a:prstGeom prst="roundRect">
            <a:avLst>
              <a:gd name="adj" fmla="val 5000"/>
            </a:avLst>
          </a:prstGeom>
          <a:solidFill>
            <a:srgbClr val="EFF7F7"/>
          </a:solidFill>
          <a:ln w="15240">
            <a:solidFill>
              <a:srgbClr val="0F9D96"/>
            </a:solidFill>
            <a:prstDash val="solid"/>
          </a:ln>
        </p:spPr>
      </p:sp>
      <p:sp>
        <p:nvSpPr>
          <p:cNvPr id="10" name="Text 7"/>
          <p:cNvSpPr/>
          <p:nvPr/>
        </p:nvSpPr>
        <p:spPr>
          <a:xfrm>
            <a:off x="914400" y="1609344"/>
            <a:ext cx="1280160" cy="228600"/>
          </a:xfrm>
          <a:prstGeom prst="rect">
            <a:avLst/>
          </a:prstGeom>
          <a:noFill/>
          <a:ln/>
        </p:spPr>
        <p:txBody>
          <a:bodyPr wrap="square" lIns="0" tIns="0" rIns="0" bIns="0" rtlCol="0" anchor="ctr"/>
          <a:lstStyle/>
          <a:p>
            <a:pPr indent="0" marL="0">
              <a:buNone/>
            </a:pPr>
            <a:r>
              <a:rPr lang="en-US" sz="1100" b="1" spc="100" kern="0" dirty="0">
                <a:solidFill>
                  <a:srgbClr val="087B76"/>
                </a:solidFill>
              </a:rPr>
              <a:t>WHAT LIVES HERE</a:t>
            </a:r>
            <a:endParaRPr lang="en-US" sz="1100" dirty="0"/>
          </a:p>
        </p:txBody>
      </p:sp>
      <p:sp>
        <p:nvSpPr>
          <p:cNvPr id="11" name="Text 8"/>
          <p:cNvSpPr/>
          <p:nvPr/>
        </p:nvSpPr>
        <p:spPr>
          <a:xfrm>
            <a:off x="2423160" y="1536192"/>
            <a:ext cx="8641080" cy="384048"/>
          </a:xfrm>
          <a:prstGeom prst="rect">
            <a:avLst/>
          </a:prstGeom>
          <a:noFill/>
          <a:ln/>
        </p:spPr>
        <p:txBody>
          <a:bodyPr wrap="square" lIns="0" tIns="0" rIns="0" bIns="0" rtlCol="0" anchor="ctr">
            <a:normAutofit/>
          </a:bodyPr>
          <a:lstStyle/>
          <a:p>
            <a:pPr indent="0" marL="0">
              <a:buNone/>
            </a:pPr>
            <a:r>
              <a:rPr lang="en-US" sz="2000" b="1" dirty="0">
                <a:solidFill>
                  <a:srgbClr val="123247"/>
                </a:solidFill>
              </a:rPr>
              <a:t>Relocate a pallet inside the same warehouse with full movement history.</a:t>
            </a:r>
            <a:endParaRPr lang="en-US" sz="2000" dirty="0"/>
          </a:p>
        </p:txBody>
      </p:sp>
      <p:sp>
        <p:nvSpPr>
          <p:cNvPr id="12" name="Text 9"/>
          <p:cNvSpPr/>
          <p:nvPr/>
        </p:nvSpPr>
        <p:spPr>
          <a:xfrm>
            <a:off x="786384" y="2578608"/>
            <a:ext cx="2103120" cy="228600"/>
          </a:xfrm>
          <a:prstGeom prst="rect">
            <a:avLst/>
          </a:prstGeom>
          <a:noFill/>
          <a:ln/>
        </p:spPr>
        <p:txBody>
          <a:bodyPr wrap="square" lIns="0" tIns="0" rIns="0" bIns="0" rtlCol="0" anchor="ctr"/>
          <a:lstStyle/>
          <a:p>
            <a:pPr indent="0" marL="0">
              <a:buNone/>
            </a:pPr>
            <a:r>
              <a:rPr lang="en-US" sz="1100" b="1" spc="80" kern="0" dirty="0">
                <a:solidFill>
                  <a:srgbClr val="F47C20"/>
                </a:solidFill>
              </a:rPr>
              <a:t>WHO USUALLY WORKS HERE</a:t>
            </a:r>
            <a:endParaRPr lang="en-US" sz="1100" dirty="0"/>
          </a:p>
        </p:txBody>
      </p:sp>
      <p:sp>
        <p:nvSpPr>
          <p:cNvPr id="13" name="Text 10"/>
          <p:cNvSpPr/>
          <p:nvPr/>
        </p:nvSpPr>
        <p:spPr>
          <a:xfrm>
            <a:off x="3063240" y="2542032"/>
            <a:ext cx="7818120" cy="292608"/>
          </a:xfrm>
          <a:prstGeom prst="rect">
            <a:avLst/>
          </a:prstGeom>
          <a:noFill/>
          <a:ln/>
        </p:spPr>
        <p:txBody>
          <a:bodyPr wrap="square" lIns="0" tIns="0" rIns="0" bIns="0" rtlCol="0" anchor="ctr">
            <a:normAutofit/>
          </a:bodyPr>
          <a:lstStyle/>
          <a:p>
            <a:pPr indent="0" marL="0">
              <a:buNone/>
            </a:pPr>
            <a:r>
              <a:rPr lang="en-US" sz="1600" b="1" dirty="0">
                <a:solidFill>
                  <a:srgbClr val="16303D"/>
                </a:solidFill>
              </a:rPr>
              <a:t>Managers · Clerks · Supervisors · Operators</a:t>
            </a:r>
            <a:endParaRPr lang="en-US" sz="1600" dirty="0"/>
          </a:p>
        </p:txBody>
      </p:sp>
      <p:sp>
        <p:nvSpPr>
          <p:cNvPr id="14" name="Text 11"/>
          <p:cNvSpPr/>
          <p:nvPr/>
        </p:nvSpPr>
        <p:spPr>
          <a:xfrm>
            <a:off x="786384" y="3127248"/>
            <a:ext cx="2286000" cy="228600"/>
          </a:xfrm>
          <a:prstGeom prst="rect">
            <a:avLst/>
          </a:prstGeom>
          <a:noFill/>
          <a:ln/>
        </p:spPr>
        <p:txBody>
          <a:bodyPr wrap="square" lIns="0" tIns="0" rIns="0" bIns="0" rtlCol="0" anchor="ctr"/>
          <a:lstStyle/>
          <a:p>
            <a:pPr indent="0" marL="0">
              <a:buNone/>
            </a:pPr>
            <a:r>
              <a:rPr lang="en-US" sz="1100" b="1" spc="80" kern="0" dirty="0">
                <a:solidFill>
                  <a:srgbClr val="087B76"/>
                </a:solidFill>
              </a:rPr>
              <a:t>A NORMAL VISIT LOOKS LIKE</a:t>
            </a:r>
            <a:endParaRPr lang="en-US" sz="1100" dirty="0"/>
          </a:p>
        </p:txBody>
      </p:sp>
      <p:sp>
        <p:nvSpPr>
          <p:cNvPr id="15" name="Shape 12"/>
          <p:cNvSpPr/>
          <p:nvPr/>
        </p:nvSpPr>
        <p:spPr>
          <a:xfrm>
            <a:off x="914400" y="3566160"/>
            <a:ext cx="384048" cy="384048"/>
          </a:xfrm>
          <a:prstGeom prst="ellipse">
            <a:avLst/>
          </a:prstGeom>
          <a:solidFill>
            <a:srgbClr val="0F9D96"/>
          </a:solidFill>
          <a:ln w="12700">
            <a:solidFill>
              <a:srgbClr val="FFFFFF"/>
            </a:solidFill>
            <a:prstDash val="solid"/>
          </a:ln>
        </p:spPr>
      </p:sp>
      <p:sp>
        <p:nvSpPr>
          <p:cNvPr id="16" name="Text 13"/>
          <p:cNvSpPr/>
          <p:nvPr/>
        </p:nvSpPr>
        <p:spPr>
          <a:xfrm>
            <a:off x="914400" y="3657600"/>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7" name="Text 14"/>
          <p:cNvSpPr/>
          <p:nvPr/>
        </p:nvSpPr>
        <p:spPr>
          <a:xfrm>
            <a:off x="1508760" y="3593592"/>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Scan pallet and verify live state</a:t>
            </a:r>
            <a:endParaRPr lang="en-US" sz="1700" dirty="0"/>
          </a:p>
        </p:txBody>
      </p:sp>
      <p:sp>
        <p:nvSpPr>
          <p:cNvPr id="18" name="Shape 15"/>
          <p:cNvSpPr/>
          <p:nvPr/>
        </p:nvSpPr>
        <p:spPr>
          <a:xfrm>
            <a:off x="914400" y="4224528"/>
            <a:ext cx="384048" cy="384048"/>
          </a:xfrm>
          <a:prstGeom prst="ellipse">
            <a:avLst/>
          </a:prstGeom>
          <a:solidFill>
            <a:srgbClr val="0F9D96"/>
          </a:solidFill>
          <a:ln w="12700">
            <a:solidFill>
              <a:srgbClr val="FFFFFF"/>
            </a:solidFill>
            <a:prstDash val="solid"/>
          </a:ln>
        </p:spPr>
      </p:sp>
      <p:sp>
        <p:nvSpPr>
          <p:cNvPr id="19" name="Text 16"/>
          <p:cNvSpPr/>
          <p:nvPr/>
        </p:nvSpPr>
        <p:spPr>
          <a:xfrm>
            <a:off x="914400" y="4315968"/>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0" name="Text 17"/>
          <p:cNvSpPr/>
          <p:nvPr/>
        </p:nvSpPr>
        <p:spPr>
          <a:xfrm>
            <a:off x="1508760" y="4251960"/>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Scan/type/Browse bays; select exact eligible cell</a:t>
            </a:r>
            <a:endParaRPr lang="en-US" sz="1700" dirty="0"/>
          </a:p>
        </p:txBody>
      </p:sp>
      <p:sp>
        <p:nvSpPr>
          <p:cNvPr id="21" name="Shape 18"/>
          <p:cNvSpPr/>
          <p:nvPr/>
        </p:nvSpPr>
        <p:spPr>
          <a:xfrm>
            <a:off x="914400" y="4882896"/>
            <a:ext cx="384048" cy="384048"/>
          </a:xfrm>
          <a:prstGeom prst="ellipse">
            <a:avLst/>
          </a:prstGeom>
          <a:solidFill>
            <a:srgbClr val="F47C20"/>
          </a:solidFill>
          <a:ln w="12700">
            <a:solidFill>
              <a:srgbClr val="FFFFFF"/>
            </a:solidFill>
            <a:prstDash val="solid"/>
          </a:ln>
        </p:spPr>
      </p:sp>
      <p:sp>
        <p:nvSpPr>
          <p:cNvPr id="22" name="Text 19"/>
          <p:cNvSpPr/>
          <p:nvPr/>
        </p:nvSpPr>
        <p:spPr>
          <a:xfrm>
            <a:off x="914400" y="4974336"/>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3" name="Text 20"/>
          <p:cNvSpPr/>
          <p:nvPr/>
        </p:nvSpPr>
        <p:spPr>
          <a:xfrm>
            <a:off x="1508760" y="4910328"/>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Move physically → confirm once → verify Inventory Search</a:t>
            </a:r>
            <a:endParaRPr lang="en-US" sz="1700" dirty="0"/>
          </a:p>
        </p:txBody>
      </p:sp>
      <p:sp>
        <p:nvSpPr>
          <p:cNvPr id="24" name="Shape 21"/>
          <p:cNvSpPr/>
          <p:nvPr/>
        </p:nvSpPr>
        <p:spPr>
          <a:xfrm>
            <a:off x="713232" y="5623560"/>
            <a:ext cx="5193792" cy="566928"/>
          </a:xfrm>
          <a:prstGeom prst="roundRect">
            <a:avLst>
              <a:gd name="adj" fmla="val 6452"/>
            </a:avLst>
          </a:prstGeom>
          <a:solidFill>
            <a:srgbClr val="EFF7F7"/>
          </a:solidFill>
          <a:ln w="12700">
            <a:solidFill>
              <a:srgbClr val="D7E2E6"/>
            </a:solidFill>
            <a:prstDash val="solid"/>
          </a:ln>
        </p:spPr>
      </p:sp>
      <p:sp>
        <p:nvSpPr>
          <p:cNvPr id="25" name="Text 22"/>
          <p:cNvSpPr/>
          <p:nvPr/>
        </p:nvSpPr>
        <p:spPr>
          <a:xfrm>
            <a:off x="914400"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087B76"/>
                </a:solidFill>
              </a:rPr>
              <a:t>WHAT HAPPENS NEXT  Inventory now points to the exact destination.</a:t>
            </a:r>
            <a:endParaRPr lang="en-US" sz="1150" dirty="0"/>
          </a:p>
        </p:txBody>
      </p:sp>
      <p:sp>
        <p:nvSpPr>
          <p:cNvPr id="26" name="Shape 23"/>
          <p:cNvSpPr/>
          <p:nvPr/>
        </p:nvSpPr>
        <p:spPr>
          <a:xfrm>
            <a:off x="6144768" y="5623560"/>
            <a:ext cx="5193792" cy="566928"/>
          </a:xfrm>
          <a:prstGeom prst="roundRect">
            <a:avLst>
              <a:gd name="adj" fmla="val 6452"/>
            </a:avLst>
          </a:prstGeom>
          <a:solidFill>
            <a:srgbClr val="FFF3DF"/>
          </a:solidFill>
          <a:ln w="12700">
            <a:solidFill>
              <a:srgbClr val="FFC928"/>
            </a:solidFill>
            <a:prstDash val="solid"/>
          </a:ln>
        </p:spPr>
      </p:sp>
      <p:sp>
        <p:nvSpPr>
          <p:cNvPr id="27" name="Text 24"/>
          <p:cNvSpPr/>
          <p:nvPr/>
        </p:nvSpPr>
        <p:spPr>
          <a:xfrm>
            <a:off x="6345936"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C93C3C"/>
                </a:solidFill>
              </a:rPr>
              <a:t>WATCH-OUT  Different warehouse means Transfer, not Location Move.</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66928" y="384048"/>
            <a:ext cx="9966960" cy="438912"/>
          </a:xfrm>
          <a:prstGeom prst="rect">
            <a:avLst/>
          </a:prstGeom>
          <a:noFill/>
          <a:ln/>
        </p:spPr>
        <p:txBody>
          <a:bodyPr wrap="square" lIns="0" tIns="0" rIns="0" bIns="0" rtlCol="0" anchor="ctr">
            <a:normAutofit/>
          </a:bodyPr>
          <a:lstStyle/>
          <a:p>
            <a:pPr indent="0" marL="0">
              <a:buNone/>
            </a:pPr>
            <a:r>
              <a:rPr lang="en-US" sz="2500" b="1" dirty="0">
                <a:solidFill>
                  <a:srgbClr val="123247"/>
                </a:solidFill>
                <a:latin typeface="Aptos Display" pitchFamily="34" charset="0"/>
                <a:ea typeface="Aptos Display" pitchFamily="34" charset="-122"/>
                <a:cs typeface="Aptos Display" pitchFamily="34" charset="-120"/>
              </a:rPr>
              <a:t>Cycle Counts</a:t>
            </a:r>
            <a:endParaRPr lang="en-US" sz="2500" dirty="0"/>
          </a:p>
        </p:txBody>
      </p:sp>
      <p:sp>
        <p:nvSpPr>
          <p:cNvPr id="5" name="Text 2"/>
          <p:cNvSpPr/>
          <p:nvPr/>
        </p:nvSpPr>
        <p:spPr>
          <a:xfrm>
            <a:off x="10698480" y="438912"/>
            <a:ext cx="777240" cy="228600"/>
          </a:xfrm>
          <a:prstGeom prst="rect">
            <a:avLst/>
          </a:prstGeom>
          <a:noFill/>
          <a:ln/>
        </p:spPr>
        <p:txBody>
          <a:bodyPr wrap="square" lIns="0" tIns="0" rIns="0" bIns="0" rtlCol="0" anchor="ctr"/>
          <a:lstStyle/>
          <a:p>
            <a:pPr algn="r" indent="0" marL="0">
              <a:buNone/>
            </a:pPr>
            <a:r>
              <a:rPr lang="en-US" sz="900" b="1" dirty="0">
                <a:solidFill>
                  <a:srgbClr val="087B76"/>
                </a:solidFill>
              </a:rPr>
              <a:t>2 min</a:t>
            </a:r>
            <a:endParaRPr lang="en-US" sz="900" dirty="0"/>
          </a:p>
        </p:txBody>
      </p:sp>
      <p:sp>
        <p:nvSpPr>
          <p:cNvPr id="6" name="Text 3"/>
          <p:cNvSpPr/>
          <p:nvPr/>
        </p:nvSpPr>
        <p:spPr>
          <a:xfrm>
            <a:off x="585216" y="960120"/>
            <a:ext cx="4023360" cy="219456"/>
          </a:xfrm>
          <a:prstGeom prst="rect">
            <a:avLst/>
          </a:prstGeom>
          <a:noFill/>
          <a:ln/>
        </p:spPr>
        <p:txBody>
          <a:bodyPr wrap="square" lIns="0" tIns="0" rIns="0" bIns="0" rtlCol="0" anchor="ctr"/>
          <a:lstStyle/>
          <a:p>
            <a:pPr indent="0" marL="0">
              <a:buNone/>
            </a:pPr>
            <a:r>
              <a:rPr lang="en-US" sz="1000" b="1" spc="130" kern="0" dirty="0">
                <a:solidFill>
                  <a:srgbClr val="F47C20"/>
                </a:solidFill>
              </a:rPr>
              <a:t>INVENTORY CONTROL</a:t>
            </a:r>
            <a:endParaRPr lang="en-US" sz="1000" dirty="0"/>
          </a:p>
        </p:txBody>
      </p:sp>
      <p:sp>
        <p:nvSpPr>
          <p:cNvPr id="7" name="Text 4"/>
          <p:cNvSpPr/>
          <p:nvPr/>
        </p:nvSpPr>
        <p:spPr>
          <a:xfrm>
            <a:off x="566928" y="6473952"/>
            <a:ext cx="1097280" cy="182880"/>
          </a:xfrm>
          <a:prstGeom prst="rect">
            <a:avLst/>
          </a:prstGeom>
          <a:noFill/>
          <a:ln/>
        </p:spPr>
        <p:txBody>
          <a:bodyPr wrap="square" lIns="0" tIns="0" rIns="0" bIns="0" rtlCol="0" anchor="ctr"/>
          <a:lstStyle/>
          <a:p>
            <a:pPr indent="0" marL="0">
              <a:buNone/>
            </a:pPr>
            <a:r>
              <a:rPr lang="en-US" sz="800" dirty="0">
                <a:solidFill>
                  <a:srgbClr val="667985"/>
                </a:solidFill>
              </a:rPr>
              <a:t>Product 1.27</a:t>
            </a:r>
            <a:endParaRPr lang="en-US" sz="800" dirty="0"/>
          </a:p>
        </p:txBody>
      </p:sp>
      <p:sp>
        <p:nvSpPr>
          <p:cNvPr id="8" name="Text 5"/>
          <p:cNvSpPr/>
          <p:nvPr/>
        </p:nvSpPr>
        <p:spPr>
          <a:xfrm>
            <a:off x="10789920" y="6473952"/>
            <a:ext cx="731520" cy="182880"/>
          </a:xfrm>
          <a:prstGeom prst="rect">
            <a:avLst/>
          </a:prstGeom>
          <a:noFill/>
          <a:ln/>
        </p:spPr>
        <p:txBody>
          <a:bodyPr wrap="square" lIns="0" tIns="0" rIns="0" bIns="0" rtlCol="0" anchor="ctr"/>
          <a:lstStyle/>
          <a:p>
            <a:pPr algn="r" indent="0" marL="0">
              <a:buNone/>
            </a:pPr>
            <a:r>
              <a:rPr lang="en-US" sz="800" dirty="0">
                <a:solidFill>
                  <a:srgbClr val="667985"/>
                </a:solidFill>
              </a:rPr>
              <a:t>17 / 28</a:t>
            </a:r>
            <a:endParaRPr lang="en-US" sz="800" dirty="0"/>
          </a:p>
        </p:txBody>
      </p:sp>
      <p:sp>
        <p:nvSpPr>
          <p:cNvPr id="9" name="Shape 6"/>
          <p:cNvSpPr/>
          <p:nvPr/>
        </p:nvSpPr>
        <p:spPr>
          <a:xfrm>
            <a:off x="658368" y="1353312"/>
            <a:ext cx="10835640" cy="914400"/>
          </a:xfrm>
          <a:prstGeom prst="roundRect">
            <a:avLst>
              <a:gd name="adj" fmla="val 5000"/>
            </a:avLst>
          </a:prstGeom>
          <a:solidFill>
            <a:srgbClr val="EFF7F7"/>
          </a:solidFill>
          <a:ln w="15240">
            <a:solidFill>
              <a:srgbClr val="0F9D96"/>
            </a:solidFill>
            <a:prstDash val="solid"/>
          </a:ln>
        </p:spPr>
      </p:sp>
      <p:sp>
        <p:nvSpPr>
          <p:cNvPr id="10" name="Text 7"/>
          <p:cNvSpPr/>
          <p:nvPr/>
        </p:nvSpPr>
        <p:spPr>
          <a:xfrm>
            <a:off x="914400" y="1609344"/>
            <a:ext cx="1280160" cy="228600"/>
          </a:xfrm>
          <a:prstGeom prst="rect">
            <a:avLst/>
          </a:prstGeom>
          <a:noFill/>
          <a:ln/>
        </p:spPr>
        <p:txBody>
          <a:bodyPr wrap="square" lIns="0" tIns="0" rIns="0" bIns="0" rtlCol="0" anchor="ctr"/>
          <a:lstStyle/>
          <a:p>
            <a:pPr indent="0" marL="0">
              <a:buNone/>
            </a:pPr>
            <a:r>
              <a:rPr lang="en-US" sz="1100" b="1" spc="100" kern="0" dirty="0">
                <a:solidFill>
                  <a:srgbClr val="087B76"/>
                </a:solidFill>
              </a:rPr>
              <a:t>WHAT LIVES HERE</a:t>
            </a:r>
            <a:endParaRPr lang="en-US" sz="1100" dirty="0"/>
          </a:p>
        </p:txBody>
      </p:sp>
      <p:sp>
        <p:nvSpPr>
          <p:cNvPr id="11" name="Text 8"/>
          <p:cNvSpPr/>
          <p:nvPr/>
        </p:nvSpPr>
        <p:spPr>
          <a:xfrm>
            <a:off x="2423160" y="1536192"/>
            <a:ext cx="8641080" cy="384048"/>
          </a:xfrm>
          <a:prstGeom prst="rect">
            <a:avLst/>
          </a:prstGeom>
          <a:noFill/>
          <a:ln/>
        </p:spPr>
        <p:txBody>
          <a:bodyPr wrap="square" lIns="0" tIns="0" rIns="0" bIns="0" rtlCol="0" anchor="ctr">
            <a:normAutofit/>
          </a:bodyPr>
          <a:lstStyle/>
          <a:p>
            <a:pPr indent="0" marL="0">
              <a:buNone/>
            </a:pPr>
            <a:r>
              <a:rPr lang="en-US" sz="2000" b="1" dirty="0">
                <a:solidFill>
                  <a:srgbClr val="123247"/>
                </a:solidFill>
              </a:rPr>
              <a:t>Run blind physical counts and controlled variance review.</a:t>
            </a:r>
            <a:endParaRPr lang="en-US" sz="2000" dirty="0"/>
          </a:p>
        </p:txBody>
      </p:sp>
      <p:sp>
        <p:nvSpPr>
          <p:cNvPr id="12" name="Text 9"/>
          <p:cNvSpPr/>
          <p:nvPr/>
        </p:nvSpPr>
        <p:spPr>
          <a:xfrm>
            <a:off x="786384" y="2578608"/>
            <a:ext cx="2103120" cy="228600"/>
          </a:xfrm>
          <a:prstGeom prst="rect">
            <a:avLst/>
          </a:prstGeom>
          <a:noFill/>
          <a:ln/>
        </p:spPr>
        <p:txBody>
          <a:bodyPr wrap="square" lIns="0" tIns="0" rIns="0" bIns="0" rtlCol="0" anchor="ctr"/>
          <a:lstStyle/>
          <a:p>
            <a:pPr indent="0" marL="0">
              <a:buNone/>
            </a:pPr>
            <a:r>
              <a:rPr lang="en-US" sz="1100" b="1" spc="80" kern="0" dirty="0">
                <a:solidFill>
                  <a:srgbClr val="F47C20"/>
                </a:solidFill>
              </a:rPr>
              <a:t>WHO USUALLY WORKS HERE</a:t>
            </a:r>
            <a:endParaRPr lang="en-US" sz="1100" dirty="0"/>
          </a:p>
        </p:txBody>
      </p:sp>
      <p:sp>
        <p:nvSpPr>
          <p:cNvPr id="13" name="Text 10"/>
          <p:cNvSpPr/>
          <p:nvPr/>
        </p:nvSpPr>
        <p:spPr>
          <a:xfrm>
            <a:off x="3063240" y="2542032"/>
            <a:ext cx="7818120" cy="292608"/>
          </a:xfrm>
          <a:prstGeom prst="rect">
            <a:avLst/>
          </a:prstGeom>
          <a:noFill/>
          <a:ln/>
        </p:spPr>
        <p:txBody>
          <a:bodyPr wrap="square" lIns="0" tIns="0" rIns="0" bIns="0" rtlCol="0" anchor="ctr">
            <a:normAutofit/>
          </a:bodyPr>
          <a:lstStyle/>
          <a:p>
            <a:pPr indent="0" marL="0">
              <a:buNone/>
            </a:pPr>
            <a:r>
              <a:rPr lang="en-US" sz="1600" b="1" dirty="0">
                <a:solidFill>
                  <a:srgbClr val="16303D"/>
                </a:solidFill>
              </a:rPr>
              <a:t>Managers · Clerks · Supervisors · Operators</a:t>
            </a:r>
            <a:endParaRPr lang="en-US" sz="1600" dirty="0"/>
          </a:p>
        </p:txBody>
      </p:sp>
      <p:sp>
        <p:nvSpPr>
          <p:cNvPr id="14" name="Text 11"/>
          <p:cNvSpPr/>
          <p:nvPr/>
        </p:nvSpPr>
        <p:spPr>
          <a:xfrm>
            <a:off x="786384" y="3127248"/>
            <a:ext cx="2286000" cy="228600"/>
          </a:xfrm>
          <a:prstGeom prst="rect">
            <a:avLst/>
          </a:prstGeom>
          <a:noFill/>
          <a:ln/>
        </p:spPr>
        <p:txBody>
          <a:bodyPr wrap="square" lIns="0" tIns="0" rIns="0" bIns="0" rtlCol="0" anchor="ctr"/>
          <a:lstStyle/>
          <a:p>
            <a:pPr indent="0" marL="0">
              <a:buNone/>
            </a:pPr>
            <a:r>
              <a:rPr lang="en-US" sz="1100" b="1" spc="80" kern="0" dirty="0">
                <a:solidFill>
                  <a:srgbClr val="087B76"/>
                </a:solidFill>
              </a:rPr>
              <a:t>A NORMAL VISIT LOOKS LIKE</a:t>
            </a:r>
            <a:endParaRPr lang="en-US" sz="1100" dirty="0"/>
          </a:p>
        </p:txBody>
      </p:sp>
      <p:sp>
        <p:nvSpPr>
          <p:cNvPr id="15" name="Shape 12"/>
          <p:cNvSpPr/>
          <p:nvPr/>
        </p:nvSpPr>
        <p:spPr>
          <a:xfrm>
            <a:off x="914400" y="3566160"/>
            <a:ext cx="384048" cy="384048"/>
          </a:xfrm>
          <a:prstGeom prst="ellipse">
            <a:avLst/>
          </a:prstGeom>
          <a:solidFill>
            <a:srgbClr val="0F9D96"/>
          </a:solidFill>
          <a:ln w="12700">
            <a:solidFill>
              <a:srgbClr val="FFFFFF"/>
            </a:solidFill>
            <a:prstDash val="solid"/>
          </a:ln>
        </p:spPr>
      </p:sp>
      <p:sp>
        <p:nvSpPr>
          <p:cNvPr id="16" name="Text 13"/>
          <p:cNvSpPr/>
          <p:nvPr/>
        </p:nvSpPr>
        <p:spPr>
          <a:xfrm>
            <a:off x="914400" y="3657600"/>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7" name="Text 14"/>
          <p:cNvSpPr/>
          <p:nvPr/>
        </p:nvSpPr>
        <p:spPr>
          <a:xfrm>
            <a:off x="1508760" y="3593592"/>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Manager scopes and assigns CCT work</a:t>
            </a:r>
            <a:endParaRPr lang="en-US" sz="1700" dirty="0"/>
          </a:p>
        </p:txBody>
      </p:sp>
      <p:sp>
        <p:nvSpPr>
          <p:cNvPr id="18" name="Shape 15"/>
          <p:cNvSpPr/>
          <p:nvPr/>
        </p:nvSpPr>
        <p:spPr>
          <a:xfrm>
            <a:off x="914400" y="4224528"/>
            <a:ext cx="384048" cy="384048"/>
          </a:xfrm>
          <a:prstGeom prst="ellipse">
            <a:avLst/>
          </a:prstGeom>
          <a:solidFill>
            <a:srgbClr val="0F9D96"/>
          </a:solidFill>
          <a:ln w="12700">
            <a:solidFill>
              <a:srgbClr val="FFFFFF"/>
            </a:solidFill>
            <a:prstDash val="solid"/>
          </a:ln>
        </p:spPr>
      </p:sp>
      <p:sp>
        <p:nvSpPr>
          <p:cNvPr id="19" name="Text 16"/>
          <p:cNvSpPr/>
          <p:nvPr/>
        </p:nvSpPr>
        <p:spPr>
          <a:xfrm>
            <a:off x="914400" y="4315968"/>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0" name="Text 17"/>
          <p:cNvSpPr/>
          <p:nvPr/>
        </p:nvSpPr>
        <p:spPr>
          <a:xfrm>
            <a:off x="1508760" y="4251960"/>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Operator verifies location and submits the true physical count online</a:t>
            </a:r>
            <a:endParaRPr lang="en-US" sz="1700" dirty="0"/>
          </a:p>
        </p:txBody>
      </p:sp>
      <p:sp>
        <p:nvSpPr>
          <p:cNvPr id="21" name="Shape 18"/>
          <p:cNvSpPr/>
          <p:nvPr/>
        </p:nvSpPr>
        <p:spPr>
          <a:xfrm>
            <a:off x="914400" y="4882896"/>
            <a:ext cx="384048" cy="384048"/>
          </a:xfrm>
          <a:prstGeom prst="ellipse">
            <a:avLst/>
          </a:prstGeom>
          <a:solidFill>
            <a:srgbClr val="F47C20"/>
          </a:solidFill>
          <a:ln w="12700">
            <a:solidFill>
              <a:srgbClr val="FFFFFF"/>
            </a:solidFill>
            <a:prstDash val="solid"/>
          </a:ln>
        </p:spPr>
      </p:sp>
      <p:sp>
        <p:nvSpPr>
          <p:cNvPr id="22" name="Text 19"/>
          <p:cNvSpPr/>
          <p:nvPr/>
        </p:nvSpPr>
        <p:spPr>
          <a:xfrm>
            <a:off x="914400" y="4974336"/>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3" name="Text 20"/>
          <p:cNvSpPr/>
          <p:nvPr/>
        </p:nvSpPr>
        <p:spPr>
          <a:xfrm>
            <a:off x="1508760" y="4910328"/>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Supervisor reviews threshold variance, notes, and exceptions</a:t>
            </a:r>
            <a:endParaRPr lang="en-US" sz="1700" dirty="0"/>
          </a:p>
        </p:txBody>
      </p:sp>
      <p:sp>
        <p:nvSpPr>
          <p:cNvPr id="24" name="Shape 21"/>
          <p:cNvSpPr/>
          <p:nvPr/>
        </p:nvSpPr>
        <p:spPr>
          <a:xfrm>
            <a:off x="713232" y="5623560"/>
            <a:ext cx="5193792" cy="566928"/>
          </a:xfrm>
          <a:prstGeom prst="roundRect">
            <a:avLst>
              <a:gd name="adj" fmla="val 6452"/>
            </a:avLst>
          </a:prstGeom>
          <a:solidFill>
            <a:srgbClr val="EFF7F7"/>
          </a:solidFill>
          <a:ln w="12700">
            <a:solidFill>
              <a:srgbClr val="D7E2E6"/>
            </a:solidFill>
            <a:prstDash val="solid"/>
          </a:ln>
        </p:spPr>
      </p:sp>
      <p:sp>
        <p:nvSpPr>
          <p:cNvPr id="25" name="Text 22"/>
          <p:cNvSpPr/>
          <p:nvPr/>
        </p:nvSpPr>
        <p:spPr>
          <a:xfrm>
            <a:off x="914400"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087B76"/>
                </a:solidFill>
              </a:rPr>
              <a:t>WHAT HAPPENS NEXT  Approved corrections update stock and produce root-cause work.</a:t>
            </a:r>
            <a:endParaRPr lang="en-US" sz="1150" dirty="0"/>
          </a:p>
        </p:txBody>
      </p:sp>
      <p:sp>
        <p:nvSpPr>
          <p:cNvPr id="26" name="Shape 23"/>
          <p:cNvSpPr/>
          <p:nvPr/>
        </p:nvSpPr>
        <p:spPr>
          <a:xfrm>
            <a:off x="6144768" y="5623560"/>
            <a:ext cx="5193792" cy="566928"/>
          </a:xfrm>
          <a:prstGeom prst="roundRect">
            <a:avLst>
              <a:gd name="adj" fmla="val 6452"/>
            </a:avLst>
          </a:prstGeom>
          <a:solidFill>
            <a:srgbClr val="FFF3DF"/>
          </a:solidFill>
          <a:ln w="12700">
            <a:solidFill>
              <a:srgbClr val="FFC928"/>
            </a:solidFill>
            <a:prstDash val="solid"/>
          </a:ln>
        </p:spPr>
      </p:sp>
      <p:sp>
        <p:nvSpPr>
          <p:cNvPr id="27" name="Text 24"/>
          <p:cNvSpPr/>
          <p:nvPr/>
        </p:nvSpPr>
        <p:spPr>
          <a:xfrm>
            <a:off x="6345936"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C93C3C"/>
                </a:solidFill>
              </a:rPr>
              <a:t>WATCH-OUT  Do not count the expected value or approve stale post-reconnect state.</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66928" y="384048"/>
            <a:ext cx="9966960" cy="438912"/>
          </a:xfrm>
          <a:prstGeom prst="rect">
            <a:avLst/>
          </a:prstGeom>
          <a:noFill/>
          <a:ln/>
        </p:spPr>
        <p:txBody>
          <a:bodyPr wrap="square" lIns="0" tIns="0" rIns="0" bIns="0" rtlCol="0" anchor="ctr">
            <a:normAutofit/>
          </a:bodyPr>
          <a:lstStyle/>
          <a:p>
            <a:pPr indent="0" marL="0">
              <a:buNone/>
            </a:pPr>
            <a:r>
              <a:rPr lang="en-US" sz="2500" b="1" dirty="0">
                <a:solidFill>
                  <a:srgbClr val="123247"/>
                </a:solidFill>
                <a:latin typeface="Aptos Display" pitchFamily="34" charset="0"/>
                <a:ea typeface="Aptos Display" pitchFamily="34" charset="-122"/>
                <a:cs typeface="Aptos Display" pitchFamily="34" charset="-120"/>
              </a:rPr>
              <a:t>Statuses</a:t>
            </a:r>
            <a:endParaRPr lang="en-US" sz="2500" dirty="0"/>
          </a:p>
        </p:txBody>
      </p:sp>
      <p:sp>
        <p:nvSpPr>
          <p:cNvPr id="5" name="Text 2"/>
          <p:cNvSpPr/>
          <p:nvPr/>
        </p:nvSpPr>
        <p:spPr>
          <a:xfrm>
            <a:off x="10698480" y="438912"/>
            <a:ext cx="777240" cy="228600"/>
          </a:xfrm>
          <a:prstGeom prst="rect">
            <a:avLst/>
          </a:prstGeom>
          <a:noFill/>
          <a:ln/>
        </p:spPr>
        <p:txBody>
          <a:bodyPr wrap="square" lIns="0" tIns="0" rIns="0" bIns="0" rtlCol="0" anchor="ctr"/>
          <a:lstStyle/>
          <a:p>
            <a:pPr algn="r" indent="0" marL="0">
              <a:buNone/>
            </a:pPr>
            <a:r>
              <a:rPr lang="en-US" sz="900" b="1" dirty="0">
                <a:solidFill>
                  <a:srgbClr val="087B76"/>
                </a:solidFill>
              </a:rPr>
              <a:t>2 min</a:t>
            </a:r>
            <a:endParaRPr lang="en-US" sz="900" dirty="0"/>
          </a:p>
        </p:txBody>
      </p:sp>
      <p:sp>
        <p:nvSpPr>
          <p:cNvPr id="6" name="Text 3"/>
          <p:cNvSpPr/>
          <p:nvPr/>
        </p:nvSpPr>
        <p:spPr>
          <a:xfrm>
            <a:off x="585216" y="960120"/>
            <a:ext cx="4023360" cy="219456"/>
          </a:xfrm>
          <a:prstGeom prst="rect">
            <a:avLst/>
          </a:prstGeom>
          <a:noFill/>
          <a:ln/>
        </p:spPr>
        <p:txBody>
          <a:bodyPr wrap="square" lIns="0" tIns="0" rIns="0" bIns="0" rtlCol="0" anchor="ctr"/>
          <a:lstStyle/>
          <a:p>
            <a:pPr indent="0" marL="0">
              <a:buNone/>
            </a:pPr>
            <a:r>
              <a:rPr lang="en-US" sz="1000" b="1" spc="130" kern="0" dirty="0">
                <a:solidFill>
                  <a:srgbClr val="F47C20"/>
                </a:solidFill>
              </a:rPr>
              <a:t>INVENTORY CONTROL</a:t>
            </a:r>
            <a:endParaRPr lang="en-US" sz="1000" dirty="0"/>
          </a:p>
        </p:txBody>
      </p:sp>
      <p:sp>
        <p:nvSpPr>
          <p:cNvPr id="7" name="Text 4"/>
          <p:cNvSpPr/>
          <p:nvPr/>
        </p:nvSpPr>
        <p:spPr>
          <a:xfrm>
            <a:off x="566928" y="6473952"/>
            <a:ext cx="1097280" cy="182880"/>
          </a:xfrm>
          <a:prstGeom prst="rect">
            <a:avLst/>
          </a:prstGeom>
          <a:noFill/>
          <a:ln/>
        </p:spPr>
        <p:txBody>
          <a:bodyPr wrap="square" lIns="0" tIns="0" rIns="0" bIns="0" rtlCol="0" anchor="ctr"/>
          <a:lstStyle/>
          <a:p>
            <a:pPr indent="0" marL="0">
              <a:buNone/>
            </a:pPr>
            <a:r>
              <a:rPr lang="en-US" sz="800" dirty="0">
                <a:solidFill>
                  <a:srgbClr val="667985"/>
                </a:solidFill>
              </a:rPr>
              <a:t>Product 1.27</a:t>
            </a:r>
            <a:endParaRPr lang="en-US" sz="800" dirty="0"/>
          </a:p>
        </p:txBody>
      </p:sp>
      <p:sp>
        <p:nvSpPr>
          <p:cNvPr id="8" name="Text 5"/>
          <p:cNvSpPr/>
          <p:nvPr/>
        </p:nvSpPr>
        <p:spPr>
          <a:xfrm>
            <a:off x="10789920" y="6473952"/>
            <a:ext cx="731520" cy="182880"/>
          </a:xfrm>
          <a:prstGeom prst="rect">
            <a:avLst/>
          </a:prstGeom>
          <a:noFill/>
          <a:ln/>
        </p:spPr>
        <p:txBody>
          <a:bodyPr wrap="square" lIns="0" tIns="0" rIns="0" bIns="0" rtlCol="0" anchor="ctr"/>
          <a:lstStyle/>
          <a:p>
            <a:pPr algn="r" indent="0" marL="0">
              <a:buNone/>
            </a:pPr>
            <a:r>
              <a:rPr lang="en-US" sz="800" dirty="0">
                <a:solidFill>
                  <a:srgbClr val="667985"/>
                </a:solidFill>
              </a:rPr>
              <a:t>18 / 28</a:t>
            </a:r>
            <a:endParaRPr lang="en-US" sz="800" dirty="0"/>
          </a:p>
        </p:txBody>
      </p:sp>
      <p:sp>
        <p:nvSpPr>
          <p:cNvPr id="9" name="Shape 6"/>
          <p:cNvSpPr/>
          <p:nvPr/>
        </p:nvSpPr>
        <p:spPr>
          <a:xfrm>
            <a:off x="658368" y="1353312"/>
            <a:ext cx="10835640" cy="914400"/>
          </a:xfrm>
          <a:prstGeom prst="roundRect">
            <a:avLst>
              <a:gd name="adj" fmla="val 5000"/>
            </a:avLst>
          </a:prstGeom>
          <a:solidFill>
            <a:srgbClr val="EFF7F7"/>
          </a:solidFill>
          <a:ln w="15240">
            <a:solidFill>
              <a:srgbClr val="0F9D96"/>
            </a:solidFill>
            <a:prstDash val="solid"/>
          </a:ln>
        </p:spPr>
      </p:sp>
      <p:sp>
        <p:nvSpPr>
          <p:cNvPr id="10" name="Text 7"/>
          <p:cNvSpPr/>
          <p:nvPr/>
        </p:nvSpPr>
        <p:spPr>
          <a:xfrm>
            <a:off x="914400" y="1609344"/>
            <a:ext cx="1280160" cy="228600"/>
          </a:xfrm>
          <a:prstGeom prst="rect">
            <a:avLst/>
          </a:prstGeom>
          <a:noFill/>
          <a:ln/>
        </p:spPr>
        <p:txBody>
          <a:bodyPr wrap="square" lIns="0" tIns="0" rIns="0" bIns="0" rtlCol="0" anchor="ctr"/>
          <a:lstStyle/>
          <a:p>
            <a:pPr indent="0" marL="0">
              <a:buNone/>
            </a:pPr>
            <a:r>
              <a:rPr lang="en-US" sz="1100" b="1" spc="100" kern="0" dirty="0">
                <a:solidFill>
                  <a:srgbClr val="087B76"/>
                </a:solidFill>
              </a:rPr>
              <a:t>WHAT LIVES HERE</a:t>
            </a:r>
            <a:endParaRPr lang="en-US" sz="1100" dirty="0"/>
          </a:p>
        </p:txBody>
      </p:sp>
      <p:sp>
        <p:nvSpPr>
          <p:cNvPr id="11" name="Text 8"/>
          <p:cNvSpPr/>
          <p:nvPr/>
        </p:nvSpPr>
        <p:spPr>
          <a:xfrm>
            <a:off x="2423160" y="1536192"/>
            <a:ext cx="8641080" cy="384048"/>
          </a:xfrm>
          <a:prstGeom prst="rect">
            <a:avLst/>
          </a:prstGeom>
          <a:noFill/>
          <a:ln/>
        </p:spPr>
        <p:txBody>
          <a:bodyPr wrap="square" lIns="0" tIns="0" rIns="0" bIns="0" rtlCol="0" anchor="ctr">
            <a:normAutofit/>
          </a:bodyPr>
          <a:lstStyle/>
          <a:p>
            <a:pPr indent="0" marL="0">
              <a:buNone/>
            </a:pPr>
            <a:r>
              <a:rPr lang="en-US" sz="2000" b="1" dirty="0">
                <a:solidFill>
                  <a:srgbClr val="123247"/>
                </a:solidFill>
              </a:rPr>
              <a:t>Keep Available, Hold, Quarantine, Damaged, and Missing stock visible and controlled.</a:t>
            </a:r>
            <a:endParaRPr lang="en-US" sz="2000" dirty="0"/>
          </a:p>
        </p:txBody>
      </p:sp>
      <p:sp>
        <p:nvSpPr>
          <p:cNvPr id="12" name="Text 9"/>
          <p:cNvSpPr/>
          <p:nvPr/>
        </p:nvSpPr>
        <p:spPr>
          <a:xfrm>
            <a:off x="786384" y="2578608"/>
            <a:ext cx="2103120" cy="228600"/>
          </a:xfrm>
          <a:prstGeom prst="rect">
            <a:avLst/>
          </a:prstGeom>
          <a:noFill/>
          <a:ln/>
        </p:spPr>
        <p:txBody>
          <a:bodyPr wrap="square" lIns="0" tIns="0" rIns="0" bIns="0" rtlCol="0" anchor="ctr"/>
          <a:lstStyle/>
          <a:p>
            <a:pPr indent="0" marL="0">
              <a:buNone/>
            </a:pPr>
            <a:r>
              <a:rPr lang="en-US" sz="1100" b="1" spc="80" kern="0" dirty="0">
                <a:solidFill>
                  <a:srgbClr val="F47C20"/>
                </a:solidFill>
              </a:rPr>
              <a:t>WHO USUALLY WORKS HERE</a:t>
            </a:r>
            <a:endParaRPr lang="en-US" sz="1100" dirty="0"/>
          </a:p>
        </p:txBody>
      </p:sp>
      <p:sp>
        <p:nvSpPr>
          <p:cNvPr id="13" name="Text 10"/>
          <p:cNvSpPr/>
          <p:nvPr/>
        </p:nvSpPr>
        <p:spPr>
          <a:xfrm>
            <a:off x="3063240" y="2542032"/>
            <a:ext cx="7818120" cy="292608"/>
          </a:xfrm>
          <a:prstGeom prst="rect">
            <a:avLst/>
          </a:prstGeom>
          <a:noFill/>
          <a:ln/>
        </p:spPr>
        <p:txBody>
          <a:bodyPr wrap="square" lIns="0" tIns="0" rIns="0" bIns="0" rtlCol="0" anchor="ctr">
            <a:normAutofit/>
          </a:bodyPr>
          <a:lstStyle/>
          <a:p>
            <a:pPr indent="0" marL="0">
              <a:buNone/>
            </a:pPr>
            <a:r>
              <a:rPr lang="en-US" sz="1600" b="1" dirty="0">
                <a:solidFill>
                  <a:srgbClr val="16303D"/>
                </a:solidFill>
              </a:rPr>
              <a:t>Managers · Supervisors · Inventory Clerks</a:t>
            </a:r>
            <a:endParaRPr lang="en-US" sz="1600" dirty="0"/>
          </a:p>
        </p:txBody>
      </p:sp>
      <p:sp>
        <p:nvSpPr>
          <p:cNvPr id="14" name="Text 11"/>
          <p:cNvSpPr/>
          <p:nvPr/>
        </p:nvSpPr>
        <p:spPr>
          <a:xfrm>
            <a:off x="786384" y="3127248"/>
            <a:ext cx="2286000" cy="228600"/>
          </a:xfrm>
          <a:prstGeom prst="rect">
            <a:avLst/>
          </a:prstGeom>
          <a:noFill/>
          <a:ln/>
        </p:spPr>
        <p:txBody>
          <a:bodyPr wrap="square" lIns="0" tIns="0" rIns="0" bIns="0" rtlCol="0" anchor="ctr"/>
          <a:lstStyle/>
          <a:p>
            <a:pPr indent="0" marL="0">
              <a:buNone/>
            </a:pPr>
            <a:r>
              <a:rPr lang="en-US" sz="1100" b="1" spc="80" kern="0" dirty="0">
                <a:solidFill>
                  <a:srgbClr val="087B76"/>
                </a:solidFill>
              </a:rPr>
              <a:t>A NORMAL VISIT LOOKS LIKE</a:t>
            </a:r>
            <a:endParaRPr lang="en-US" sz="1100" dirty="0"/>
          </a:p>
        </p:txBody>
      </p:sp>
      <p:sp>
        <p:nvSpPr>
          <p:cNvPr id="15" name="Shape 12"/>
          <p:cNvSpPr/>
          <p:nvPr/>
        </p:nvSpPr>
        <p:spPr>
          <a:xfrm>
            <a:off x="914400" y="3566160"/>
            <a:ext cx="384048" cy="384048"/>
          </a:xfrm>
          <a:prstGeom prst="ellipse">
            <a:avLst/>
          </a:prstGeom>
          <a:solidFill>
            <a:srgbClr val="0F9D96"/>
          </a:solidFill>
          <a:ln w="12700">
            <a:solidFill>
              <a:srgbClr val="FFFFFF"/>
            </a:solidFill>
            <a:prstDash val="solid"/>
          </a:ln>
        </p:spPr>
      </p:sp>
      <p:sp>
        <p:nvSpPr>
          <p:cNvPr id="16" name="Text 13"/>
          <p:cNvSpPr/>
          <p:nvPr/>
        </p:nvSpPr>
        <p:spPr>
          <a:xfrm>
            <a:off x="914400" y="3657600"/>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7" name="Text 14"/>
          <p:cNvSpPr/>
          <p:nvPr/>
        </p:nvSpPr>
        <p:spPr>
          <a:xfrm>
            <a:off x="1508760" y="3593592"/>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Verify pallet and physical condition</a:t>
            </a:r>
            <a:endParaRPr lang="en-US" sz="1700" dirty="0"/>
          </a:p>
        </p:txBody>
      </p:sp>
      <p:sp>
        <p:nvSpPr>
          <p:cNvPr id="18" name="Shape 15"/>
          <p:cNvSpPr/>
          <p:nvPr/>
        </p:nvSpPr>
        <p:spPr>
          <a:xfrm>
            <a:off x="914400" y="4224528"/>
            <a:ext cx="384048" cy="384048"/>
          </a:xfrm>
          <a:prstGeom prst="ellipse">
            <a:avLst/>
          </a:prstGeom>
          <a:solidFill>
            <a:srgbClr val="0F9D96"/>
          </a:solidFill>
          <a:ln w="12700">
            <a:solidFill>
              <a:srgbClr val="FFFFFF"/>
            </a:solidFill>
            <a:prstDash val="solid"/>
          </a:ln>
        </p:spPr>
      </p:sp>
      <p:sp>
        <p:nvSpPr>
          <p:cNvPr id="19" name="Text 16"/>
          <p:cNvSpPr/>
          <p:nvPr/>
        </p:nvSpPr>
        <p:spPr>
          <a:xfrm>
            <a:off x="914400" y="4315968"/>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0" name="Text 17"/>
          <p:cNvSpPr/>
          <p:nvPr/>
        </p:nvSpPr>
        <p:spPr>
          <a:xfrm>
            <a:off x="1508760" y="4251960"/>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Choose only the justified status and enter a reason</a:t>
            </a:r>
            <a:endParaRPr lang="en-US" sz="1700" dirty="0"/>
          </a:p>
        </p:txBody>
      </p:sp>
      <p:sp>
        <p:nvSpPr>
          <p:cNvPr id="21" name="Shape 18"/>
          <p:cNvSpPr/>
          <p:nvPr/>
        </p:nvSpPr>
        <p:spPr>
          <a:xfrm>
            <a:off x="914400" y="4882896"/>
            <a:ext cx="384048" cy="384048"/>
          </a:xfrm>
          <a:prstGeom prst="ellipse">
            <a:avLst/>
          </a:prstGeom>
          <a:solidFill>
            <a:srgbClr val="F47C20"/>
          </a:solidFill>
          <a:ln w="12700">
            <a:solidFill>
              <a:srgbClr val="FFFFFF"/>
            </a:solidFill>
            <a:prstDash val="solid"/>
          </a:ln>
        </p:spPr>
      </p:sp>
      <p:sp>
        <p:nvSpPr>
          <p:cNvPr id="22" name="Text 19"/>
          <p:cNvSpPr/>
          <p:nvPr/>
        </p:nvSpPr>
        <p:spPr>
          <a:xfrm>
            <a:off x="914400" y="4974336"/>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3" name="Text 20"/>
          <p:cNvSpPr/>
          <p:nvPr/>
        </p:nvSpPr>
        <p:spPr>
          <a:xfrm>
            <a:off x="1508760" y="4910328"/>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Add System Log ownership when follow-up is required</a:t>
            </a:r>
            <a:endParaRPr lang="en-US" sz="1700" dirty="0"/>
          </a:p>
        </p:txBody>
      </p:sp>
      <p:sp>
        <p:nvSpPr>
          <p:cNvPr id="24" name="Shape 21"/>
          <p:cNvSpPr/>
          <p:nvPr/>
        </p:nvSpPr>
        <p:spPr>
          <a:xfrm>
            <a:off x="713232" y="5623560"/>
            <a:ext cx="5193792" cy="566928"/>
          </a:xfrm>
          <a:prstGeom prst="roundRect">
            <a:avLst>
              <a:gd name="adj" fmla="val 6452"/>
            </a:avLst>
          </a:prstGeom>
          <a:solidFill>
            <a:srgbClr val="EFF7F7"/>
          </a:solidFill>
          <a:ln w="12700">
            <a:solidFill>
              <a:srgbClr val="D7E2E6"/>
            </a:solidFill>
            <a:prstDash val="solid"/>
          </a:ln>
        </p:spPr>
      </p:sp>
      <p:sp>
        <p:nvSpPr>
          <p:cNvPr id="25" name="Text 22"/>
          <p:cNvSpPr/>
          <p:nvPr/>
        </p:nvSpPr>
        <p:spPr>
          <a:xfrm>
            <a:off x="914400"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087B76"/>
                </a:solidFill>
              </a:rPr>
              <a:t>WHAT HAPPENS NEXT  Status controls availability and the next authorized action.</a:t>
            </a:r>
            <a:endParaRPr lang="en-US" sz="1150" dirty="0"/>
          </a:p>
        </p:txBody>
      </p:sp>
      <p:sp>
        <p:nvSpPr>
          <p:cNvPr id="26" name="Shape 23"/>
          <p:cNvSpPr/>
          <p:nvPr/>
        </p:nvSpPr>
        <p:spPr>
          <a:xfrm>
            <a:off x="6144768" y="5623560"/>
            <a:ext cx="5193792" cy="566928"/>
          </a:xfrm>
          <a:prstGeom prst="roundRect">
            <a:avLst>
              <a:gd name="adj" fmla="val 6452"/>
            </a:avLst>
          </a:prstGeom>
          <a:solidFill>
            <a:srgbClr val="FFF3DF"/>
          </a:solidFill>
          <a:ln w="12700">
            <a:solidFill>
              <a:srgbClr val="FFC928"/>
            </a:solidFill>
            <a:prstDash val="solid"/>
          </a:ln>
        </p:spPr>
      </p:sp>
      <p:sp>
        <p:nvSpPr>
          <p:cNvPr id="27" name="Text 24"/>
          <p:cNvSpPr/>
          <p:nvPr/>
        </p:nvSpPr>
        <p:spPr>
          <a:xfrm>
            <a:off x="6345936"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C93C3C"/>
                </a:solidFill>
              </a:rPr>
              <a:t>WATCH-OUT  Do not mark Damaged/Missing on assumption or release without verification.</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66928" y="384048"/>
            <a:ext cx="9966960" cy="438912"/>
          </a:xfrm>
          <a:prstGeom prst="rect">
            <a:avLst/>
          </a:prstGeom>
          <a:noFill/>
          <a:ln/>
        </p:spPr>
        <p:txBody>
          <a:bodyPr wrap="square" lIns="0" tIns="0" rIns="0" bIns="0" rtlCol="0" anchor="ctr">
            <a:normAutofit/>
          </a:bodyPr>
          <a:lstStyle/>
          <a:p>
            <a:pPr indent="0" marL="0">
              <a:buNone/>
            </a:pPr>
            <a:r>
              <a:rPr lang="en-US" sz="2500" b="1" dirty="0">
                <a:solidFill>
                  <a:srgbClr val="123247"/>
                </a:solidFill>
                <a:latin typeface="Aptos Display" pitchFamily="34" charset="0"/>
                <a:ea typeface="Aptos Display" pitchFamily="34" charset="-122"/>
                <a:cs typeface="Aptos Display" pitchFamily="34" charset="-120"/>
              </a:rPr>
              <a:t>Reports</a:t>
            </a:r>
            <a:endParaRPr lang="en-US" sz="2500" dirty="0"/>
          </a:p>
        </p:txBody>
      </p:sp>
      <p:sp>
        <p:nvSpPr>
          <p:cNvPr id="5" name="Text 2"/>
          <p:cNvSpPr/>
          <p:nvPr/>
        </p:nvSpPr>
        <p:spPr>
          <a:xfrm>
            <a:off x="10698480" y="438912"/>
            <a:ext cx="777240" cy="228600"/>
          </a:xfrm>
          <a:prstGeom prst="rect">
            <a:avLst/>
          </a:prstGeom>
          <a:noFill/>
          <a:ln/>
        </p:spPr>
        <p:txBody>
          <a:bodyPr wrap="square" lIns="0" tIns="0" rIns="0" bIns="0" rtlCol="0" anchor="ctr"/>
          <a:lstStyle/>
          <a:p>
            <a:pPr algn="r" indent="0" marL="0">
              <a:buNone/>
            </a:pPr>
            <a:r>
              <a:rPr lang="en-US" sz="900" b="1" dirty="0">
                <a:solidFill>
                  <a:srgbClr val="087B76"/>
                </a:solidFill>
              </a:rPr>
              <a:t>1 min</a:t>
            </a:r>
            <a:endParaRPr lang="en-US" sz="900" dirty="0"/>
          </a:p>
        </p:txBody>
      </p:sp>
      <p:sp>
        <p:nvSpPr>
          <p:cNvPr id="6" name="Text 3"/>
          <p:cNvSpPr/>
          <p:nvPr/>
        </p:nvSpPr>
        <p:spPr>
          <a:xfrm>
            <a:off x="585216" y="960120"/>
            <a:ext cx="4023360" cy="219456"/>
          </a:xfrm>
          <a:prstGeom prst="rect">
            <a:avLst/>
          </a:prstGeom>
          <a:noFill/>
          <a:ln/>
        </p:spPr>
        <p:txBody>
          <a:bodyPr wrap="square" lIns="0" tIns="0" rIns="0" bIns="0" rtlCol="0" anchor="ctr"/>
          <a:lstStyle/>
          <a:p>
            <a:pPr indent="0" marL="0">
              <a:buNone/>
            </a:pPr>
            <a:r>
              <a:rPr lang="en-US" sz="1000" b="1" spc="130" kern="0" dirty="0">
                <a:solidFill>
                  <a:srgbClr val="F47C20"/>
                </a:solidFill>
              </a:rPr>
              <a:t>MANAGEMENT + ADMIN</a:t>
            </a:r>
            <a:endParaRPr lang="en-US" sz="1000" dirty="0"/>
          </a:p>
        </p:txBody>
      </p:sp>
      <p:sp>
        <p:nvSpPr>
          <p:cNvPr id="7" name="Text 4"/>
          <p:cNvSpPr/>
          <p:nvPr/>
        </p:nvSpPr>
        <p:spPr>
          <a:xfrm>
            <a:off x="566928" y="6473952"/>
            <a:ext cx="1097280" cy="182880"/>
          </a:xfrm>
          <a:prstGeom prst="rect">
            <a:avLst/>
          </a:prstGeom>
          <a:noFill/>
          <a:ln/>
        </p:spPr>
        <p:txBody>
          <a:bodyPr wrap="square" lIns="0" tIns="0" rIns="0" bIns="0" rtlCol="0" anchor="ctr"/>
          <a:lstStyle/>
          <a:p>
            <a:pPr indent="0" marL="0">
              <a:buNone/>
            </a:pPr>
            <a:r>
              <a:rPr lang="en-US" sz="800" dirty="0">
                <a:solidFill>
                  <a:srgbClr val="667985"/>
                </a:solidFill>
              </a:rPr>
              <a:t>Product 1.27</a:t>
            </a:r>
            <a:endParaRPr lang="en-US" sz="800" dirty="0"/>
          </a:p>
        </p:txBody>
      </p:sp>
      <p:sp>
        <p:nvSpPr>
          <p:cNvPr id="8" name="Text 5"/>
          <p:cNvSpPr/>
          <p:nvPr/>
        </p:nvSpPr>
        <p:spPr>
          <a:xfrm>
            <a:off x="10789920" y="6473952"/>
            <a:ext cx="731520" cy="182880"/>
          </a:xfrm>
          <a:prstGeom prst="rect">
            <a:avLst/>
          </a:prstGeom>
          <a:noFill/>
          <a:ln/>
        </p:spPr>
        <p:txBody>
          <a:bodyPr wrap="square" lIns="0" tIns="0" rIns="0" bIns="0" rtlCol="0" anchor="ctr"/>
          <a:lstStyle/>
          <a:p>
            <a:pPr algn="r" indent="0" marL="0">
              <a:buNone/>
            </a:pPr>
            <a:r>
              <a:rPr lang="en-US" sz="800" dirty="0">
                <a:solidFill>
                  <a:srgbClr val="667985"/>
                </a:solidFill>
              </a:rPr>
              <a:t>19 / 28</a:t>
            </a:r>
            <a:endParaRPr lang="en-US" sz="800" dirty="0"/>
          </a:p>
        </p:txBody>
      </p:sp>
      <p:sp>
        <p:nvSpPr>
          <p:cNvPr id="9" name="Shape 6"/>
          <p:cNvSpPr/>
          <p:nvPr/>
        </p:nvSpPr>
        <p:spPr>
          <a:xfrm>
            <a:off x="658368" y="1353312"/>
            <a:ext cx="10835640" cy="914400"/>
          </a:xfrm>
          <a:prstGeom prst="roundRect">
            <a:avLst>
              <a:gd name="adj" fmla="val 5000"/>
            </a:avLst>
          </a:prstGeom>
          <a:solidFill>
            <a:srgbClr val="EFF7F7"/>
          </a:solidFill>
          <a:ln w="15240">
            <a:solidFill>
              <a:srgbClr val="0F9D96"/>
            </a:solidFill>
            <a:prstDash val="solid"/>
          </a:ln>
        </p:spPr>
      </p:sp>
      <p:sp>
        <p:nvSpPr>
          <p:cNvPr id="10" name="Text 7"/>
          <p:cNvSpPr/>
          <p:nvPr/>
        </p:nvSpPr>
        <p:spPr>
          <a:xfrm>
            <a:off x="914400" y="1609344"/>
            <a:ext cx="1280160" cy="228600"/>
          </a:xfrm>
          <a:prstGeom prst="rect">
            <a:avLst/>
          </a:prstGeom>
          <a:noFill/>
          <a:ln/>
        </p:spPr>
        <p:txBody>
          <a:bodyPr wrap="square" lIns="0" tIns="0" rIns="0" bIns="0" rtlCol="0" anchor="ctr"/>
          <a:lstStyle/>
          <a:p>
            <a:pPr indent="0" marL="0">
              <a:buNone/>
            </a:pPr>
            <a:r>
              <a:rPr lang="en-US" sz="1100" b="1" spc="100" kern="0" dirty="0">
                <a:solidFill>
                  <a:srgbClr val="087B76"/>
                </a:solidFill>
              </a:rPr>
              <a:t>WHAT LIVES HERE</a:t>
            </a:r>
            <a:endParaRPr lang="en-US" sz="1100" dirty="0"/>
          </a:p>
        </p:txBody>
      </p:sp>
      <p:sp>
        <p:nvSpPr>
          <p:cNvPr id="11" name="Text 8"/>
          <p:cNvSpPr/>
          <p:nvPr/>
        </p:nvSpPr>
        <p:spPr>
          <a:xfrm>
            <a:off x="2423160" y="1536192"/>
            <a:ext cx="8641080" cy="384048"/>
          </a:xfrm>
          <a:prstGeom prst="rect">
            <a:avLst/>
          </a:prstGeom>
          <a:noFill/>
          <a:ln/>
        </p:spPr>
        <p:txBody>
          <a:bodyPr wrap="square" lIns="0" tIns="0" rIns="0" bIns="0" rtlCol="0" anchor="ctr">
            <a:normAutofit/>
          </a:bodyPr>
          <a:lstStyle/>
          <a:p>
            <a:pPr indent="0" marL="0">
              <a:buNone/>
            </a:pPr>
            <a:r>
              <a:rPr lang="en-US" sz="2000" b="1" dirty="0">
                <a:solidFill>
                  <a:srgbClr val="123247"/>
                </a:solidFill>
              </a:rPr>
              <a:t>Show management snapshots for stock, occupancy, expiry, movement, and variance.</a:t>
            </a:r>
            <a:endParaRPr lang="en-US" sz="2000" dirty="0"/>
          </a:p>
        </p:txBody>
      </p:sp>
      <p:sp>
        <p:nvSpPr>
          <p:cNvPr id="12" name="Text 9"/>
          <p:cNvSpPr/>
          <p:nvPr/>
        </p:nvSpPr>
        <p:spPr>
          <a:xfrm>
            <a:off x="786384" y="2578608"/>
            <a:ext cx="2103120" cy="228600"/>
          </a:xfrm>
          <a:prstGeom prst="rect">
            <a:avLst/>
          </a:prstGeom>
          <a:noFill/>
          <a:ln/>
        </p:spPr>
        <p:txBody>
          <a:bodyPr wrap="square" lIns="0" tIns="0" rIns="0" bIns="0" rtlCol="0" anchor="ctr"/>
          <a:lstStyle/>
          <a:p>
            <a:pPr indent="0" marL="0">
              <a:buNone/>
            </a:pPr>
            <a:r>
              <a:rPr lang="en-US" sz="1100" b="1" spc="80" kern="0" dirty="0">
                <a:solidFill>
                  <a:srgbClr val="F47C20"/>
                </a:solidFill>
              </a:rPr>
              <a:t>WHO USUALLY WORKS HERE</a:t>
            </a:r>
            <a:endParaRPr lang="en-US" sz="1100" dirty="0"/>
          </a:p>
        </p:txBody>
      </p:sp>
      <p:sp>
        <p:nvSpPr>
          <p:cNvPr id="13" name="Text 10"/>
          <p:cNvSpPr/>
          <p:nvPr/>
        </p:nvSpPr>
        <p:spPr>
          <a:xfrm>
            <a:off x="3063240" y="2542032"/>
            <a:ext cx="7818120" cy="292608"/>
          </a:xfrm>
          <a:prstGeom prst="rect">
            <a:avLst/>
          </a:prstGeom>
          <a:noFill/>
          <a:ln/>
        </p:spPr>
        <p:txBody>
          <a:bodyPr wrap="square" lIns="0" tIns="0" rIns="0" bIns="0" rtlCol="0" anchor="ctr">
            <a:normAutofit/>
          </a:bodyPr>
          <a:lstStyle/>
          <a:p>
            <a:pPr indent="0" marL="0">
              <a:buNone/>
            </a:pPr>
            <a:r>
              <a:rPr lang="en-US" sz="1600" b="1" dirty="0">
                <a:solidFill>
                  <a:srgbClr val="16303D"/>
                </a:solidFill>
              </a:rPr>
              <a:t>Admins · Managers · Supervisors · Clerks</a:t>
            </a:r>
            <a:endParaRPr lang="en-US" sz="1600" dirty="0"/>
          </a:p>
        </p:txBody>
      </p:sp>
      <p:sp>
        <p:nvSpPr>
          <p:cNvPr id="14" name="Text 11"/>
          <p:cNvSpPr/>
          <p:nvPr/>
        </p:nvSpPr>
        <p:spPr>
          <a:xfrm>
            <a:off x="786384" y="3127248"/>
            <a:ext cx="2286000" cy="228600"/>
          </a:xfrm>
          <a:prstGeom prst="rect">
            <a:avLst/>
          </a:prstGeom>
          <a:noFill/>
          <a:ln/>
        </p:spPr>
        <p:txBody>
          <a:bodyPr wrap="square" lIns="0" tIns="0" rIns="0" bIns="0" rtlCol="0" anchor="ctr"/>
          <a:lstStyle/>
          <a:p>
            <a:pPr indent="0" marL="0">
              <a:buNone/>
            </a:pPr>
            <a:r>
              <a:rPr lang="en-US" sz="1100" b="1" spc="80" kern="0" dirty="0">
                <a:solidFill>
                  <a:srgbClr val="087B76"/>
                </a:solidFill>
              </a:rPr>
              <a:t>A NORMAL VISIT LOOKS LIKE</a:t>
            </a:r>
            <a:endParaRPr lang="en-US" sz="1100" dirty="0"/>
          </a:p>
        </p:txBody>
      </p:sp>
      <p:sp>
        <p:nvSpPr>
          <p:cNvPr id="15" name="Shape 12"/>
          <p:cNvSpPr/>
          <p:nvPr/>
        </p:nvSpPr>
        <p:spPr>
          <a:xfrm>
            <a:off x="914400" y="3566160"/>
            <a:ext cx="384048" cy="384048"/>
          </a:xfrm>
          <a:prstGeom prst="ellipse">
            <a:avLst/>
          </a:prstGeom>
          <a:solidFill>
            <a:srgbClr val="0F9D96"/>
          </a:solidFill>
          <a:ln w="12700">
            <a:solidFill>
              <a:srgbClr val="FFFFFF"/>
            </a:solidFill>
            <a:prstDash val="solid"/>
          </a:ln>
        </p:spPr>
      </p:sp>
      <p:sp>
        <p:nvSpPr>
          <p:cNvPr id="16" name="Text 13"/>
          <p:cNvSpPr/>
          <p:nvPr/>
        </p:nvSpPr>
        <p:spPr>
          <a:xfrm>
            <a:off x="914400" y="3657600"/>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7" name="Text 14"/>
          <p:cNvSpPr/>
          <p:nvPr/>
        </p:nvSpPr>
        <p:spPr>
          <a:xfrm>
            <a:off x="1508760" y="3593592"/>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Review the relevant current report</a:t>
            </a:r>
            <a:endParaRPr lang="en-US" sz="1700" dirty="0"/>
          </a:p>
        </p:txBody>
      </p:sp>
      <p:sp>
        <p:nvSpPr>
          <p:cNvPr id="18" name="Shape 15"/>
          <p:cNvSpPr/>
          <p:nvPr/>
        </p:nvSpPr>
        <p:spPr>
          <a:xfrm>
            <a:off x="914400" y="4224528"/>
            <a:ext cx="384048" cy="384048"/>
          </a:xfrm>
          <a:prstGeom prst="ellipse">
            <a:avLst/>
          </a:prstGeom>
          <a:solidFill>
            <a:srgbClr val="0F9D96"/>
          </a:solidFill>
          <a:ln w="12700">
            <a:solidFill>
              <a:srgbClr val="FFFFFF"/>
            </a:solidFill>
            <a:prstDash val="solid"/>
          </a:ln>
        </p:spPr>
      </p:sp>
      <p:sp>
        <p:nvSpPr>
          <p:cNvPr id="19" name="Text 16"/>
          <p:cNvSpPr/>
          <p:nvPr/>
        </p:nvSpPr>
        <p:spPr>
          <a:xfrm>
            <a:off x="914400" y="4315968"/>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0" name="Text 17"/>
          <p:cNvSpPr/>
          <p:nvPr/>
        </p:nvSpPr>
        <p:spPr>
          <a:xfrm>
            <a:off x="1508760" y="4251960"/>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Identify the material trend or bottleneck</a:t>
            </a:r>
            <a:endParaRPr lang="en-US" sz="1700" dirty="0"/>
          </a:p>
        </p:txBody>
      </p:sp>
      <p:sp>
        <p:nvSpPr>
          <p:cNvPr id="21" name="Shape 18"/>
          <p:cNvSpPr/>
          <p:nvPr/>
        </p:nvSpPr>
        <p:spPr>
          <a:xfrm>
            <a:off x="914400" y="4882896"/>
            <a:ext cx="384048" cy="384048"/>
          </a:xfrm>
          <a:prstGeom prst="ellipse">
            <a:avLst/>
          </a:prstGeom>
          <a:solidFill>
            <a:srgbClr val="F47C20"/>
          </a:solidFill>
          <a:ln w="12700">
            <a:solidFill>
              <a:srgbClr val="FFFFFF"/>
            </a:solidFill>
            <a:prstDash val="solid"/>
          </a:ln>
        </p:spPr>
      </p:sp>
      <p:sp>
        <p:nvSpPr>
          <p:cNvPr id="22" name="Text 19"/>
          <p:cNvSpPr/>
          <p:nvPr/>
        </p:nvSpPr>
        <p:spPr>
          <a:xfrm>
            <a:off x="914400" y="4974336"/>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3" name="Text 20"/>
          <p:cNvSpPr/>
          <p:nvPr/>
        </p:nvSpPr>
        <p:spPr>
          <a:xfrm>
            <a:off x="1508760" y="4910328"/>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Drill into the operational module or Inventory Search</a:t>
            </a:r>
            <a:endParaRPr lang="en-US" sz="1700" dirty="0"/>
          </a:p>
        </p:txBody>
      </p:sp>
      <p:sp>
        <p:nvSpPr>
          <p:cNvPr id="24" name="Shape 21"/>
          <p:cNvSpPr/>
          <p:nvPr/>
        </p:nvSpPr>
        <p:spPr>
          <a:xfrm>
            <a:off x="713232" y="5623560"/>
            <a:ext cx="5193792" cy="566928"/>
          </a:xfrm>
          <a:prstGeom prst="roundRect">
            <a:avLst>
              <a:gd name="adj" fmla="val 6452"/>
            </a:avLst>
          </a:prstGeom>
          <a:solidFill>
            <a:srgbClr val="EFF7F7"/>
          </a:solidFill>
          <a:ln w="12700">
            <a:solidFill>
              <a:srgbClr val="D7E2E6"/>
            </a:solidFill>
            <a:prstDash val="solid"/>
          </a:ln>
        </p:spPr>
      </p:sp>
      <p:sp>
        <p:nvSpPr>
          <p:cNvPr id="25" name="Text 22"/>
          <p:cNvSpPr/>
          <p:nvPr/>
        </p:nvSpPr>
        <p:spPr>
          <a:xfrm>
            <a:off x="914400"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087B76"/>
                </a:solidFill>
              </a:rPr>
              <a:t>WHAT HAPPENS NEXT  Assign an action owner and verify later performance.</a:t>
            </a:r>
            <a:endParaRPr lang="en-US" sz="1150" dirty="0"/>
          </a:p>
        </p:txBody>
      </p:sp>
      <p:sp>
        <p:nvSpPr>
          <p:cNvPr id="26" name="Shape 23"/>
          <p:cNvSpPr/>
          <p:nvPr/>
        </p:nvSpPr>
        <p:spPr>
          <a:xfrm>
            <a:off x="6144768" y="5623560"/>
            <a:ext cx="5193792" cy="566928"/>
          </a:xfrm>
          <a:prstGeom prst="roundRect">
            <a:avLst>
              <a:gd name="adj" fmla="val 6452"/>
            </a:avLst>
          </a:prstGeom>
          <a:solidFill>
            <a:srgbClr val="FFF3DF"/>
          </a:solidFill>
          <a:ln w="12700">
            <a:solidFill>
              <a:srgbClr val="FFC928"/>
            </a:solidFill>
            <a:prstDash val="solid"/>
          </a:ln>
        </p:spPr>
      </p:sp>
      <p:sp>
        <p:nvSpPr>
          <p:cNvPr id="27" name="Text 24"/>
          <p:cNvSpPr/>
          <p:nvPr/>
        </p:nvSpPr>
        <p:spPr>
          <a:xfrm>
            <a:off x="6345936"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C93C3C"/>
                </a:solidFill>
              </a:rPr>
              <a:t>WATCH-OUT  Reports do not replace live transactional detail.</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66928" y="384048"/>
            <a:ext cx="9966960" cy="438912"/>
          </a:xfrm>
          <a:prstGeom prst="rect">
            <a:avLst/>
          </a:prstGeom>
          <a:noFill/>
          <a:ln/>
        </p:spPr>
        <p:txBody>
          <a:bodyPr wrap="square" lIns="0" tIns="0" rIns="0" bIns="0" rtlCol="0" anchor="ctr">
            <a:normAutofit/>
          </a:bodyPr>
          <a:lstStyle/>
          <a:p>
            <a:pPr indent="0" marL="0">
              <a:buNone/>
            </a:pPr>
            <a:r>
              <a:rPr lang="en-US" sz="2500" b="1" dirty="0">
                <a:solidFill>
                  <a:srgbClr val="123247"/>
                </a:solidFill>
                <a:latin typeface="Aptos Display" pitchFamily="34" charset="0"/>
                <a:ea typeface="Aptos Display" pitchFamily="34" charset="-122"/>
                <a:cs typeface="Aptos Display" pitchFamily="34" charset="-120"/>
              </a:rPr>
              <a:t>Users &amp; Roles</a:t>
            </a:r>
            <a:endParaRPr lang="en-US" sz="2500" dirty="0"/>
          </a:p>
        </p:txBody>
      </p:sp>
      <p:sp>
        <p:nvSpPr>
          <p:cNvPr id="5" name="Text 2"/>
          <p:cNvSpPr/>
          <p:nvPr/>
        </p:nvSpPr>
        <p:spPr>
          <a:xfrm>
            <a:off x="10698480" y="438912"/>
            <a:ext cx="777240" cy="228600"/>
          </a:xfrm>
          <a:prstGeom prst="rect">
            <a:avLst/>
          </a:prstGeom>
          <a:noFill/>
          <a:ln/>
        </p:spPr>
        <p:txBody>
          <a:bodyPr wrap="square" lIns="0" tIns="0" rIns="0" bIns="0" rtlCol="0" anchor="ctr"/>
          <a:lstStyle/>
          <a:p>
            <a:pPr algn="r" indent="0" marL="0">
              <a:buNone/>
            </a:pPr>
            <a:r>
              <a:rPr lang="en-US" sz="900" b="1" dirty="0">
                <a:solidFill>
                  <a:srgbClr val="087B76"/>
                </a:solidFill>
              </a:rPr>
              <a:t>1 min</a:t>
            </a:r>
            <a:endParaRPr lang="en-US" sz="900" dirty="0"/>
          </a:p>
        </p:txBody>
      </p:sp>
      <p:sp>
        <p:nvSpPr>
          <p:cNvPr id="6" name="Text 3"/>
          <p:cNvSpPr/>
          <p:nvPr/>
        </p:nvSpPr>
        <p:spPr>
          <a:xfrm>
            <a:off x="585216" y="960120"/>
            <a:ext cx="4023360" cy="219456"/>
          </a:xfrm>
          <a:prstGeom prst="rect">
            <a:avLst/>
          </a:prstGeom>
          <a:noFill/>
          <a:ln/>
        </p:spPr>
        <p:txBody>
          <a:bodyPr wrap="square" lIns="0" tIns="0" rIns="0" bIns="0" rtlCol="0" anchor="ctr"/>
          <a:lstStyle/>
          <a:p>
            <a:pPr indent="0" marL="0">
              <a:buNone/>
            </a:pPr>
            <a:r>
              <a:rPr lang="en-US" sz="1000" b="1" spc="130" kern="0" dirty="0">
                <a:solidFill>
                  <a:srgbClr val="F47C20"/>
                </a:solidFill>
              </a:rPr>
              <a:t>MANAGEMENT + ADMIN</a:t>
            </a:r>
            <a:endParaRPr lang="en-US" sz="1000" dirty="0"/>
          </a:p>
        </p:txBody>
      </p:sp>
      <p:sp>
        <p:nvSpPr>
          <p:cNvPr id="7" name="Text 4"/>
          <p:cNvSpPr/>
          <p:nvPr/>
        </p:nvSpPr>
        <p:spPr>
          <a:xfrm>
            <a:off x="566928" y="6473952"/>
            <a:ext cx="1097280" cy="182880"/>
          </a:xfrm>
          <a:prstGeom prst="rect">
            <a:avLst/>
          </a:prstGeom>
          <a:noFill/>
          <a:ln/>
        </p:spPr>
        <p:txBody>
          <a:bodyPr wrap="square" lIns="0" tIns="0" rIns="0" bIns="0" rtlCol="0" anchor="ctr"/>
          <a:lstStyle/>
          <a:p>
            <a:pPr indent="0" marL="0">
              <a:buNone/>
            </a:pPr>
            <a:r>
              <a:rPr lang="en-US" sz="800" dirty="0">
                <a:solidFill>
                  <a:srgbClr val="667985"/>
                </a:solidFill>
              </a:rPr>
              <a:t>Product 1.27</a:t>
            </a:r>
            <a:endParaRPr lang="en-US" sz="800" dirty="0"/>
          </a:p>
        </p:txBody>
      </p:sp>
      <p:sp>
        <p:nvSpPr>
          <p:cNvPr id="8" name="Text 5"/>
          <p:cNvSpPr/>
          <p:nvPr/>
        </p:nvSpPr>
        <p:spPr>
          <a:xfrm>
            <a:off x="10789920" y="6473952"/>
            <a:ext cx="731520" cy="182880"/>
          </a:xfrm>
          <a:prstGeom prst="rect">
            <a:avLst/>
          </a:prstGeom>
          <a:noFill/>
          <a:ln/>
        </p:spPr>
        <p:txBody>
          <a:bodyPr wrap="square" lIns="0" tIns="0" rIns="0" bIns="0" rtlCol="0" anchor="ctr"/>
          <a:lstStyle/>
          <a:p>
            <a:pPr algn="r" indent="0" marL="0">
              <a:buNone/>
            </a:pPr>
            <a:r>
              <a:rPr lang="en-US" sz="800" dirty="0">
                <a:solidFill>
                  <a:srgbClr val="667985"/>
                </a:solidFill>
              </a:rPr>
              <a:t>20 / 28</a:t>
            </a:r>
            <a:endParaRPr lang="en-US" sz="800" dirty="0"/>
          </a:p>
        </p:txBody>
      </p:sp>
      <p:sp>
        <p:nvSpPr>
          <p:cNvPr id="9" name="Shape 6"/>
          <p:cNvSpPr/>
          <p:nvPr/>
        </p:nvSpPr>
        <p:spPr>
          <a:xfrm>
            <a:off x="658368" y="1353312"/>
            <a:ext cx="10835640" cy="914400"/>
          </a:xfrm>
          <a:prstGeom prst="roundRect">
            <a:avLst>
              <a:gd name="adj" fmla="val 5000"/>
            </a:avLst>
          </a:prstGeom>
          <a:solidFill>
            <a:srgbClr val="EFF7F7"/>
          </a:solidFill>
          <a:ln w="15240">
            <a:solidFill>
              <a:srgbClr val="0F9D96"/>
            </a:solidFill>
            <a:prstDash val="solid"/>
          </a:ln>
        </p:spPr>
      </p:sp>
      <p:sp>
        <p:nvSpPr>
          <p:cNvPr id="10" name="Text 7"/>
          <p:cNvSpPr/>
          <p:nvPr/>
        </p:nvSpPr>
        <p:spPr>
          <a:xfrm>
            <a:off x="914400" y="1609344"/>
            <a:ext cx="1280160" cy="228600"/>
          </a:xfrm>
          <a:prstGeom prst="rect">
            <a:avLst/>
          </a:prstGeom>
          <a:noFill/>
          <a:ln/>
        </p:spPr>
        <p:txBody>
          <a:bodyPr wrap="square" lIns="0" tIns="0" rIns="0" bIns="0" rtlCol="0" anchor="ctr"/>
          <a:lstStyle/>
          <a:p>
            <a:pPr indent="0" marL="0">
              <a:buNone/>
            </a:pPr>
            <a:r>
              <a:rPr lang="en-US" sz="1100" b="1" spc="100" kern="0" dirty="0">
                <a:solidFill>
                  <a:srgbClr val="087B76"/>
                </a:solidFill>
              </a:rPr>
              <a:t>WHAT LIVES HERE</a:t>
            </a:r>
            <a:endParaRPr lang="en-US" sz="1100" dirty="0"/>
          </a:p>
        </p:txBody>
      </p:sp>
      <p:sp>
        <p:nvSpPr>
          <p:cNvPr id="11" name="Text 8"/>
          <p:cNvSpPr/>
          <p:nvPr/>
        </p:nvSpPr>
        <p:spPr>
          <a:xfrm>
            <a:off x="2423160" y="1536192"/>
            <a:ext cx="8641080" cy="384048"/>
          </a:xfrm>
          <a:prstGeom prst="rect">
            <a:avLst/>
          </a:prstGeom>
          <a:noFill/>
          <a:ln/>
        </p:spPr>
        <p:txBody>
          <a:bodyPr wrap="square" lIns="0" tIns="0" rIns="0" bIns="0" rtlCol="0" anchor="ctr">
            <a:normAutofit/>
          </a:bodyPr>
          <a:lstStyle/>
          <a:p>
            <a:pPr indent="0" marL="0">
              <a:buNone/>
            </a:pPr>
            <a:r>
              <a:rPr lang="en-US" sz="2000" b="1" dirty="0">
                <a:solidFill>
                  <a:srgbClr val="123247"/>
                </a:solidFill>
              </a:rPr>
              <a:t>Create, approve, authorize, badge/PIN-enable, disable, and audit access.</a:t>
            </a:r>
            <a:endParaRPr lang="en-US" sz="2000" dirty="0"/>
          </a:p>
        </p:txBody>
      </p:sp>
      <p:sp>
        <p:nvSpPr>
          <p:cNvPr id="12" name="Text 9"/>
          <p:cNvSpPr/>
          <p:nvPr/>
        </p:nvSpPr>
        <p:spPr>
          <a:xfrm>
            <a:off x="786384" y="2578608"/>
            <a:ext cx="2103120" cy="228600"/>
          </a:xfrm>
          <a:prstGeom prst="rect">
            <a:avLst/>
          </a:prstGeom>
          <a:noFill/>
          <a:ln/>
        </p:spPr>
        <p:txBody>
          <a:bodyPr wrap="square" lIns="0" tIns="0" rIns="0" bIns="0" rtlCol="0" anchor="ctr"/>
          <a:lstStyle/>
          <a:p>
            <a:pPr indent="0" marL="0">
              <a:buNone/>
            </a:pPr>
            <a:r>
              <a:rPr lang="en-US" sz="1100" b="1" spc="80" kern="0" dirty="0">
                <a:solidFill>
                  <a:srgbClr val="F47C20"/>
                </a:solidFill>
              </a:rPr>
              <a:t>WHO USUALLY WORKS HERE</a:t>
            </a:r>
            <a:endParaRPr lang="en-US" sz="1100" dirty="0"/>
          </a:p>
        </p:txBody>
      </p:sp>
      <p:sp>
        <p:nvSpPr>
          <p:cNvPr id="13" name="Text 10"/>
          <p:cNvSpPr/>
          <p:nvPr/>
        </p:nvSpPr>
        <p:spPr>
          <a:xfrm>
            <a:off x="3063240" y="2542032"/>
            <a:ext cx="7818120" cy="292608"/>
          </a:xfrm>
          <a:prstGeom prst="rect">
            <a:avLst/>
          </a:prstGeom>
          <a:noFill/>
          <a:ln/>
        </p:spPr>
        <p:txBody>
          <a:bodyPr wrap="square" lIns="0" tIns="0" rIns="0" bIns="0" rtlCol="0" anchor="ctr">
            <a:normAutofit/>
          </a:bodyPr>
          <a:lstStyle/>
          <a:p>
            <a:pPr indent="0" marL="0">
              <a:buNone/>
            </a:pPr>
            <a:r>
              <a:rPr lang="en-US" sz="1600" b="1" dirty="0">
                <a:solidFill>
                  <a:srgbClr val="16303D"/>
                </a:solidFill>
              </a:rPr>
              <a:t>Admins</a:t>
            </a:r>
            <a:endParaRPr lang="en-US" sz="1600" dirty="0"/>
          </a:p>
        </p:txBody>
      </p:sp>
      <p:sp>
        <p:nvSpPr>
          <p:cNvPr id="14" name="Text 11"/>
          <p:cNvSpPr/>
          <p:nvPr/>
        </p:nvSpPr>
        <p:spPr>
          <a:xfrm>
            <a:off x="786384" y="3127248"/>
            <a:ext cx="2286000" cy="228600"/>
          </a:xfrm>
          <a:prstGeom prst="rect">
            <a:avLst/>
          </a:prstGeom>
          <a:noFill/>
          <a:ln/>
        </p:spPr>
        <p:txBody>
          <a:bodyPr wrap="square" lIns="0" tIns="0" rIns="0" bIns="0" rtlCol="0" anchor="ctr"/>
          <a:lstStyle/>
          <a:p>
            <a:pPr indent="0" marL="0">
              <a:buNone/>
            </a:pPr>
            <a:r>
              <a:rPr lang="en-US" sz="1100" b="1" spc="80" kern="0" dirty="0">
                <a:solidFill>
                  <a:srgbClr val="087B76"/>
                </a:solidFill>
              </a:rPr>
              <a:t>A NORMAL VISIT LOOKS LIKE</a:t>
            </a:r>
            <a:endParaRPr lang="en-US" sz="1100" dirty="0"/>
          </a:p>
        </p:txBody>
      </p:sp>
      <p:sp>
        <p:nvSpPr>
          <p:cNvPr id="15" name="Shape 12"/>
          <p:cNvSpPr/>
          <p:nvPr/>
        </p:nvSpPr>
        <p:spPr>
          <a:xfrm>
            <a:off x="914400" y="3566160"/>
            <a:ext cx="384048" cy="384048"/>
          </a:xfrm>
          <a:prstGeom prst="ellipse">
            <a:avLst/>
          </a:prstGeom>
          <a:solidFill>
            <a:srgbClr val="0F9D96"/>
          </a:solidFill>
          <a:ln w="12700">
            <a:solidFill>
              <a:srgbClr val="FFFFFF"/>
            </a:solidFill>
            <a:prstDash val="solid"/>
          </a:ln>
        </p:spPr>
      </p:sp>
      <p:sp>
        <p:nvSpPr>
          <p:cNvPr id="16" name="Text 13"/>
          <p:cNvSpPr/>
          <p:nvPr/>
        </p:nvSpPr>
        <p:spPr>
          <a:xfrm>
            <a:off x="914400" y="3657600"/>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7" name="Text 14"/>
          <p:cNvSpPr/>
          <p:nvPr/>
        </p:nvSpPr>
        <p:spPr>
          <a:xfrm>
            <a:off x="1508760" y="3593592"/>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Create/approve the user</a:t>
            </a:r>
            <a:endParaRPr lang="en-US" sz="1700" dirty="0"/>
          </a:p>
        </p:txBody>
      </p:sp>
      <p:sp>
        <p:nvSpPr>
          <p:cNvPr id="18" name="Shape 15"/>
          <p:cNvSpPr/>
          <p:nvPr/>
        </p:nvSpPr>
        <p:spPr>
          <a:xfrm>
            <a:off x="914400" y="4224528"/>
            <a:ext cx="384048" cy="384048"/>
          </a:xfrm>
          <a:prstGeom prst="ellipse">
            <a:avLst/>
          </a:prstGeom>
          <a:solidFill>
            <a:srgbClr val="0F9D96"/>
          </a:solidFill>
          <a:ln w="12700">
            <a:solidFill>
              <a:srgbClr val="FFFFFF"/>
            </a:solidFill>
            <a:prstDash val="solid"/>
          </a:ln>
        </p:spPr>
      </p:sp>
      <p:sp>
        <p:nvSpPr>
          <p:cNvPr id="19" name="Text 16"/>
          <p:cNvSpPr/>
          <p:nvPr/>
        </p:nvSpPr>
        <p:spPr>
          <a:xfrm>
            <a:off x="914400" y="4315968"/>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0" name="Text 17"/>
          <p:cNvSpPr/>
          <p:nvPr/>
        </p:nvSpPr>
        <p:spPr>
          <a:xfrm>
            <a:off x="1508760" y="4251960"/>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Assign least privilege and issue approved credentials</a:t>
            </a:r>
            <a:endParaRPr lang="en-US" sz="1700" dirty="0"/>
          </a:p>
        </p:txBody>
      </p:sp>
      <p:sp>
        <p:nvSpPr>
          <p:cNvPr id="21" name="Shape 18"/>
          <p:cNvSpPr/>
          <p:nvPr/>
        </p:nvSpPr>
        <p:spPr>
          <a:xfrm>
            <a:off x="914400" y="4882896"/>
            <a:ext cx="384048" cy="384048"/>
          </a:xfrm>
          <a:prstGeom prst="ellipse">
            <a:avLst/>
          </a:prstGeom>
          <a:solidFill>
            <a:srgbClr val="F47C20"/>
          </a:solidFill>
          <a:ln w="12700">
            <a:solidFill>
              <a:srgbClr val="FFFFFF"/>
            </a:solidFill>
            <a:prstDash val="solid"/>
          </a:ln>
        </p:spPr>
      </p:sp>
      <p:sp>
        <p:nvSpPr>
          <p:cNvPr id="22" name="Text 19"/>
          <p:cNvSpPr/>
          <p:nvPr/>
        </p:nvSpPr>
        <p:spPr>
          <a:xfrm>
            <a:off x="914400" y="4974336"/>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3" name="Text 20"/>
          <p:cNvSpPr/>
          <p:nvPr/>
        </p:nvSpPr>
        <p:spPr>
          <a:xfrm>
            <a:off x="1508760" y="4910328"/>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Test access; hide role or disable profile non-destructively</a:t>
            </a:r>
            <a:endParaRPr lang="en-US" sz="1700" dirty="0"/>
          </a:p>
        </p:txBody>
      </p:sp>
      <p:sp>
        <p:nvSpPr>
          <p:cNvPr id="24" name="Shape 21"/>
          <p:cNvSpPr/>
          <p:nvPr/>
        </p:nvSpPr>
        <p:spPr>
          <a:xfrm>
            <a:off x="713232" y="5623560"/>
            <a:ext cx="5193792" cy="566928"/>
          </a:xfrm>
          <a:prstGeom prst="roundRect">
            <a:avLst>
              <a:gd name="adj" fmla="val 6452"/>
            </a:avLst>
          </a:prstGeom>
          <a:solidFill>
            <a:srgbClr val="EFF7F7"/>
          </a:solidFill>
          <a:ln w="12700">
            <a:solidFill>
              <a:srgbClr val="D7E2E6"/>
            </a:solidFill>
            <a:prstDash val="solid"/>
          </a:ln>
        </p:spPr>
      </p:sp>
      <p:sp>
        <p:nvSpPr>
          <p:cNvPr id="25" name="Text 22"/>
          <p:cNvSpPr/>
          <p:nvPr/>
        </p:nvSpPr>
        <p:spPr>
          <a:xfrm>
            <a:off x="914400"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087B76"/>
                </a:solidFill>
              </a:rPr>
              <a:t>WHAT HAPPENS NEXT  Reassign open work before access changes.</a:t>
            </a:r>
            <a:endParaRPr lang="en-US" sz="1150" dirty="0"/>
          </a:p>
        </p:txBody>
      </p:sp>
      <p:sp>
        <p:nvSpPr>
          <p:cNvPr id="26" name="Shape 23"/>
          <p:cNvSpPr/>
          <p:nvPr/>
        </p:nvSpPr>
        <p:spPr>
          <a:xfrm>
            <a:off x="6144768" y="5623560"/>
            <a:ext cx="5193792" cy="566928"/>
          </a:xfrm>
          <a:prstGeom prst="roundRect">
            <a:avLst>
              <a:gd name="adj" fmla="val 6452"/>
            </a:avLst>
          </a:prstGeom>
          <a:solidFill>
            <a:srgbClr val="FFF3DF"/>
          </a:solidFill>
          <a:ln w="12700">
            <a:solidFill>
              <a:srgbClr val="FFC928"/>
            </a:solidFill>
            <a:prstDash val="solid"/>
          </a:ln>
        </p:spPr>
      </p:sp>
      <p:sp>
        <p:nvSpPr>
          <p:cNvPr id="27" name="Text 24"/>
          <p:cNvSpPr/>
          <p:nvPr/>
        </p:nvSpPr>
        <p:spPr>
          <a:xfrm>
            <a:off x="6345936"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C93C3C"/>
                </a:solidFill>
              </a:rPr>
              <a:t>WATCH-OUT  No shared credentials, excessive roles, deletion, or mid-task disablement.</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66928" y="384048"/>
            <a:ext cx="9966960" cy="438912"/>
          </a:xfrm>
          <a:prstGeom prst="rect">
            <a:avLst/>
          </a:prstGeom>
          <a:noFill/>
          <a:ln/>
        </p:spPr>
        <p:txBody>
          <a:bodyPr wrap="square" lIns="0" tIns="0" rIns="0" bIns="0" rtlCol="0" anchor="ctr">
            <a:normAutofit/>
          </a:bodyPr>
          <a:lstStyle/>
          <a:p>
            <a:pPr indent="0" marL="0">
              <a:buNone/>
            </a:pPr>
            <a:r>
              <a:rPr lang="en-US" sz="2500" b="1" dirty="0">
                <a:solidFill>
                  <a:srgbClr val="123247"/>
                </a:solidFill>
                <a:latin typeface="Aptos Display" pitchFamily="34" charset="0"/>
                <a:ea typeface="Aptos Display" pitchFamily="34" charset="-122"/>
                <a:cs typeface="Aptos Display" pitchFamily="34" charset="-120"/>
              </a:rPr>
              <a:t>System Log</a:t>
            </a:r>
            <a:endParaRPr lang="en-US" sz="2500" dirty="0"/>
          </a:p>
        </p:txBody>
      </p:sp>
      <p:sp>
        <p:nvSpPr>
          <p:cNvPr id="5" name="Text 2"/>
          <p:cNvSpPr/>
          <p:nvPr/>
        </p:nvSpPr>
        <p:spPr>
          <a:xfrm>
            <a:off x="10698480" y="438912"/>
            <a:ext cx="777240" cy="228600"/>
          </a:xfrm>
          <a:prstGeom prst="rect">
            <a:avLst/>
          </a:prstGeom>
          <a:noFill/>
          <a:ln/>
        </p:spPr>
        <p:txBody>
          <a:bodyPr wrap="square" lIns="0" tIns="0" rIns="0" bIns="0" rtlCol="0" anchor="ctr"/>
          <a:lstStyle/>
          <a:p>
            <a:pPr algn="r" indent="0" marL="0">
              <a:buNone/>
            </a:pPr>
            <a:r>
              <a:rPr lang="en-US" sz="900" b="1" dirty="0">
                <a:solidFill>
                  <a:srgbClr val="087B76"/>
                </a:solidFill>
              </a:rPr>
              <a:t>1 min</a:t>
            </a:r>
            <a:endParaRPr lang="en-US" sz="900" dirty="0"/>
          </a:p>
        </p:txBody>
      </p:sp>
      <p:sp>
        <p:nvSpPr>
          <p:cNvPr id="6" name="Text 3"/>
          <p:cNvSpPr/>
          <p:nvPr/>
        </p:nvSpPr>
        <p:spPr>
          <a:xfrm>
            <a:off x="585216" y="960120"/>
            <a:ext cx="4023360" cy="219456"/>
          </a:xfrm>
          <a:prstGeom prst="rect">
            <a:avLst/>
          </a:prstGeom>
          <a:noFill/>
          <a:ln/>
        </p:spPr>
        <p:txBody>
          <a:bodyPr wrap="square" lIns="0" tIns="0" rIns="0" bIns="0" rtlCol="0" anchor="ctr"/>
          <a:lstStyle/>
          <a:p>
            <a:pPr indent="0" marL="0">
              <a:buNone/>
            </a:pPr>
            <a:r>
              <a:rPr lang="en-US" sz="1000" b="1" spc="130" kern="0" dirty="0">
                <a:solidFill>
                  <a:srgbClr val="F47C20"/>
                </a:solidFill>
              </a:rPr>
              <a:t>MANAGEMENT + ADMIN</a:t>
            </a:r>
            <a:endParaRPr lang="en-US" sz="1000" dirty="0"/>
          </a:p>
        </p:txBody>
      </p:sp>
      <p:sp>
        <p:nvSpPr>
          <p:cNvPr id="7" name="Text 4"/>
          <p:cNvSpPr/>
          <p:nvPr/>
        </p:nvSpPr>
        <p:spPr>
          <a:xfrm>
            <a:off x="566928" y="6473952"/>
            <a:ext cx="1097280" cy="182880"/>
          </a:xfrm>
          <a:prstGeom prst="rect">
            <a:avLst/>
          </a:prstGeom>
          <a:noFill/>
          <a:ln/>
        </p:spPr>
        <p:txBody>
          <a:bodyPr wrap="square" lIns="0" tIns="0" rIns="0" bIns="0" rtlCol="0" anchor="ctr"/>
          <a:lstStyle/>
          <a:p>
            <a:pPr indent="0" marL="0">
              <a:buNone/>
            </a:pPr>
            <a:r>
              <a:rPr lang="en-US" sz="800" dirty="0">
                <a:solidFill>
                  <a:srgbClr val="667985"/>
                </a:solidFill>
              </a:rPr>
              <a:t>Product 1.27</a:t>
            </a:r>
            <a:endParaRPr lang="en-US" sz="800" dirty="0"/>
          </a:p>
        </p:txBody>
      </p:sp>
      <p:sp>
        <p:nvSpPr>
          <p:cNvPr id="8" name="Text 5"/>
          <p:cNvSpPr/>
          <p:nvPr/>
        </p:nvSpPr>
        <p:spPr>
          <a:xfrm>
            <a:off x="10789920" y="6473952"/>
            <a:ext cx="731520" cy="182880"/>
          </a:xfrm>
          <a:prstGeom prst="rect">
            <a:avLst/>
          </a:prstGeom>
          <a:noFill/>
          <a:ln/>
        </p:spPr>
        <p:txBody>
          <a:bodyPr wrap="square" lIns="0" tIns="0" rIns="0" bIns="0" rtlCol="0" anchor="ctr"/>
          <a:lstStyle/>
          <a:p>
            <a:pPr algn="r" indent="0" marL="0">
              <a:buNone/>
            </a:pPr>
            <a:r>
              <a:rPr lang="en-US" sz="800" dirty="0">
                <a:solidFill>
                  <a:srgbClr val="667985"/>
                </a:solidFill>
              </a:rPr>
              <a:t>21 / 28</a:t>
            </a:r>
            <a:endParaRPr lang="en-US" sz="800" dirty="0"/>
          </a:p>
        </p:txBody>
      </p:sp>
      <p:sp>
        <p:nvSpPr>
          <p:cNvPr id="9" name="Shape 6"/>
          <p:cNvSpPr/>
          <p:nvPr/>
        </p:nvSpPr>
        <p:spPr>
          <a:xfrm>
            <a:off x="658368" y="1353312"/>
            <a:ext cx="10835640" cy="914400"/>
          </a:xfrm>
          <a:prstGeom prst="roundRect">
            <a:avLst>
              <a:gd name="adj" fmla="val 5000"/>
            </a:avLst>
          </a:prstGeom>
          <a:solidFill>
            <a:srgbClr val="EFF7F7"/>
          </a:solidFill>
          <a:ln w="15240">
            <a:solidFill>
              <a:srgbClr val="0F9D96"/>
            </a:solidFill>
            <a:prstDash val="solid"/>
          </a:ln>
        </p:spPr>
      </p:sp>
      <p:sp>
        <p:nvSpPr>
          <p:cNvPr id="10" name="Text 7"/>
          <p:cNvSpPr/>
          <p:nvPr/>
        </p:nvSpPr>
        <p:spPr>
          <a:xfrm>
            <a:off x="914400" y="1609344"/>
            <a:ext cx="1280160" cy="228600"/>
          </a:xfrm>
          <a:prstGeom prst="rect">
            <a:avLst/>
          </a:prstGeom>
          <a:noFill/>
          <a:ln/>
        </p:spPr>
        <p:txBody>
          <a:bodyPr wrap="square" lIns="0" tIns="0" rIns="0" bIns="0" rtlCol="0" anchor="ctr"/>
          <a:lstStyle/>
          <a:p>
            <a:pPr indent="0" marL="0">
              <a:buNone/>
            </a:pPr>
            <a:r>
              <a:rPr lang="en-US" sz="1100" b="1" spc="100" kern="0" dirty="0">
                <a:solidFill>
                  <a:srgbClr val="087B76"/>
                </a:solidFill>
              </a:rPr>
              <a:t>WHAT LIVES HERE</a:t>
            </a:r>
            <a:endParaRPr lang="en-US" sz="1100" dirty="0"/>
          </a:p>
        </p:txBody>
      </p:sp>
      <p:sp>
        <p:nvSpPr>
          <p:cNvPr id="11" name="Text 8"/>
          <p:cNvSpPr/>
          <p:nvPr/>
        </p:nvSpPr>
        <p:spPr>
          <a:xfrm>
            <a:off x="2423160" y="1536192"/>
            <a:ext cx="8641080" cy="384048"/>
          </a:xfrm>
          <a:prstGeom prst="rect">
            <a:avLst/>
          </a:prstGeom>
          <a:noFill/>
          <a:ln/>
        </p:spPr>
        <p:txBody>
          <a:bodyPr wrap="square" lIns="0" tIns="0" rIns="0" bIns="0" rtlCol="0" anchor="ctr">
            <a:normAutofit/>
          </a:bodyPr>
          <a:lstStyle/>
          <a:p>
            <a:pPr indent="0" marL="0">
              <a:buNone/>
            </a:pPr>
            <a:r>
              <a:rPr lang="en-US" sz="2000" b="1" dirty="0">
                <a:solidFill>
                  <a:srgbClr val="123247"/>
                </a:solidFill>
              </a:rPr>
              <a:t>Track operational issues, RF alerts, support notes, ownership, and resolution.</a:t>
            </a:r>
            <a:endParaRPr lang="en-US" sz="2000" dirty="0"/>
          </a:p>
        </p:txBody>
      </p:sp>
      <p:sp>
        <p:nvSpPr>
          <p:cNvPr id="12" name="Text 9"/>
          <p:cNvSpPr/>
          <p:nvPr/>
        </p:nvSpPr>
        <p:spPr>
          <a:xfrm>
            <a:off x="786384" y="2578608"/>
            <a:ext cx="2103120" cy="228600"/>
          </a:xfrm>
          <a:prstGeom prst="rect">
            <a:avLst/>
          </a:prstGeom>
          <a:noFill/>
          <a:ln/>
        </p:spPr>
        <p:txBody>
          <a:bodyPr wrap="square" lIns="0" tIns="0" rIns="0" bIns="0" rtlCol="0" anchor="ctr"/>
          <a:lstStyle/>
          <a:p>
            <a:pPr indent="0" marL="0">
              <a:buNone/>
            </a:pPr>
            <a:r>
              <a:rPr lang="en-US" sz="1100" b="1" spc="80" kern="0" dirty="0">
                <a:solidFill>
                  <a:srgbClr val="F47C20"/>
                </a:solidFill>
              </a:rPr>
              <a:t>WHO USUALLY WORKS HERE</a:t>
            </a:r>
            <a:endParaRPr lang="en-US" sz="1100" dirty="0"/>
          </a:p>
        </p:txBody>
      </p:sp>
      <p:sp>
        <p:nvSpPr>
          <p:cNvPr id="13" name="Text 10"/>
          <p:cNvSpPr/>
          <p:nvPr/>
        </p:nvSpPr>
        <p:spPr>
          <a:xfrm>
            <a:off x="3063240" y="2542032"/>
            <a:ext cx="7818120" cy="292608"/>
          </a:xfrm>
          <a:prstGeom prst="rect">
            <a:avLst/>
          </a:prstGeom>
          <a:noFill/>
          <a:ln/>
        </p:spPr>
        <p:txBody>
          <a:bodyPr wrap="square" lIns="0" tIns="0" rIns="0" bIns="0" rtlCol="0" anchor="ctr">
            <a:normAutofit/>
          </a:bodyPr>
          <a:lstStyle/>
          <a:p>
            <a:pPr indent="0" marL="0">
              <a:buNone/>
            </a:pPr>
            <a:r>
              <a:rPr lang="en-US" sz="1600" b="1" dirty="0">
                <a:solidFill>
                  <a:srgbClr val="16303D"/>
                </a:solidFill>
              </a:rPr>
              <a:t>Admins · Warehouse Managers</a:t>
            </a:r>
            <a:endParaRPr lang="en-US" sz="1600" dirty="0"/>
          </a:p>
        </p:txBody>
      </p:sp>
      <p:sp>
        <p:nvSpPr>
          <p:cNvPr id="14" name="Text 11"/>
          <p:cNvSpPr/>
          <p:nvPr/>
        </p:nvSpPr>
        <p:spPr>
          <a:xfrm>
            <a:off x="786384" y="3127248"/>
            <a:ext cx="2286000" cy="228600"/>
          </a:xfrm>
          <a:prstGeom prst="rect">
            <a:avLst/>
          </a:prstGeom>
          <a:noFill/>
          <a:ln/>
        </p:spPr>
        <p:txBody>
          <a:bodyPr wrap="square" lIns="0" tIns="0" rIns="0" bIns="0" rtlCol="0" anchor="ctr"/>
          <a:lstStyle/>
          <a:p>
            <a:pPr indent="0" marL="0">
              <a:buNone/>
            </a:pPr>
            <a:r>
              <a:rPr lang="en-US" sz="1100" b="1" spc="80" kern="0" dirty="0">
                <a:solidFill>
                  <a:srgbClr val="087B76"/>
                </a:solidFill>
              </a:rPr>
              <a:t>A NORMAL VISIT LOOKS LIKE</a:t>
            </a:r>
            <a:endParaRPr lang="en-US" sz="1100" dirty="0"/>
          </a:p>
        </p:txBody>
      </p:sp>
      <p:sp>
        <p:nvSpPr>
          <p:cNvPr id="15" name="Shape 12"/>
          <p:cNvSpPr/>
          <p:nvPr/>
        </p:nvSpPr>
        <p:spPr>
          <a:xfrm>
            <a:off x="914400" y="3566160"/>
            <a:ext cx="384048" cy="384048"/>
          </a:xfrm>
          <a:prstGeom prst="ellipse">
            <a:avLst/>
          </a:prstGeom>
          <a:solidFill>
            <a:srgbClr val="0F9D96"/>
          </a:solidFill>
          <a:ln w="12700">
            <a:solidFill>
              <a:srgbClr val="FFFFFF"/>
            </a:solidFill>
            <a:prstDash val="solid"/>
          </a:ln>
        </p:spPr>
      </p:sp>
      <p:sp>
        <p:nvSpPr>
          <p:cNvPr id="16" name="Text 13"/>
          <p:cNvSpPr/>
          <p:nvPr/>
        </p:nvSpPr>
        <p:spPr>
          <a:xfrm>
            <a:off x="914400" y="3657600"/>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7" name="Text 14"/>
          <p:cNvSpPr/>
          <p:nvPr/>
        </p:nvSpPr>
        <p:spPr>
          <a:xfrm>
            <a:off x="1508760" y="3593592"/>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Review evidence and severity</a:t>
            </a:r>
            <a:endParaRPr lang="en-US" sz="1700" dirty="0"/>
          </a:p>
        </p:txBody>
      </p:sp>
      <p:sp>
        <p:nvSpPr>
          <p:cNvPr id="18" name="Shape 15"/>
          <p:cNvSpPr/>
          <p:nvPr/>
        </p:nvSpPr>
        <p:spPr>
          <a:xfrm>
            <a:off x="914400" y="4224528"/>
            <a:ext cx="384048" cy="384048"/>
          </a:xfrm>
          <a:prstGeom prst="ellipse">
            <a:avLst/>
          </a:prstGeom>
          <a:solidFill>
            <a:srgbClr val="0F9D96"/>
          </a:solidFill>
          <a:ln w="12700">
            <a:solidFill>
              <a:srgbClr val="FFFFFF"/>
            </a:solidFill>
            <a:prstDash val="solid"/>
          </a:ln>
        </p:spPr>
      </p:sp>
      <p:sp>
        <p:nvSpPr>
          <p:cNvPr id="19" name="Text 16"/>
          <p:cNvSpPr/>
          <p:nvPr/>
        </p:nvSpPr>
        <p:spPr>
          <a:xfrm>
            <a:off x="914400" y="4315968"/>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0" name="Text 17"/>
          <p:cNvSpPr/>
          <p:nvPr/>
        </p:nvSpPr>
        <p:spPr>
          <a:xfrm>
            <a:off x="1508760" y="4251960"/>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Assign the correct owner and investigate underlying records</a:t>
            </a:r>
            <a:endParaRPr lang="en-US" sz="1700" dirty="0"/>
          </a:p>
        </p:txBody>
      </p:sp>
      <p:sp>
        <p:nvSpPr>
          <p:cNvPr id="21" name="Shape 18"/>
          <p:cNvSpPr/>
          <p:nvPr/>
        </p:nvSpPr>
        <p:spPr>
          <a:xfrm>
            <a:off x="914400" y="4882896"/>
            <a:ext cx="384048" cy="384048"/>
          </a:xfrm>
          <a:prstGeom prst="ellipse">
            <a:avLst/>
          </a:prstGeom>
          <a:solidFill>
            <a:srgbClr val="F47C20"/>
          </a:solidFill>
          <a:ln w="12700">
            <a:solidFill>
              <a:srgbClr val="FFFFFF"/>
            </a:solidFill>
            <a:prstDash val="solid"/>
          </a:ln>
        </p:spPr>
      </p:sp>
      <p:sp>
        <p:nvSpPr>
          <p:cNvPr id="22" name="Text 19"/>
          <p:cNvSpPr/>
          <p:nvPr/>
        </p:nvSpPr>
        <p:spPr>
          <a:xfrm>
            <a:off x="914400" y="4974336"/>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3" name="Text 20"/>
          <p:cNvSpPr/>
          <p:nvPr/>
        </p:nvSpPr>
        <p:spPr>
          <a:xfrm>
            <a:off x="1508760" y="4910328"/>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Resolve only after the physical/system condition is corrected</a:t>
            </a:r>
            <a:endParaRPr lang="en-US" sz="1700" dirty="0"/>
          </a:p>
        </p:txBody>
      </p:sp>
      <p:sp>
        <p:nvSpPr>
          <p:cNvPr id="24" name="Shape 21"/>
          <p:cNvSpPr/>
          <p:nvPr/>
        </p:nvSpPr>
        <p:spPr>
          <a:xfrm>
            <a:off x="713232" y="5623560"/>
            <a:ext cx="5193792" cy="566928"/>
          </a:xfrm>
          <a:prstGeom prst="roundRect">
            <a:avLst>
              <a:gd name="adj" fmla="val 6452"/>
            </a:avLst>
          </a:prstGeom>
          <a:solidFill>
            <a:srgbClr val="EFF7F7"/>
          </a:solidFill>
          <a:ln w="12700">
            <a:solidFill>
              <a:srgbClr val="D7E2E6"/>
            </a:solidFill>
            <a:prstDash val="solid"/>
          </a:ln>
        </p:spPr>
      </p:sp>
      <p:sp>
        <p:nvSpPr>
          <p:cNvPr id="25" name="Text 22"/>
          <p:cNvSpPr/>
          <p:nvPr/>
        </p:nvSpPr>
        <p:spPr>
          <a:xfrm>
            <a:off x="914400"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087B76"/>
                </a:solidFill>
              </a:rPr>
              <a:t>WHAT HAPPENS NEXT  Quality, client, IT, or warehouse follow-up reaches accountable closure.</a:t>
            </a:r>
            <a:endParaRPr lang="en-US" sz="1150" dirty="0"/>
          </a:p>
        </p:txBody>
      </p:sp>
      <p:sp>
        <p:nvSpPr>
          <p:cNvPr id="26" name="Shape 23"/>
          <p:cNvSpPr/>
          <p:nvPr/>
        </p:nvSpPr>
        <p:spPr>
          <a:xfrm>
            <a:off x="6144768" y="5623560"/>
            <a:ext cx="5193792" cy="566928"/>
          </a:xfrm>
          <a:prstGeom prst="roundRect">
            <a:avLst>
              <a:gd name="adj" fmla="val 6452"/>
            </a:avLst>
          </a:prstGeom>
          <a:solidFill>
            <a:srgbClr val="FFF3DF"/>
          </a:solidFill>
          <a:ln w="12700">
            <a:solidFill>
              <a:srgbClr val="FFC928"/>
            </a:solidFill>
            <a:prstDash val="solid"/>
          </a:ln>
        </p:spPr>
      </p:sp>
      <p:sp>
        <p:nvSpPr>
          <p:cNvPr id="27" name="Text 24"/>
          <p:cNvSpPr/>
          <p:nvPr/>
        </p:nvSpPr>
        <p:spPr>
          <a:xfrm>
            <a:off x="6345936"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C93C3C"/>
                </a:solidFill>
              </a:rPr>
              <a:t>WATCH-OUT  A log note does not replace the required inventory/status transaction.</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66928" y="384048"/>
            <a:ext cx="9966960" cy="438912"/>
          </a:xfrm>
          <a:prstGeom prst="rect">
            <a:avLst/>
          </a:prstGeom>
          <a:noFill/>
          <a:ln/>
        </p:spPr>
        <p:txBody>
          <a:bodyPr wrap="square" lIns="0" tIns="0" rIns="0" bIns="0" rtlCol="0" anchor="ctr">
            <a:normAutofit/>
          </a:bodyPr>
          <a:lstStyle/>
          <a:p>
            <a:pPr indent="0" marL="0">
              <a:buNone/>
            </a:pPr>
            <a:r>
              <a:rPr lang="en-US" sz="2500" b="1" dirty="0">
                <a:solidFill>
                  <a:srgbClr val="123247"/>
                </a:solidFill>
                <a:latin typeface="Aptos Display" pitchFamily="34" charset="0"/>
                <a:ea typeface="Aptos Display" pitchFamily="34" charset="-122"/>
                <a:cs typeface="Aptos Display" pitchFamily="34" charset="-120"/>
              </a:rPr>
              <a:t>Email Log</a:t>
            </a:r>
            <a:endParaRPr lang="en-US" sz="2500" dirty="0"/>
          </a:p>
        </p:txBody>
      </p:sp>
      <p:sp>
        <p:nvSpPr>
          <p:cNvPr id="5" name="Text 2"/>
          <p:cNvSpPr/>
          <p:nvPr/>
        </p:nvSpPr>
        <p:spPr>
          <a:xfrm>
            <a:off x="10698480" y="438912"/>
            <a:ext cx="777240" cy="228600"/>
          </a:xfrm>
          <a:prstGeom prst="rect">
            <a:avLst/>
          </a:prstGeom>
          <a:noFill/>
          <a:ln/>
        </p:spPr>
        <p:txBody>
          <a:bodyPr wrap="square" lIns="0" tIns="0" rIns="0" bIns="0" rtlCol="0" anchor="ctr"/>
          <a:lstStyle/>
          <a:p>
            <a:pPr algn="r" indent="0" marL="0">
              <a:buNone/>
            </a:pPr>
            <a:r>
              <a:rPr lang="en-US" sz="900" b="1" dirty="0">
                <a:solidFill>
                  <a:srgbClr val="087B76"/>
                </a:solidFill>
              </a:rPr>
              <a:t>1 min</a:t>
            </a:r>
            <a:endParaRPr lang="en-US" sz="900" dirty="0"/>
          </a:p>
        </p:txBody>
      </p:sp>
      <p:sp>
        <p:nvSpPr>
          <p:cNvPr id="6" name="Text 3"/>
          <p:cNvSpPr/>
          <p:nvPr/>
        </p:nvSpPr>
        <p:spPr>
          <a:xfrm>
            <a:off x="585216" y="960120"/>
            <a:ext cx="4023360" cy="219456"/>
          </a:xfrm>
          <a:prstGeom prst="rect">
            <a:avLst/>
          </a:prstGeom>
          <a:noFill/>
          <a:ln/>
        </p:spPr>
        <p:txBody>
          <a:bodyPr wrap="square" lIns="0" tIns="0" rIns="0" bIns="0" rtlCol="0" anchor="ctr"/>
          <a:lstStyle/>
          <a:p>
            <a:pPr indent="0" marL="0">
              <a:buNone/>
            </a:pPr>
            <a:r>
              <a:rPr lang="en-US" sz="1000" b="1" spc="130" kern="0" dirty="0">
                <a:solidFill>
                  <a:srgbClr val="F47C20"/>
                </a:solidFill>
              </a:rPr>
              <a:t>MANAGEMENT + ADMIN</a:t>
            </a:r>
            <a:endParaRPr lang="en-US" sz="1000" dirty="0"/>
          </a:p>
        </p:txBody>
      </p:sp>
      <p:sp>
        <p:nvSpPr>
          <p:cNvPr id="7" name="Text 4"/>
          <p:cNvSpPr/>
          <p:nvPr/>
        </p:nvSpPr>
        <p:spPr>
          <a:xfrm>
            <a:off x="566928" y="6473952"/>
            <a:ext cx="1097280" cy="182880"/>
          </a:xfrm>
          <a:prstGeom prst="rect">
            <a:avLst/>
          </a:prstGeom>
          <a:noFill/>
          <a:ln/>
        </p:spPr>
        <p:txBody>
          <a:bodyPr wrap="square" lIns="0" tIns="0" rIns="0" bIns="0" rtlCol="0" anchor="ctr"/>
          <a:lstStyle/>
          <a:p>
            <a:pPr indent="0" marL="0">
              <a:buNone/>
            </a:pPr>
            <a:r>
              <a:rPr lang="en-US" sz="800" dirty="0">
                <a:solidFill>
                  <a:srgbClr val="667985"/>
                </a:solidFill>
              </a:rPr>
              <a:t>Product 1.27</a:t>
            </a:r>
            <a:endParaRPr lang="en-US" sz="800" dirty="0"/>
          </a:p>
        </p:txBody>
      </p:sp>
      <p:sp>
        <p:nvSpPr>
          <p:cNvPr id="8" name="Text 5"/>
          <p:cNvSpPr/>
          <p:nvPr/>
        </p:nvSpPr>
        <p:spPr>
          <a:xfrm>
            <a:off x="10789920" y="6473952"/>
            <a:ext cx="731520" cy="182880"/>
          </a:xfrm>
          <a:prstGeom prst="rect">
            <a:avLst/>
          </a:prstGeom>
          <a:noFill/>
          <a:ln/>
        </p:spPr>
        <p:txBody>
          <a:bodyPr wrap="square" lIns="0" tIns="0" rIns="0" bIns="0" rtlCol="0" anchor="ctr"/>
          <a:lstStyle/>
          <a:p>
            <a:pPr algn="r" indent="0" marL="0">
              <a:buNone/>
            </a:pPr>
            <a:r>
              <a:rPr lang="en-US" sz="800" dirty="0">
                <a:solidFill>
                  <a:srgbClr val="667985"/>
                </a:solidFill>
              </a:rPr>
              <a:t>22 / 28</a:t>
            </a:r>
            <a:endParaRPr lang="en-US" sz="800" dirty="0"/>
          </a:p>
        </p:txBody>
      </p:sp>
      <p:sp>
        <p:nvSpPr>
          <p:cNvPr id="9" name="Shape 6"/>
          <p:cNvSpPr/>
          <p:nvPr/>
        </p:nvSpPr>
        <p:spPr>
          <a:xfrm>
            <a:off x="658368" y="1353312"/>
            <a:ext cx="10835640" cy="914400"/>
          </a:xfrm>
          <a:prstGeom prst="roundRect">
            <a:avLst>
              <a:gd name="adj" fmla="val 5000"/>
            </a:avLst>
          </a:prstGeom>
          <a:solidFill>
            <a:srgbClr val="EFF7F7"/>
          </a:solidFill>
          <a:ln w="15240">
            <a:solidFill>
              <a:srgbClr val="0F9D96"/>
            </a:solidFill>
            <a:prstDash val="solid"/>
          </a:ln>
        </p:spPr>
      </p:sp>
      <p:sp>
        <p:nvSpPr>
          <p:cNvPr id="10" name="Text 7"/>
          <p:cNvSpPr/>
          <p:nvPr/>
        </p:nvSpPr>
        <p:spPr>
          <a:xfrm>
            <a:off x="914400" y="1609344"/>
            <a:ext cx="1280160" cy="228600"/>
          </a:xfrm>
          <a:prstGeom prst="rect">
            <a:avLst/>
          </a:prstGeom>
          <a:noFill/>
          <a:ln/>
        </p:spPr>
        <p:txBody>
          <a:bodyPr wrap="square" lIns="0" tIns="0" rIns="0" bIns="0" rtlCol="0" anchor="ctr"/>
          <a:lstStyle/>
          <a:p>
            <a:pPr indent="0" marL="0">
              <a:buNone/>
            </a:pPr>
            <a:r>
              <a:rPr lang="en-US" sz="1100" b="1" spc="100" kern="0" dirty="0">
                <a:solidFill>
                  <a:srgbClr val="087B76"/>
                </a:solidFill>
              </a:rPr>
              <a:t>WHAT LIVES HERE</a:t>
            </a:r>
            <a:endParaRPr lang="en-US" sz="1100" dirty="0"/>
          </a:p>
        </p:txBody>
      </p:sp>
      <p:sp>
        <p:nvSpPr>
          <p:cNvPr id="11" name="Text 8"/>
          <p:cNvSpPr/>
          <p:nvPr/>
        </p:nvSpPr>
        <p:spPr>
          <a:xfrm>
            <a:off x="2423160" y="1536192"/>
            <a:ext cx="8641080" cy="384048"/>
          </a:xfrm>
          <a:prstGeom prst="rect">
            <a:avLst/>
          </a:prstGeom>
          <a:noFill/>
          <a:ln/>
        </p:spPr>
        <p:txBody>
          <a:bodyPr wrap="square" lIns="0" tIns="0" rIns="0" bIns="0" rtlCol="0" anchor="ctr">
            <a:normAutofit/>
          </a:bodyPr>
          <a:lstStyle/>
          <a:p>
            <a:pPr indent="0" marL="0">
              <a:buNone/>
            </a:pPr>
            <a:r>
              <a:rPr lang="en-US" sz="2000" b="1" dirty="0">
                <a:solidFill>
                  <a:srgbClr val="123247"/>
                </a:solidFill>
              </a:rPr>
              <a:t>Show outbound message attempts, recipients, templates, status, and errors.</a:t>
            </a:r>
            <a:endParaRPr lang="en-US" sz="2000" dirty="0"/>
          </a:p>
        </p:txBody>
      </p:sp>
      <p:sp>
        <p:nvSpPr>
          <p:cNvPr id="12" name="Text 9"/>
          <p:cNvSpPr/>
          <p:nvPr/>
        </p:nvSpPr>
        <p:spPr>
          <a:xfrm>
            <a:off x="786384" y="2578608"/>
            <a:ext cx="2103120" cy="228600"/>
          </a:xfrm>
          <a:prstGeom prst="rect">
            <a:avLst/>
          </a:prstGeom>
          <a:noFill/>
          <a:ln/>
        </p:spPr>
        <p:txBody>
          <a:bodyPr wrap="square" lIns="0" tIns="0" rIns="0" bIns="0" rtlCol="0" anchor="ctr"/>
          <a:lstStyle/>
          <a:p>
            <a:pPr indent="0" marL="0">
              <a:buNone/>
            </a:pPr>
            <a:r>
              <a:rPr lang="en-US" sz="1100" b="1" spc="80" kern="0" dirty="0">
                <a:solidFill>
                  <a:srgbClr val="F47C20"/>
                </a:solidFill>
              </a:rPr>
              <a:t>WHO USUALLY WORKS HERE</a:t>
            </a:r>
            <a:endParaRPr lang="en-US" sz="1100" dirty="0"/>
          </a:p>
        </p:txBody>
      </p:sp>
      <p:sp>
        <p:nvSpPr>
          <p:cNvPr id="13" name="Text 10"/>
          <p:cNvSpPr/>
          <p:nvPr/>
        </p:nvSpPr>
        <p:spPr>
          <a:xfrm>
            <a:off x="3063240" y="2542032"/>
            <a:ext cx="7818120" cy="292608"/>
          </a:xfrm>
          <a:prstGeom prst="rect">
            <a:avLst/>
          </a:prstGeom>
          <a:noFill/>
          <a:ln/>
        </p:spPr>
        <p:txBody>
          <a:bodyPr wrap="square" lIns="0" tIns="0" rIns="0" bIns="0" rtlCol="0" anchor="ctr">
            <a:normAutofit/>
          </a:bodyPr>
          <a:lstStyle/>
          <a:p>
            <a:pPr indent="0" marL="0">
              <a:buNone/>
            </a:pPr>
            <a:r>
              <a:rPr lang="en-US" sz="1600" b="1" dirty="0">
                <a:solidFill>
                  <a:srgbClr val="16303D"/>
                </a:solidFill>
              </a:rPr>
              <a:t>Admins</a:t>
            </a:r>
            <a:endParaRPr lang="en-US" sz="1600" dirty="0"/>
          </a:p>
        </p:txBody>
      </p:sp>
      <p:sp>
        <p:nvSpPr>
          <p:cNvPr id="14" name="Text 11"/>
          <p:cNvSpPr/>
          <p:nvPr/>
        </p:nvSpPr>
        <p:spPr>
          <a:xfrm>
            <a:off x="786384" y="3127248"/>
            <a:ext cx="2286000" cy="228600"/>
          </a:xfrm>
          <a:prstGeom prst="rect">
            <a:avLst/>
          </a:prstGeom>
          <a:noFill/>
          <a:ln/>
        </p:spPr>
        <p:txBody>
          <a:bodyPr wrap="square" lIns="0" tIns="0" rIns="0" bIns="0" rtlCol="0" anchor="ctr"/>
          <a:lstStyle/>
          <a:p>
            <a:pPr indent="0" marL="0">
              <a:buNone/>
            </a:pPr>
            <a:r>
              <a:rPr lang="en-US" sz="1100" b="1" spc="80" kern="0" dirty="0">
                <a:solidFill>
                  <a:srgbClr val="087B76"/>
                </a:solidFill>
              </a:rPr>
              <a:t>A NORMAL VISIT LOOKS LIKE</a:t>
            </a:r>
            <a:endParaRPr lang="en-US" sz="1100" dirty="0"/>
          </a:p>
        </p:txBody>
      </p:sp>
      <p:sp>
        <p:nvSpPr>
          <p:cNvPr id="15" name="Shape 12"/>
          <p:cNvSpPr/>
          <p:nvPr/>
        </p:nvSpPr>
        <p:spPr>
          <a:xfrm>
            <a:off x="914400" y="3566160"/>
            <a:ext cx="384048" cy="384048"/>
          </a:xfrm>
          <a:prstGeom prst="ellipse">
            <a:avLst/>
          </a:prstGeom>
          <a:solidFill>
            <a:srgbClr val="0F9D96"/>
          </a:solidFill>
          <a:ln w="12700">
            <a:solidFill>
              <a:srgbClr val="FFFFFF"/>
            </a:solidFill>
            <a:prstDash val="solid"/>
          </a:ln>
        </p:spPr>
      </p:sp>
      <p:sp>
        <p:nvSpPr>
          <p:cNvPr id="16" name="Text 13"/>
          <p:cNvSpPr/>
          <p:nvPr/>
        </p:nvSpPr>
        <p:spPr>
          <a:xfrm>
            <a:off x="914400" y="3657600"/>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7" name="Text 14"/>
          <p:cNvSpPr/>
          <p:nvPr/>
        </p:nvSpPr>
        <p:spPr>
          <a:xfrm>
            <a:off x="1508760" y="3593592"/>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Find the user/message attempt</a:t>
            </a:r>
            <a:endParaRPr lang="en-US" sz="1700" dirty="0"/>
          </a:p>
        </p:txBody>
      </p:sp>
      <p:sp>
        <p:nvSpPr>
          <p:cNvPr id="18" name="Shape 15"/>
          <p:cNvSpPr/>
          <p:nvPr/>
        </p:nvSpPr>
        <p:spPr>
          <a:xfrm>
            <a:off x="914400" y="4224528"/>
            <a:ext cx="384048" cy="384048"/>
          </a:xfrm>
          <a:prstGeom prst="ellipse">
            <a:avLst/>
          </a:prstGeom>
          <a:solidFill>
            <a:srgbClr val="0F9D96"/>
          </a:solidFill>
          <a:ln w="12700">
            <a:solidFill>
              <a:srgbClr val="FFFFFF"/>
            </a:solidFill>
            <a:prstDash val="solid"/>
          </a:ln>
        </p:spPr>
      </p:sp>
      <p:sp>
        <p:nvSpPr>
          <p:cNvPr id="19" name="Text 16"/>
          <p:cNvSpPr/>
          <p:nvPr/>
        </p:nvSpPr>
        <p:spPr>
          <a:xfrm>
            <a:off x="914400" y="4315968"/>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0" name="Text 17"/>
          <p:cNvSpPr/>
          <p:nvPr/>
        </p:nvSpPr>
        <p:spPr>
          <a:xfrm>
            <a:off x="1508760" y="4251960"/>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Read recipient, template, delivery state, and error</a:t>
            </a:r>
            <a:endParaRPr lang="en-US" sz="1700" dirty="0"/>
          </a:p>
        </p:txBody>
      </p:sp>
      <p:sp>
        <p:nvSpPr>
          <p:cNvPr id="21" name="Shape 18"/>
          <p:cNvSpPr/>
          <p:nvPr/>
        </p:nvSpPr>
        <p:spPr>
          <a:xfrm>
            <a:off x="914400" y="4882896"/>
            <a:ext cx="384048" cy="384048"/>
          </a:xfrm>
          <a:prstGeom prst="ellipse">
            <a:avLst/>
          </a:prstGeom>
          <a:solidFill>
            <a:srgbClr val="F47C20"/>
          </a:solidFill>
          <a:ln w="12700">
            <a:solidFill>
              <a:srgbClr val="FFFFFF"/>
            </a:solidFill>
            <a:prstDash val="solid"/>
          </a:ln>
        </p:spPr>
      </p:sp>
      <p:sp>
        <p:nvSpPr>
          <p:cNvPr id="22" name="Text 19"/>
          <p:cNvSpPr/>
          <p:nvPr/>
        </p:nvSpPr>
        <p:spPr>
          <a:xfrm>
            <a:off x="914400" y="4974336"/>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3" name="Text 20"/>
          <p:cNvSpPr/>
          <p:nvPr/>
        </p:nvSpPr>
        <p:spPr>
          <a:xfrm>
            <a:off x="1508760" y="4910328"/>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Correct the cause; retry or escalate provider/DNS/suppression</a:t>
            </a:r>
            <a:endParaRPr lang="en-US" sz="1700" dirty="0"/>
          </a:p>
        </p:txBody>
      </p:sp>
      <p:sp>
        <p:nvSpPr>
          <p:cNvPr id="24" name="Shape 21"/>
          <p:cNvSpPr/>
          <p:nvPr/>
        </p:nvSpPr>
        <p:spPr>
          <a:xfrm>
            <a:off x="713232" y="5623560"/>
            <a:ext cx="5193792" cy="566928"/>
          </a:xfrm>
          <a:prstGeom prst="roundRect">
            <a:avLst>
              <a:gd name="adj" fmla="val 6452"/>
            </a:avLst>
          </a:prstGeom>
          <a:solidFill>
            <a:srgbClr val="EFF7F7"/>
          </a:solidFill>
          <a:ln w="12700">
            <a:solidFill>
              <a:srgbClr val="D7E2E6"/>
            </a:solidFill>
            <a:prstDash val="solid"/>
          </a:ln>
        </p:spPr>
      </p:sp>
      <p:sp>
        <p:nvSpPr>
          <p:cNvPr id="25" name="Text 22"/>
          <p:cNvSpPr/>
          <p:nvPr/>
        </p:nvSpPr>
        <p:spPr>
          <a:xfrm>
            <a:off x="914400"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087B76"/>
                </a:solidFill>
              </a:rPr>
              <a:t>WHAT HAPPENS NEXT  Confirm delivery before telling the user it succeeded.</a:t>
            </a:r>
            <a:endParaRPr lang="en-US" sz="1150" dirty="0"/>
          </a:p>
        </p:txBody>
      </p:sp>
      <p:sp>
        <p:nvSpPr>
          <p:cNvPr id="26" name="Shape 23"/>
          <p:cNvSpPr/>
          <p:nvPr/>
        </p:nvSpPr>
        <p:spPr>
          <a:xfrm>
            <a:off x="6144768" y="5623560"/>
            <a:ext cx="5193792" cy="566928"/>
          </a:xfrm>
          <a:prstGeom prst="roundRect">
            <a:avLst>
              <a:gd name="adj" fmla="val 6452"/>
            </a:avLst>
          </a:prstGeom>
          <a:solidFill>
            <a:srgbClr val="FFF3DF"/>
          </a:solidFill>
          <a:ln w="12700">
            <a:solidFill>
              <a:srgbClr val="FFC928"/>
            </a:solidFill>
            <a:prstDash val="solid"/>
          </a:ln>
        </p:spPr>
      </p:sp>
      <p:sp>
        <p:nvSpPr>
          <p:cNvPr id="27" name="Text 24"/>
          <p:cNvSpPr/>
          <p:nvPr/>
        </p:nvSpPr>
        <p:spPr>
          <a:xfrm>
            <a:off x="6345936"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C93C3C"/>
                </a:solidFill>
              </a:rPr>
              <a:t>WATCH-OUT  Do not retry repeatedly without reading the failure.</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66928" y="384048"/>
            <a:ext cx="9966960" cy="438912"/>
          </a:xfrm>
          <a:prstGeom prst="rect">
            <a:avLst/>
          </a:prstGeom>
          <a:noFill/>
          <a:ln/>
        </p:spPr>
        <p:txBody>
          <a:bodyPr wrap="square" lIns="0" tIns="0" rIns="0" bIns="0" rtlCol="0" anchor="ctr">
            <a:normAutofit/>
          </a:bodyPr>
          <a:lstStyle/>
          <a:p>
            <a:pPr indent="0" marL="0">
              <a:buNone/>
            </a:pPr>
            <a:r>
              <a:rPr lang="en-US" sz="2500" b="1" dirty="0">
                <a:solidFill>
                  <a:srgbClr val="123247"/>
                </a:solidFill>
                <a:latin typeface="Aptos Display" pitchFamily="34" charset="0"/>
                <a:ea typeface="Aptos Display" pitchFamily="34" charset="-122"/>
                <a:cs typeface="Aptos Display" pitchFamily="34" charset="-120"/>
              </a:rPr>
              <a:t>Settings</a:t>
            </a:r>
            <a:endParaRPr lang="en-US" sz="2500" dirty="0"/>
          </a:p>
        </p:txBody>
      </p:sp>
      <p:sp>
        <p:nvSpPr>
          <p:cNvPr id="5" name="Text 2"/>
          <p:cNvSpPr/>
          <p:nvPr/>
        </p:nvSpPr>
        <p:spPr>
          <a:xfrm>
            <a:off x="10698480" y="438912"/>
            <a:ext cx="777240" cy="228600"/>
          </a:xfrm>
          <a:prstGeom prst="rect">
            <a:avLst/>
          </a:prstGeom>
          <a:noFill/>
          <a:ln/>
        </p:spPr>
        <p:txBody>
          <a:bodyPr wrap="square" lIns="0" tIns="0" rIns="0" bIns="0" rtlCol="0" anchor="ctr"/>
          <a:lstStyle/>
          <a:p>
            <a:pPr algn="r" indent="0" marL="0">
              <a:buNone/>
            </a:pPr>
            <a:r>
              <a:rPr lang="en-US" sz="900" b="1" dirty="0">
                <a:solidFill>
                  <a:srgbClr val="087B76"/>
                </a:solidFill>
              </a:rPr>
              <a:t>1 min</a:t>
            </a:r>
            <a:endParaRPr lang="en-US" sz="900" dirty="0"/>
          </a:p>
        </p:txBody>
      </p:sp>
      <p:sp>
        <p:nvSpPr>
          <p:cNvPr id="6" name="Text 3"/>
          <p:cNvSpPr/>
          <p:nvPr/>
        </p:nvSpPr>
        <p:spPr>
          <a:xfrm>
            <a:off x="585216" y="960120"/>
            <a:ext cx="4023360" cy="219456"/>
          </a:xfrm>
          <a:prstGeom prst="rect">
            <a:avLst/>
          </a:prstGeom>
          <a:noFill/>
          <a:ln/>
        </p:spPr>
        <p:txBody>
          <a:bodyPr wrap="square" lIns="0" tIns="0" rIns="0" bIns="0" rtlCol="0" anchor="ctr"/>
          <a:lstStyle/>
          <a:p>
            <a:pPr indent="0" marL="0">
              <a:buNone/>
            </a:pPr>
            <a:r>
              <a:rPr lang="en-US" sz="1000" b="1" spc="130" kern="0" dirty="0">
                <a:solidFill>
                  <a:srgbClr val="F47C20"/>
                </a:solidFill>
              </a:rPr>
              <a:t>MANAGEMENT + ADMIN</a:t>
            </a:r>
            <a:endParaRPr lang="en-US" sz="1000" dirty="0"/>
          </a:p>
        </p:txBody>
      </p:sp>
      <p:sp>
        <p:nvSpPr>
          <p:cNvPr id="7" name="Text 4"/>
          <p:cNvSpPr/>
          <p:nvPr/>
        </p:nvSpPr>
        <p:spPr>
          <a:xfrm>
            <a:off x="566928" y="6473952"/>
            <a:ext cx="1097280" cy="182880"/>
          </a:xfrm>
          <a:prstGeom prst="rect">
            <a:avLst/>
          </a:prstGeom>
          <a:noFill/>
          <a:ln/>
        </p:spPr>
        <p:txBody>
          <a:bodyPr wrap="square" lIns="0" tIns="0" rIns="0" bIns="0" rtlCol="0" anchor="ctr"/>
          <a:lstStyle/>
          <a:p>
            <a:pPr indent="0" marL="0">
              <a:buNone/>
            </a:pPr>
            <a:r>
              <a:rPr lang="en-US" sz="800" dirty="0">
                <a:solidFill>
                  <a:srgbClr val="667985"/>
                </a:solidFill>
              </a:rPr>
              <a:t>Product 1.27</a:t>
            </a:r>
            <a:endParaRPr lang="en-US" sz="800" dirty="0"/>
          </a:p>
        </p:txBody>
      </p:sp>
      <p:sp>
        <p:nvSpPr>
          <p:cNvPr id="8" name="Text 5"/>
          <p:cNvSpPr/>
          <p:nvPr/>
        </p:nvSpPr>
        <p:spPr>
          <a:xfrm>
            <a:off x="10789920" y="6473952"/>
            <a:ext cx="731520" cy="182880"/>
          </a:xfrm>
          <a:prstGeom prst="rect">
            <a:avLst/>
          </a:prstGeom>
          <a:noFill/>
          <a:ln/>
        </p:spPr>
        <p:txBody>
          <a:bodyPr wrap="square" lIns="0" tIns="0" rIns="0" bIns="0" rtlCol="0" anchor="ctr"/>
          <a:lstStyle/>
          <a:p>
            <a:pPr algn="r" indent="0" marL="0">
              <a:buNone/>
            </a:pPr>
            <a:r>
              <a:rPr lang="en-US" sz="800" dirty="0">
                <a:solidFill>
                  <a:srgbClr val="667985"/>
                </a:solidFill>
              </a:rPr>
              <a:t>23 / 28</a:t>
            </a:r>
            <a:endParaRPr lang="en-US" sz="800" dirty="0"/>
          </a:p>
        </p:txBody>
      </p:sp>
      <p:sp>
        <p:nvSpPr>
          <p:cNvPr id="9" name="Shape 6"/>
          <p:cNvSpPr/>
          <p:nvPr/>
        </p:nvSpPr>
        <p:spPr>
          <a:xfrm>
            <a:off x="658368" y="1353312"/>
            <a:ext cx="10835640" cy="914400"/>
          </a:xfrm>
          <a:prstGeom prst="roundRect">
            <a:avLst>
              <a:gd name="adj" fmla="val 5000"/>
            </a:avLst>
          </a:prstGeom>
          <a:solidFill>
            <a:srgbClr val="EFF7F7"/>
          </a:solidFill>
          <a:ln w="15240">
            <a:solidFill>
              <a:srgbClr val="0F9D96"/>
            </a:solidFill>
            <a:prstDash val="solid"/>
          </a:ln>
        </p:spPr>
      </p:sp>
      <p:sp>
        <p:nvSpPr>
          <p:cNvPr id="10" name="Text 7"/>
          <p:cNvSpPr/>
          <p:nvPr/>
        </p:nvSpPr>
        <p:spPr>
          <a:xfrm>
            <a:off x="914400" y="1609344"/>
            <a:ext cx="1280160" cy="228600"/>
          </a:xfrm>
          <a:prstGeom prst="rect">
            <a:avLst/>
          </a:prstGeom>
          <a:noFill/>
          <a:ln/>
        </p:spPr>
        <p:txBody>
          <a:bodyPr wrap="square" lIns="0" tIns="0" rIns="0" bIns="0" rtlCol="0" anchor="ctr"/>
          <a:lstStyle/>
          <a:p>
            <a:pPr indent="0" marL="0">
              <a:buNone/>
            </a:pPr>
            <a:r>
              <a:rPr lang="en-US" sz="1100" b="1" spc="100" kern="0" dirty="0">
                <a:solidFill>
                  <a:srgbClr val="087B76"/>
                </a:solidFill>
              </a:rPr>
              <a:t>WHAT LIVES HERE</a:t>
            </a:r>
            <a:endParaRPr lang="en-US" sz="1100" dirty="0"/>
          </a:p>
        </p:txBody>
      </p:sp>
      <p:sp>
        <p:nvSpPr>
          <p:cNvPr id="11" name="Text 8"/>
          <p:cNvSpPr/>
          <p:nvPr/>
        </p:nvSpPr>
        <p:spPr>
          <a:xfrm>
            <a:off x="2423160" y="1536192"/>
            <a:ext cx="8641080" cy="384048"/>
          </a:xfrm>
          <a:prstGeom prst="rect">
            <a:avLst/>
          </a:prstGeom>
          <a:noFill/>
          <a:ln/>
        </p:spPr>
        <p:txBody>
          <a:bodyPr wrap="square" lIns="0" tIns="0" rIns="0" bIns="0" rtlCol="0" anchor="ctr">
            <a:normAutofit/>
          </a:bodyPr>
          <a:lstStyle/>
          <a:p>
            <a:pPr indent="0" marL="0">
              <a:buNone/>
            </a:pPr>
            <a:r>
              <a:rPr lang="en-US" sz="2000" b="1" dirty="0">
                <a:solidFill>
                  <a:srgbClr val="123247"/>
                </a:solidFill>
              </a:rPr>
              <a:t>Group Warehouse Structure, Users &amp; Roles, release guidance, setup, and controlled administration.</a:t>
            </a:r>
            <a:endParaRPr lang="en-US" sz="2000" dirty="0"/>
          </a:p>
        </p:txBody>
      </p:sp>
      <p:sp>
        <p:nvSpPr>
          <p:cNvPr id="12" name="Text 9"/>
          <p:cNvSpPr/>
          <p:nvPr/>
        </p:nvSpPr>
        <p:spPr>
          <a:xfrm>
            <a:off x="786384" y="2578608"/>
            <a:ext cx="2103120" cy="228600"/>
          </a:xfrm>
          <a:prstGeom prst="rect">
            <a:avLst/>
          </a:prstGeom>
          <a:noFill/>
          <a:ln/>
        </p:spPr>
        <p:txBody>
          <a:bodyPr wrap="square" lIns="0" tIns="0" rIns="0" bIns="0" rtlCol="0" anchor="ctr"/>
          <a:lstStyle/>
          <a:p>
            <a:pPr indent="0" marL="0">
              <a:buNone/>
            </a:pPr>
            <a:r>
              <a:rPr lang="en-US" sz="1100" b="1" spc="80" kern="0" dirty="0">
                <a:solidFill>
                  <a:srgbClr val="F47C20"/>
                </a:solidFill>
              </a:rPr>
              <a:t>WHO USUALLY WORKS HERE</a:t>
            </a:r>
            <a:endParaRPr lang="en-US" sz="1100" dirty="0"/>
          </a:p>
        </p:txBody>
      </p:sp>
      <p:sp>
        <p:nvSpPr>
          <p:cNvPr id="13" name="Text 10"/>
          <p:cNvSpPr/>
          <p:nvPr/>
        </p:nvSpPr>
        <p:spPr>
          <a:xfrm>
            <a:off x="3063240" y="2542032"/>
            <a:ext cx="7818120" cy="292608"/>
          </a:xfrm>
          <a:prstGeom prst="rect">
            <a:avLst/>
          </a:prstGeom>
          <a:noFill/>
          <a:ln/>
        </p:spPr>
        <p:txBody>
          <a:bodyPr wrap="square" lIns="0" tIns="0" rIns="0" bIns="0" rtlCol="0" anchor="ctr">
            <a:normAutofit/>
          </a:bodyPr>
          <a:lstStyle/>
          <a:p>
            <a:pPr indent="0" marL="0">
              <a:buNone/>
            </a:pPr>
            <a:r>
              <a:rPr lang="en-US" sz="1600" b="1" dirty="0">
                <a:solidFill>
                  <a:srgbClr val="16303D"/>
                </a:solidFill>
              </a:rPr>
              <a:t>Admins · Warehouse Managers</a:t>
            </a:r>
            <a:endParaRPr lang="en-US" sz="1600" dirty="0"/>
          </a:p>
        </p:txBody>
      </p:sp>
      <p:sp>
        <p:nvSpPr>
          <p:cNvPr id="14" name="Text 11"/>
          <p:cNvSpPr/>
          <p:nvPr/>
        </p:nvSpPr>
        <p:spPr>
          <a:xfrm>
            <a:off x="786384" y="3127248"/>
            <a:ext cx="2286000" cy="228600"/>
          </a:xfrm>
          <a:prstGeom prst="rect">
            <a:avLst/>
          </a:prstGeom>
          <a:noFill/>
          <a:ln/>
        </p:spPr>
        <p:txBody>
          <a:bodyPr wrap="square" lIns="0" tIns="0" rIns="0" bIns="0" rtlCol="0" anchor="ctr"/>
          <a:lstStyle/>
          <a:p>
            <a:pPr indent="0" marL="0">
              <a:buNone/>
            </a:pPr>
            <a:r>
              <a:rPr lang="en-US" sz="1100" b="1" spc="80" kern="0" dirty="0">
                <a:solidFill>
                  <a:srgbClr val="087B76"/>
                </a:solidFill>
              </a:rPr>
              <a:t>A NORMAL VISIT LOOKS LIKE</a:t>
            </a:r>
            <a:endParaRPr lang="en-US" sz="1100" dirty="0"/>
          </a:p>
        </p:txBody>
      </p:sp>
      <p:sp>
        <p:nvSpPr>
          <p:cNvPr id="15" name="Shape 12"/>
          <p:cNvSpPr/>
          <p:nvPr/>
        </p:nvSpPr>
        <p:spPr>
          <a:xfrm>
            <a:off x="914400" y="3566160"/>
            <a:ext cx="384048" cy="384048"/>
          </a:xfrm>
          <a:prstGeom prst="ellipse">
            <a:avLst/>
          </a:prstGeom>
          <a:solidFill>
            <a:srgbClr val="0F9D96"/>
          </a:solidFill>
          <a:ln w="12700">
            <a:solidFill>
              <a:srgbClr val="FFFFFF"/>
            </a:solidFill>
            <a:prstDash val="solid"/>
          </a:ln>
        </p:spPr>
      </p:sp>
      <p:sp>
        <p:nvSpPr>
          <p:cNvPr id="16" name="Text 13"/>
          <p:cNvSpPr/>
          <p:nvPr/>
        </p:nvSpPr>
        <p:spPr>
          <a:xfrm>
            <a:off x="914400" y="3657600"/>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7" name="Text 14"/>
          <p:cNvSpPr/>
          <p:nvPr/>
        </p:nvSpPr>
        <p:spPr>
          <a:xfrm>
            <a:off x="1508760" y="3593592"/>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Open the relevant tab only</a:t>
            </a:r>
            <a:endParaRPr lang="en-US" sz="1700" dirty="0"/>
          </a:p>
        </p:txBody>
      </p:sp>
      <p:sp>
        <p:nvSpPr>
          <p:cNvPr id="18" name="Shape 15"/>
          <p:cNvSpPr/>
          <p:nvPr/>
        </p:nvSpPr>
        <p:spPr>
          <a:xfrm>
            <a:off x="914400" y="4224528"/>
            <a:ext cx="384048" cy="384048"/>
          </a:xfrm>
          <a:prstGeom prst="ellipse">
            <a:avLst/>
          </a:prstGeom>
          <a:solidFill>
            <a:srgbClr val="0F9D96"/>
          </a:solidFill>
          <a:ln w="12700">
            <a:solidFill>
              <a:srgbClr val="FFFFFF"/>
            </a:solidFill>
            <a:prstDash val="solid"/>
          </a:ln>
        </p:spPr>
      </p:sp>
      <p:sp>
        <p:nvSpPr>
          <p:cNvPr id="19" name="Text 16"/>
          <p:cNvSpPr/>
          <p:nvPr/>
        </p:nvSpPr>
        <p:spPr>
          <a:xfrm>
            <a:off x="914400" y="4315968"/>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0" name="Text 17"/>
          <p:cNvSpPr/>
          <p:nvPr/>
        </p:nvSpPr>
        <p:spPr>
          <a:xfrm>
            <a:off x="1508760" y="4251960"/>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Make the narrow intended configuration change</a:t>
            </a:r>
            <a:endParaRPr lang="en-US" sz="1700" dirty="0"/>
          </a:p>
        </p:txBody>
      </p:sp>
      <p:sp>
        <p:nvSpPr>
          <p:cNvPr id="21" name="Shape 18"/>
          <p:cNvSpPr/>
          <p:nvPr/>
        </p:nvSpPr>
        <p:spPr>
          <a:xfrm>
            <a:off x="914400" y="4882896"/>
            <a:ext cx="384048" cy="384048"/>
          </a:xfrm>
          <a:prstGeom prst="ellipse">
            <a:avLst/>
          </a:prstGeom>
          <a:solidFill>
            <a:srgbClr val="F47C20"/>
          </a:solidFill>
          <a:ln w="12700">
            <a:solidFill>
              <a:srgbClr val="FFFFFF"/>
            </a:solidFill>
            <a:prstDash val="solid"/>
          </a:ln>
        </p:spPr>
      </p:sp>
      <p:sp>
        <p:nvSpPr>
          <p:cNvPr id="22" name="Text 19"/>
          <p:cNvSpPr/>
          <p:nvPr/>
        </p:nvSpPr>
        <p:spPr>
          <a:xfrm>
            <a:off x="914400" y="4974336"/>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3" name="Text 20"/>
          <p:cNvSpPr/>
          <p:nvPr/>
        </p:nvSpPr>
        <p:spPr>
          <a:xfrm>
            <a:off x="1508760" y="4910328"/>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Verify downstream labels, access, and operational behavior</a:t>
            </a:r>
            <a:endParaRPr lang="en-US" sz="1700" dirty="0"/>
          </a:p>
        </p:txBody>
      </p:sp>
      <p:sp>
        <p:nvSpPr>
          <p:cNvPr id="24" name="Shape 21"/>
          <p:cNvSpPr/>
          <p:nvPr/>
        </p:nvSpPr>
        <p:spPr>
          <a:xfrm>
            <a:off x="713232" y="5623560"/>
            <a:ext cx="5193792" cy="566928"/>
          </a:xfrm>
          <a:prstGeom prst="roundRect">
            <a:avLst>
              <a:gd name="adj" fmla="val 6452"/>
            </a:avLst>
          </a:prstGeom>
          <a:solidFill>
            <a:srgbClr val="EFF7F7"/>
          </a:solidFill>
          <a:ln w="12700">
            <a:solidFill>
              <a:srgbClr val="D7E2E6"/>
            </a:solidFill>
            <a:prstDash val="solid"/>
          </a:ln>
        </p:spPr>
      </p:sp>
      <p:sp>
        <p:nvSpPr>
          <p:cNvPr id="25" name="Text 22"/>
          <p:cNvSpPr/>
          <p:nvPr/>
        </p:nvSpPr>
        <p:spPr>
          <a:xfrm>
            <a:off x="914400"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087B76"/>
                </a:solidFill>
              </a:rPr>
              <a:t>WHAT HAPPENS NEXT  Return to the affected module and prove normal work still works.</a:t>
            </a:r>
            <a:endParaRPr lang="en-US" sz="1150" dirty="0"/>
          </a:p>
        </p:txBody>
      </p:sp>
      <p:sp>
        <p:nvSpPr>
          <p:cNvPr id="26" name="Shape 23"/>
          <p:cNvSpPr/>
          <p:nvPr/>
        </p:nvSpPr>
        <p:spPr>
          <a:xfrm>
            <a:off x="6144768" y="5623560"/>
            <a:ext cx="5193792" cy="566928"/>
          </a:xfrm>
          <a:prstGeom prst="roundRect">
            <a:avLst>
              <a:gd name="adj" fmla="val 6452"/>
            </a:avLst>
          </a:prstGeom>
          <a:solidFill>
            <a:srgbClr val="FFF3DF"/>
          </a:solidFill>
          <a:ln w="12700">
            <a:solidFill>
              <a:srgbClr val="FFC928"/>
            </a:solidFill>
            <a:prstDash val="solid"/>
          </a:ln>
        </p:spPr>
      </p:sp>
      <p:sp>
        <p:nvSpPr>
          <p:cNvPr id="27" name="Text 24"/>
          <p:cNvSpPr/>
          <p:nvPr/>
        </p:nvSpPr>
        <p:spPr>
          <a:xfrm>
            <a:off x="6345936"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C93C3C"/>
                </a:solidFill>
              </a:rPr>
              <a:t>WATCH-OUT  No reset without a rebuild plan or structure change without labels.</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66928" y="384048"/>
            <a:ext cx="9966960" cy="438912"/>
          </a:xfrm>
          <a:prstGeom prst="rect">
            <a:avLst/>
          </a:prstGeom>
          <a:noFill/>
          <a:ln/>
        </p:spPr>
        <p:txBody>
          <a:bodyPr wrap="square" lIns="0" tIns="0" rIns="0" bIns="0" rtlCol="0" anchor="ctr">
            <a:normAutofit/>
          </a:bodyPr>
          <a:lstStyle/>
          <a:p>
            <a:pPr indent="0" marL="0">
              <a:buNone/>
            </a:pPr>
            <a:r>
              <a:rPr lang="en-US" sz="2500" b="1" dirty="0">
                <a:solidFill>
                  <a:srgbClr val="123247"/>
                </a:solidFill>
                <a:latin typeface="Aptos Display" pitchFamily="34" charset="0"/>
                <a:ea typeface="Aptos Display" pitchFamily="34" charset="-122"/>
                <a:cs typeface="Aptos Display" pitchFamily="34" charset="-120"/>
              </a:rPr>
              <a:t>Help Center</a:t>
            </a:r>
            <a:endParaRPr lang="en-US" sz="2500" dirty="0"/>
          </a:p>
        </p:txBody>
      </p:sp>
      <p:sp>
        <p:nvSpPr>
          <p:cNvPr id="5" name="Text 2"/>
          <p:cNvSpPr/>
          <p:nvPr/>
        </p:nvSpPr>
        <p:spPr>
          <a:xfrm>
            <a:off x="10698480" y="438912"/>
            <a:ext cx="777240" cy="228600"/>
          </a:xfrm>
          <a:prstGeom prst="rect">
            <a:avLst/>
          </a:prstGeom>
          <a:noFill/>
          <a:ln/>
        </p:spPr>
        <p:txBody>
          <a:bodyPr wrap="square" lIns="0" tIns="0" rIns="0" bIns="0" rtlCol="0" anchor="ctr"/>
          <a:lstStyle/>
          <a:p>
            <a:pPr algn="r" indent="0" marL="0">
              <a:buNone/>
            </a:pPr>
            <a:r>
              <a:rPr lang="en-US" sz="900" b="1" dirty="0">
                <a:solidFill>
                  <a:srgbClr val="087B76"/>
                </a:solidFill>
              </a:rPr>
              <a:t>1 min</a:t>
            </a:r>
            <a:endParaRPr lang="en-US" sz="900" dirty="0"/>
          </a:p>
        </p:txBody>
      </p:sp>
      <p:sp>
        <p:nvSpPr>
          <p:cNvPr id="6" name="Text 3"/>
          <p:cNvSpPr/>
          <p:nvPr/>
        </p:nvSpPr>
        <p:spPr>
          <a:xfrm>
            <a:off x="585216" y="960120"/>
            <a:ext cx="4023360" cy="219456"/>
          </a:xfrm>
          <a:prstGeom prst="rect">
            <a:avLst/>
          </a:prstGeom>
          <a:noFill/>
          <a:ln/>
        </p:spPr>
        <p:txBody>
          <a:bodyPr wrap="square" lIns="0" tIns="0" rIns="0" bIns="0" rtlCol="0" anchor="ctr"/>
          <a:lstStyle/>
          <a:p>
            <a:pPr indent="0" marL="0">
              <a:buNone/>
            </a:pPr>
            <a:r>
              <a:rPr lang="en-US" sz="1000" b="1" spc="130" kern="0" dirty="0">
                <a:solidFill>
                  <a:srgbClr val="F47C20"/>
                </a:solidFill>
              </a:rPr>
              <a:t>ORIENTATION</a:t>
            </a:r>
            <a:endParaRPr lang="en-US" sz="1000" dirty="0"/>
          </a:p>
        </p:txBody>
      </p:sp>
      <p:sp>
        <p:nvSpPr>
          <p:cNvPr id="7" name="Text 4"/>
          <p:cNvSpPr/>
          <p:nvPr/>
        </p:nvSpPr>
        <p:spPr>
          <a:xfrm>
            <a:off x="566928" y="6473952"/>
            <a:ext cx="1097280" cy="182880"/>
          </a:xfrm>
          <a:prstGeom prst="rect">
            <a:avLst/>
          </a:prstGeom>
          <a:noFill/>
          <a:ln/>
        </p:spPr>
        <p:txBody>
          <a:bodyPr wrap="square" lIns="0" tIns="0" rIns="0" bIns="0" rtlCol="0" anchor="ctr"/>
          <a:lstStyle/>
          <a:p>
            <a:pPr indent="0" marL="0">
              <a:buNone/>
            </a:pPr>
            <a:r>
              <a:rPr lang="en-US" sz="800" dirty="0">
                <a:solidFill>
                  <a:srgbClr val="667985"/>
                </a:solidFill>
              </a:rPr>
              <a:t>Product 1.27</a:t>
            </a:r>
            <a:endParaRPr lang="en-US" sz="800" dirty="0"/>
          </a:p>
        </p:txBody>
      </p:sp>
      <p:sp>
        <p:nvSpPr>
          <p:cNvPr id="8" name="Text 5"/>
          <p:cNvSpPr/>
          <p:nvPr/>
        </p:nvSpPr>
        <p:spPr>
          <a:xfrm>
            <a:off x="10789920" y="6473952"/>
            <a:ext cx="731520" cy="182880"/>
          </a:xfrm>
          <a:prstGeom prst="rect">
            <a:avLst/>
          </a:prstGeom>
          <a:noFill/>
          <a:ln/>
        </p:spPr>
        <p:txBody>
          <a:bodyPr wrap="square" lIns="0" tIns="0" rIns="0" bIns="0" rtlCol="0" anchor="ctr"/>
          <a:lstStyle/>
          <a:p>
            <a:pPr algn="r" indent="0" marL="0">
              <a:buNone/>
            </a:pPr>
            <a:r>
              <a:rPr lang="en-US" sz="800" dirty="0">
                <a:solidFill>
                  <a:srgbClr val="667985"/>
                </a:solidFill>
              </a:rPr>
              <a:t>24 / 28</a:t>
            </a:r>
            <a:endParaRPr lang="en-US" sz="800" dirty="0"/>
          </a:p>
        </p:txBody>
      </p:sp>
      <p:sp>
        <p:nvSpPr>
          <p:cNvPr id="9" name="Shape 6"/>
          <p:cNvSpPr/>
          <p:nvPr/>
        </p:nvSpPr>
        <p:spPr>
          <a:xfrm>
            <a:off x="658368" y="1353312"/>
            <a:ext cx="10835640" cy="914400"/>
          </a:xfrm>
          <a:prstGeom prst="roundRect">
            <a:avLst>
              <a:gd name="adj" fmla="val 5000"/>
            </a:avLst>
          </a:prstGeom>
          <a:solidFill>
            <a:srgbClr val="EFF7F7"/>
          </a:solidFill>
          <a:ln w="15240">
            <a:solidFill>
              <a:srgbClr val="0F9D96"/>
            </a:solidFill>
            <a:prstDash val="solid"/>
          </a:ln>
        </p:spPr>
      </p:sp>
      <p:sp>
        <p:nvSpPr>
          <p:cNvPr id="10" name="Text 7"/>
          <p:cNvSpPr/>
          <p:nvPr/>
        </p:nvSpPr>
        <p:spPr>
          <a:xfrm>
            <a:off x="914400" y="1609344"/>
            <a:ext cx="1280160" cy="228600"/>
          </a:xfrm>
          <a:prstGeom prst="rect">
            <a:avLst/>
          </a:prstGeom>
          <a:noFill/>
          <a:ln/>
        </p:spPr>
        <p:txBody>
          <a:bodyPr wrap="square" lIns="0" tIns="0" rIns="0" bIns="0" rtlCol="0" anchor="ctr"/>
          <a:lstStyle/>
          <a:p>
            <a:pPr indent="0" marL="0">
              <a:buNone/>
            </a:pPr>
            <a:r>
              <a:rPr lang="en-US" sz="1100" b="1" spc="100" kern="0" dirty="0">
                <a:solidFill>
                  <a:srgbClr val="087B76"/>
                </a:solidFill>
              </a:rPr>
              <a:t>WHAT LIVES HERE</a:t>
            </a:r>
            <a:endParaRPr lang="en-US" sz="1100" dirty="0"/>
          </a:p>
        </p:txBody>
      </p:sp>
      <p:sp>
        <p:nvSpPr>
          <p:cNvPr id="11" name="Text 8"/>
          <p:cNvSpPr/>
          <p:nvPr/>
        </p:nvSpPr>
        <p:spPr>
          <a:xfrm>
            <a:off x="2423160" y="1536192"/>
            <a:ext cx="8641080" cy="384048"/>
          </a:xfrm>
          <a:prstGeom prst="rect">
            <a:avLst/>
          </a:prstGeom>
          <a:noFill/>
          <a:ln/>
        </p:spPr>
        <p:txBody>
          <a:bodyPr wrap="square" lIns="0" tIns="0" rIns="0" bIns="0" rtlCol="0" anchor="ctr">
            <a:normAutofit/>
          </a:bodyPr>
          <a:lstStyle/>
          <a:p>
            <a:pPr indent="0" marL="0">
              <a:buNone/>
            </a:pPr>
            <a:r>
              <a:rPr lang="en-US" sz="2000" b="1" dirty="0">
                <a:solidFill>
                  <a:srgbClr val="123247"/>
                </a:solidFill>
              </a:rPr>
              <a:t>Provide current contextual and searchable guidance across the system.</a:t>
            </a:r>
            <a:endParaRPr lang="en-US" sz="2000" dirty="0"/>
          </a:p>
        </p:txBody>
      </p:sp>
      <p:sp>
        <p:nvSpPr>
          <p:cNvPr id="12" name="Text 9"/>
          <p:cNvSpPr/>
          <p:nvPr/>
        </p:nvSpPr>
        <p:spPr>
          <a:xfrm>
            <a:off x="786384" y="2578608"/>
            <a:ext cx="2103120" cy="228600"/>
          </a:xfrm>
          <a:prstGeom prst="rect">
            <a:avLst/>
          </a:prstGeom>
          <a:noFill/>
          <a:ln/>
        </p:spPr>
        <p:txBody>
          <a:bodyPr wrap="square" lIns="0" tIns="0" rIns="0" bIns="0" rtlCol="0" anchor="ctr"/>
          <a:lstStyle/>
          <a:p>
            <a:pPr indent="0" marL="0">
              <a:buNone/>
            </a:pPr>
            <a:r>
              <a:rPr lang="en-US" sz="1100" b="1" spc="80" kern="0" dirty="0">
                <a:solidFill>
                  <a:srgbClr val="F47C20"/>
                </a:solidFill>
              </a:rPr>
              <a:t>WHO USUALLY WORKS HERE</a:t>
            </a:r>
            <a:endParaRPr lang="en-US" sz="1100" dirty="0"/>
          </a:p>
        </p:txBody>
      </p:sp>
      <p:sp>
        <p:nvSpPr>
          <p:cNvPr id="13" name="Text 10"/>
          <p:cNvSpPr/>
          <p:nvPr/>
        </p:nvSpPr>
        <p:spPr>
          <a:xfrm>
            <a:off x="3063240" y="2542032"/>
            <a:ext cx="7818120" cy="292608"/>
          </a:xfrm>
          <a:prstGeom prst="rect">
            <a:avLst/>
          </a:prstGeom>
          <a:noFill/>
          <a:ln/>
        </p:spPr>
        <p:txBody>
          <a:bodyPr wrap="square" lIns="0" tIns="0" rIns="0" bIns="0" rtlCol="0" anchor="ctr">
            <a:normAutofit/>
          </a:bodyPr>
          <a:lstStyle/>
          <a:p>
            <a:pPr indent="0" marL="0">
              <a:buNone/>
            </a:pPr>
            <a:r>
              <a:rPr lang="en-US" sz="1600" b="1" dirty="0">
                <a:solidFill>
                  <a:srgbClr val="16303D"/>
                </a:solidFill>
              </a:rPr>
              <a:t>All approved users</a:t>
            </a:r>
            <a:endParaRPr lang="en-US" sz="1600" dirty="0"/>
          </a:p>
        </p:txBody>
      </p:sp>
      <p:sp>
        <p:nvSpPr>
          <p:cNvPr id="14" name="Text 11"/>
          <p:cNvSpPr/>
          <p:nvPr/>
        </p:nvSpPr>
        <p:spPr>
          <a:xfrm>
            <a:off x="786384" y="3127248"/>
            <a:ext cx="2286000" cy="228600"/>
          </a:xfrm>
          <a:prstGeom prst="rect">
            <a:avLst/>
          </a:prstGeom>
          <a:noFill/>
          <a:ln/>
        </p:spPr>
        <p:txBody>
          <a:bodyPr wrap="square" lIns="0" tIns="0" rIns="0" bIns="0" rtlCol="0" anchor="ctr"/>
          <a:lstStyle/>
          <a:p>
            <a:pPr indent="0" marL="0">
              <a:buNone/>
            </a:pPr>
            <a:r>
              <a:rPr lang="en-US" sz="1100" b="1" spc="80" kern="0" dirty="0">
                <a:solidFill>
                  <a:srgbClr val="087B76"/>
                </a:solidFill>
              </a:rPr>
              <a:t>A NORMAL VISIT LOOKS LIKE</a:t>
            </a:r>
            <a:endParaRPr lang="en-US" sz="1100" dirty="0"/>
          </a:p>
        </p:txBody>
      </p:sp>
      <p:sp>
        <p:nvSpPr>
          <p:cNvPr id="15" name="Shape 12"/>
          <p:cNvSpPr/>
          <p:nvPr/>
        </p:nvSpPr>
        <p:spPr>
          <a:xfrm>
            <a:off x="914400" y="3566160"/>
            <a:ext cx="384048" cy="384048"/>
          </a:xfrm>
          <a:prstGeom prst="ellipse">
            <a:avLst/>
          </a:prstGeom>
          <a:solidFill>
            <a:srgbClr val="0F9D96"/>
          </a:solidFill>
          <a:ln w="12700">
            <a:solidFill>
              <a:srgbClr val="FFFFFF"/>
            </a:solidFill>
            <a:prstDash val="solid"/>
          </a:ln>
        </p:spPr>
      </p:sp>
      <p:sp>
        <p:nvSpPr>
          <p:cNvPr id="16" name="Text 13"/>
          <p:cNvSpPr/>
          <p:nvPr/>
        </p:nvSpPr>
        <p:spPr>
          <a:xfrm>
            <a:off x="914400" y="3657600"/>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7" name="Text 14"/>
          <p:cNvSpPr/>
          <p:nvPr/>
        </p:nvSpPr>
        <p:spPr>
          <a:xfrm>
            <a:off x="1508760" y="3593592"/>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Open contextual Help from the current module</a:t>
            </a:r>
            <a:endParaRPr lang="en-US" sz="1700" dirty="0"/>
          </a:p>
        </p:txBody>
      </p:sp>
      <p:sp>
        <p:nvSpPr>
          <p:cNvPr id="18" name="Shape 15"/>
          <p:cNvSpPr/>
          <p:nvPr/>
        </p:nvSpPr>
        <p:spPr>
          <a:xfrm>
            <a:off x="914400" y="4224528"/>
            <a:ext cx="384048" cy="384048"/>
          </a:xfrm>
          <a:prstGeom prst="ellipse">
            <a:avLst/>
          </a:prstGeom>
          <a:solidFill>
            <a:srgbClr val="0F9D96"/>
          </a:solidFill>
          <a:ln w="12700">
            <a:solidFill>
              <a:srgbClr val="FFFFFF"/>
            </a:solidFill>
            <a:prstDash val="solid"/>
          </a:ln>
        </p:spPr>
      </p:sp>
      <p:sp>
        <p:nvSpPr>
          <p:cNvPr id="19" name="Text 16"/>
          <p:cNvSpPr/>
          <p:nvPr/>
        </p:nvSpPr>
        <p:spPr>
          <a:xfrm>
            <a:off x="914400" y="4315968"/>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0" name="Text 17"/>
          <p:cNvSpPr/>
          <p:nvPr/>
        </p:nvSpPr>
        <p:spPr>
          <a:xfrm>
            <a:off x="1508760" y="4251960"/>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Review key actions, mistakes, and linked articles</a:t>
            </a:r>
            <a:endParaRPr lang="en-US" sz="1700" dirty="0"/>
          </a:p>
        </p:txBody>
      </p:sp>
      <p:sp>
        <p:nvSpPr>
          <p:cNvPr id="21" name="Shape 18"/>
          <p:cNvSpPr/>
          <p:nvPr/>
        </p:nvSpPr>
        <p:spPr>
          <a:xfrm>
            <a:off x="914400" y="4882896"/>
            <a:ext cx="384048" cy="384048"/>
          </a:xfrm>
          <a:prstGeom prst="ellipse">
            <a:avLst/>
          </a:prstGeom>
          <a:solidFill>
            <a:srgbClr val="F47C20"/>
          </a:solidFill>
          <a:ln w="12700">
            <a:solidFill>
              <a:srgbClr val="FFFFFF"/>
            </a:solidFill>
            <a:prstDash val="solid"/>
          </a:ln>
        </p:spPr>
      </p:sp>
      <p:sp>
        <p:nvSpPr>
          <p:cNvPr id="22" name="Text 19"/>
          <p:cNvSpPr/>
          <p:nvPr/>
        </p:nvSpPr>
        <p:spPr>
          <a:xfrm>
            <a:off x="914400" y="4974336"/>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3" name="Text 20"/>
          <p:cNvSpPr/>
          <p:nvPr/>
        </p:nvSpPr>
        <p:spPr>
          <a:xfrm>
            <a:off x="1508760" y="4910328"/>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Search by workflow, module, error, or operational term</a:t>
            </a:r>
            <a:endParaRPr lang="en-US" sz="1700" dirty="0"/>
          </a:p>
        </p:txBody>
      </p:sp>
      <p:sp>
        <p:nvSpPr>
          <p:cNvPr id="24" name="Shape 21"/>
          <p:cNvSpPr/>
          <p:nvPr/>
        </p:nvSpPr>
        <p:spPr>
          <a:xfrm>
            <a:off x="713232" y="5623560"/>
            <a:ext cx="5193792" cy="566928"/>
          </a:xfrm>
          <a:prstGeom prst="roundRect">
            <a:avLst>
              <a:gd name="adj" fmla="val 6452"/>
            </a:avLst>
          </a:prstGeom>
          <a:solidFill>
            <a:srgbClr val="EFF7F7"/>
          </a:solidFill>
          <a:ln w="12700">
            <a:solidFill>
              <a:srgbClr val="D7E2E6"/>
            </a:solidFill>
            <a:prstDash val="solid"/>
          </a:ln>
        </p:spPr>
      </p:sp>
      <p:sp>
        <p:nvSpPr>
          <p:cNvPr id="25" name="Text 22"/>
          <p:cNvSpPr/>
          <p:nvPr/>
        </p:nvSpPr>
        <p:spPr>
          <a:xfrm>
            <a:off x="914400"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087B76"/>
                </a:solidFill>
              </a:rPr>
              <a:t>WHAT HAPPENS NEXT  Return only when the normal next action is clear; escalate dead ends.</a:t>
            </a:r>
            <a:endParaRPr lang="en-US" sz="1150" dirty="0"/>
          </a:p>
        </p:txBody>
      </p:sp>
      <p:sp>
        <p:nvSpPr>
          <p:cNvPr id="26" name="Shape 23"/>
          <p:cNvSpPr/>
          <p:nvPr/>
        </p:nvSpPr>
        <p:spPr>
          <a:xfrm>
            <a:off x="6144768" y="5623560"/>
            <a:ext cx="5193792" cy="566928"/>
          </a:xfrm>
          <a:prstGeom prst="roundRect">
            <a:avLst>
              <a:gd name="adj" fmla="val 6452"/>
            </a:avLst>
          </a:prstGeom>
          <a:solidFill>
            <a:srgbClr val="FFF3DF"/>
          </a:solidFill>
          <a:ln w="12700">
            <a:solidFill>
              <a:srgbClr val="FFC928"/>
            </a:solidFill>
            <a:prstDash val="solid"/>
          </a:ln>
        </p:spPr>
      </p:sp>
      <p:sp>
        <p:nvSpPr>
          <p:cNvPr id="27" name="Text 24"/>
          <p:cNvSpPr/>
          <p:nvPr/>
        </p:nvSpPr>
        <p:spPr>
          <a:xfrm>
            <a:off x="6345936"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C93C3C"/>
                </a:solidFill>
              </a:rPr>
              <a:t>WATCH-OUT  Do not rely on an outdated printout or one exact search phrase.</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66928" y="384048"/>
            <a:ext cx="9966960" cy="438912"/>
          </a:xfrm>
          <a:prstGeom prst="rect">
            <a:avLst/>
          </a:prstGeom>
          <a:noFill/>
          <a:ln/>
        </p:spPr>
        <p:txBody>
          <a:bodyPr wrap="square" lIns="0" tIns="0" rIns="0" bIns="0" rtlCol="0" anchor="ctr">
            <a:normAutofit/>
          </a:bodyPr>
          <a:lstStyle/>
          <a:p>
            <a:pPr indent="0" marL="0">
              <a:buNone/>
            </a:pPr>
            <a:r>
              <a:rPr lang="en-US" sz="2500" b="1" dirty="0">
                <a:solidFill>
                  <a:srgbClr val="123247"/>
                </a:solidFill>
                <a:latin typeface="Aptos Display" pitchFamily="34" charset="0"/>
                <a:ea typeface="Aptos Display" pitchFamily="34" charset="-122"/>
                <a:cs typeface="Aptos Display" pitchFamily="34" charset="-120"/>
              </a:rPr>
              <a:t>Setup Wizard</a:t>
            </a:r>
            <a:endParaRPr lang="en-US" sz="2500" dirty="0"/>
          </a:p>
        </p:txBody>
      </p:sp>
      <p:sp>
        <p:nvSpPr>
          <p:cNvPr id="5" name="Text 2"/>
          <p:cNvSpPr/>
          <p:nvPr/>
        </p:nvSpPr>
        <p:spPr>
          <a:xfrm>
            <a:off x="10698480" y="438912"/>
            <a:ext cx="777240" cy="228600"/>
          </a:xfrm>
          <a:prstGeom prst="rect">
            <a:avLst/>
          </a:prstGeom>
          <a:noFill/>
          <a:ln/>
        </p:spPr>
        <p:txBody>
          <a:bodyPr wrap="square" lIns="0" tIns="0" rIns="0" bIns="0" rtlCol="0" anchor="ctr"/>
          <a:lstStyle/>
          <a:p>
            <a:pPr algn="r" indent="0" marL="0">
              <a:buNone/>
            </a:pPr>
            <a:r>
              <a:rPr lang="en-US" sz="900" b="1" dirty="0">
                <a:solidFill>
                  <a:srgbClr val="087B76"/>
                </a:solidFill>
              </a:rPr>
              <a:t>1 min</a:t>
            </a:r>
            <a:endParaRPr lang="en-US" sz="900" dirty="0"/>
          </a:p>
        </p:txBody>
      </p:sp>
      <p:sp>
        <p:nvSpPr>
          <p:cNvPr id="6" name="Text 3"/>
          <p:cNvSpPr/>
          <p:nvPr/>
        </p:nvSpPr>
        <p:spPr>
          <a:xfrm>
            <a:off x="585216" y="960120"/>
            <a:ext cx="4023360" cy="219456"/>
          </a:xfrm>
          <a:prstGeom prst="rect">
            <a:avLst/>
          </a:prstGeom>
          <a:noFill/>
          <a:ln/>
        </p:spPr>
        <p:txBody>
          <a:bodyPr wrap="square" lIns="0" tIns="0" rIns="0" bIns="0" rtlCol="0" anchor="ctr"/>
          <a:lstStyle/>
          <a:p>
            <a:pPr indent="0" marL="0">
              <a:buNone/>
            </a:pPr>
            <a:r>
              <a:rPr lang="en-US" sz="1000" b="1" spc="130" kern="0" dirty="0">
                <a:solidFill>
                  <a:srgbClr val="F47C20"/>
                </a:solidFill>
              </a:rPr>
              <a:t>STRUCTURE + MASTER DATA</a:t>
            </a:r>
            <a:endParaRPr lang="en-US" sz="1000" dirty="0"/>
          </a:p>
        </p:txBody>
      </p:sp>
      <p:sp>
        <p:nvSpPr>
          <p:cNvPr id="7" name="Text 4"/>
          <p:cNvSpPr/>
          <p:nvPr/>
        </p:nvSpPr>
        <p:spPr>
          <a:xfrm>
            <a:off x="566928" y="6473952"/>
            <a:ext cx="1097280" cy="182880"/>
          </a:xfrm>
          <a:prstGeom prst="rect">
            <a:avLst/>
          </a:prstGeom>
          <a:noFill/>
          <a:ln/>
        </p:spPr>
        <p:txBody>
          <a:bodyPr wrap="square" lIns="0" tIns="0" rIns="0" bIns="0" rtlCol="0" anchor="ctr"/>
          <a:lstStyle/>
          <a:p>
            <a:pPr indent="0" marL="0">
              <a:buNone/>
            </a:pPr>
            <a:r>
              <a:rPr lang="en-US" sz="800" dirty="0">
                <a:solidFill>
                  <a:srgbClr val="667985"/>
                </a:solidFill>
              </a:rPr>
              <a:t>Product 1.27</a:t>
            </a:r>
            <a:endParaRPr lang="en-US" sz="800" dirty="0"/>
          </a:p>
        </p:txBody>
      </p:sp>
      <p:sp>
        <p:nvSpPr>
          <p:cNvPr id="8" name="Text 5"/>
          <p:cNvSpPr/>
          <p:nvPr/>
        </p:nvSpPr>
        <p:spPr>
          <a:xfrm>
            <a:off x="10789920" y="6473952"/>
            <a:ext cx="731520" cy="182880"/>
          </a:xfrm>
          <a:prstGeom prst="rect">
            <a:avLst/>
          </a:prstGeom>
          <a:noFill/>
          <a:ln/>
        </p:spPr>
        <p:txBody>
          <a:bodyPr wrap="square" lIns="0" tIns="0" rIns="0" bIns="0" rtlCol="0" anchor="ctr"/>
          <a:lstStyle/>
          <a:p>
            <a:pPr algn="r" indent="0" marL="0">
              <a:buNone/>
            </a:pPr>
            <a:r>
              <a:rPr lang="en-US" sz="800" dirty="0">
                <a:solidFill>
                  <a:srgbClr val="667985"/>
                </a:solidFill>
              </a:rPr>
              <a:t>25 / 28</a:t>
            </a:r>
            <a:endParaRPr lang="en-US" sz="800" dirty="0"/>
          </a:p>
        </p:txBody>
      </p:sp>
      <p:sp>
        <p:nvSpPr>
          <p:cNvPr id="9" name="Shape 6"/>
          <p:cNvSpPr/>
          <p:nvPr/>
        </p:nvSpPr>
        <p:spPr>
          <a:xfrm>
            <a:off x="658368" y="1353312"/>
            <a:ext cx="10835640" cy="914400"/>
          </a:xfrm>
          <a:prstGeom prst="roundRect">
            <a:avLst>
              <a:gd name="adj" fmla="val 5000"/>
            </a:avLst>
          </a:prstGeom>
          <a:solidFill>
            <a:srgbClr val="EFF7F7"/>
          </a:solidFill>
          <a:ln w="15240">
            <a:solidFill>
              <a:srgbClr val="0F9D96"/>
            </a:solidFill>
            <a:prstDash val="solid"/>
          </a:ln>
        </p:spPr>
      </p:sp>
      <p:sp>
        <p:nvSpPr>
          <p:cNvPr id="10" name="Text 7"/>
          <p:cNvSpPr/>
          <p:nvPr/>
        </p:nvSpPr>
        <p:spPr>
          <a:xfrm>
            <a:off x="914400" y="1609344"/>
            <a:ext cx="1280160" cy="228600"/>
          </a:xfrm>
          <a:prstGeom prst="rect">
            <a:avLst/>
          </a:prstGeom>
          <a:noFill/>
          <a:ln/>
        </p:spPr>
        <p:txBody>
          <a:bodyPr wrap="square" lIns="0" tIns="0" rIns="0" bIns="0" rtlCol="0" anchor="ctr"/>
          <a:lstStyle/>
          <a:p>
            <a:pPr indent="0" marL="0">
              <a:buNone/>
            </a:pPr>
            <a:r>
              <a:rPr lang="en-US" sz="1100" b="1" spc="100" kern="0" dirty="0">
                <a:solidFill>
                  <a:srgbClr val="087B76"/>
                </a:solidFill>
              </a:rPr>
              <a:t>WHAT LIVES HERE</a:t>
            </a:r>
            <a:endParaRPr lang="en-US" sz="1100" dirty="0"/>
          </a:p>
        </p:txBody>
      </p:sp>
      <p:sp>
        <p:nvSpPr>
          <p:cNvPr id="11" name="Text 8"/>
          <p:cNvSpPr/>
          <p:nvPr/>
        </p:nvSpPr>
        <p:spPr>
          <a:xfrm>
            <a:off x="2423160" y="1536192"/>
            <a:ext cx="8641080" cy="384048"/>
          </a:xfrm>
          <a:prstGeom prst="rect">
            <a:avLst/>
          </a:prstGeom>
          <a:noFill/>
          <a:ln/>
        </p:spPr>
        <p:txBody>
          <a:bodyPr wrap="square" lIns="0" tIns="0" rIns="0" bIns="0" rtlCol="0" anchor="ctr">
            <a:normAutofit/>
          </a:bodyPr>
          <a:lstStyle/>
          <a:p>
            <a:pPr indent="0" marL="0">
              <a:buNone/>
            </a:pPr>
            <a:r>
              <a:rPr lang="en-US" sz="2000" b="1" dirty="0">
                <a:solidFill>
                  <a:srgbClr val="123247"/>
                </a:solidFill>
              </a:rPr>
              <a:t>Create or extend facilities, zones, and generated bin locations from a reviewed design.</a:t>
            </a:r>
            <a:endParaRPr lang="en-US" sz="2000" dirty="0"/>
          </a:p>
        </p:txBody>
      </p:sp>
      <p:sp>
        <p:nvSpPr>
          <p:cNvPr id="12" name="Text 9"/>
          <p:cNvSpPr/>
          <p:nvPr/>
        </p:nvSpPr>
        <p:spPr>
          <a:xfrm>
            <a:off x="786384" y="2578608"/>
            <a:ext cx="2103120" cy="228600"/>
          </a:xfrm>
          <a:prstGeom prst="rect">
            <a:avLst/>
          </a:prstGeom>
          <a:noFill/>
          <a:ln/>
        </p:spPr>
        <p:txBody>
          <a:bodyPr wrap="square" lIns="0" tIns="0" rIns="0" bIns="0" rtlCol="0" anchor="ctr"/>
          <a:lstStyle/>
          <a:p>
            <a:pPr indent="0" marL="0">
              <a:buNone/>
            </a:pPr>
            <a:r>
              <a:rPr lang="en-US" sz="1100" b="1" spc="80" kern="0" dirty="0">
                <a:solidFill>
                  <a:srgbClr val="F47C20"/>
                </a:solidFill>
              </a:rPr>
              <a:t>WHO USUALLY WORKS HERE</a:t>
            </a:r>
            <a:endParaRPr lang="en-US" sz="1100" dirty="0"/>
          </a:p>
        </p:txBody>
      </p:sp>
      <p:sp>
        <p:nvSpPr>
          <p:cNvPr id="13" name="Text 10"/>
          <p:cNvSpPr/>
          <p:nvPr/>
        </p:nvSpPr>
        <p:spPr>
          <a:xfrm>
            <a:off x="3063240" y="2542032"/>
            <a:ext cx="7818120" cy="292608"/>
          </a:xfrm>
          <a:prstGeom prst="rect">
            <a:avLst/>
          </a:prstGeom>
          <a:noFill/>
          <a:ln/>
        </p:spPr>
        <p:txBody>
          <a:bodyPr wrap="square" lIns="0" tIns="0" rIns="0" bIns="0" rtlCol="0" anchor="ctr">
            <a:normAutofit/>
          </a:bodyPr>
          <a:lstStyle/>
          <a:p>
            <a:pPr indent="0" marL="0">
              <a:buNone/>
            </a:pPr>
            <a:r>
              <a:rPr lang="en-US" sz="1600" b="1" dirty="0">
                <a:solidFill>
                  <a:srgbClr val="16303D"/>
                </a:solidFill>
              </a:rPr>
              <a:t>Admins · Warehouse Managers</a:t>
            </a:r>
            <a:endParaRPr lang="en-US" sz="1600" dirty="0"/>
          </a:p>
        </p:txBody>
      </p:sp>
      <p:sp>
        <p:nvSpPr>
          <p:cNvPr id="14" name="Text 11"/>
          <p:cNvSpPr/>
          <p:nvPr/>
        </p:nvSpPr>
        <p:spPr>
          <a:xfrm>
            <a:off x="786384" y="3127248"/>
            <a:ext cx="2286000" cy="228600"/>
          </a:xfrm>
          <a:prstGeom prst="rect">
            <a:avLst/>
          </a:prstGeom>
          <a:noFill/>
          <a:ln/>
        </p:spPr>
        <p:txBody>
          <a:bodyPr wrap="square" lIns="0" tIns="0" rIns="0" bIns="0" rtlCol="0" anchor="ctr"/>
          <a:lstStyle/>
          <a:p>
            <a:pPr indent="0" marL="0">
              <a:buNone/>
            </a:pPr>
            <a:r>
              <a:rPr lang="en-US" sz="1100" b="1" spc="80" kern="0" dirty="0">
                <a:solidFill>
                  <a:srgbClr val="087B76"/>
                </a:solidFill>
              </a:rPr>
              <a:t>A NORMAL VISIT LOOKS LIKE</a:t>
            </a:r>
            <a:endParaRPr lang="en-US" sz="1100" dirty="0"/>
          </a:p>
        </p:txBody>
      </p:sp>
      <p:sp>
        <p:nvSpPr>
          <p:cNvPr id="15" name="Shape 12"/>
          <p:cNvSpPr/>
          <p:nvPr/>
        </p:nvSpPr>
        <p:spPr>
          <a:xfrm>
            <a:off x="914400" y="3566160"/>
            <a:ext cx="384048" cy="384048"/>
          </a:xfrm>
          <a:prstGeom prst="ellipse">
            <a:avLst/>
          </a:prstGeom>
          <a:solidFill>
            <a:srgbClr val="0F9D96"/>
          </a:solidFill>
          <a:ln w="12700">
            <a:solidFill>
              <a:srgbClr val="FFFFFF"/>
            </a:solidFill>
            <a:prstDash val="solid"/>
          </a:ln>
        </p:spPr>
      </p:sp>
      <p:sp>
        <p:nvSpPr>
          <p:cNvPr id="16" name="Text 13"/>
          <p:cNvSpPr/>
          <p:nvPr/>
        </p:nvSpPr>
        <p:spPr>
          <a:xfrm>
            <a:off x="914400" y="3657600"/>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7" name="Text 14"/>
          <p:cNvSpPr/>
          <p:nvPr/>
        </p:nvSpPr>
        <p:spPr>
          <a:xfrm>
            <a:off x="1508760" y="3593592"/>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Define facilities → zones → location rules</a:t>
            </a:r>
            <a:endParaRPr lang="en-US" sz="1700" dirty="0"/>
          </a:p>
        </p:txBody>
      </p:sp>
      <p:sp>
        <p:nvSpPr>
          <p:cNvPr id="18" name="Shape 15"/>
          <p:cNvSpPr/>
          <p:nvPr/>
        </p:nvSpPr>
        <p:spPr>
          <a:xfrm>
            <a:off x="914400" y="4224528"/>
            <a:ext cx="384048" cy="384048"/>
          </a:xfrm>
          <a:prstGeom prst="ellipse">
            <a:avLst/>
          </a:prstGeom>
          <a:solidFill>
            <a:srgbClr val="0F9D96"/>
          </a:solidFill>
          <a:ln w="12700">
            <a:solidFill>
              <a:srgbClr val="FFFFFF"/>
            </a:solidFill>
            <a:prstDash val="solid"/>
          </a:ln>
        </p:spPr>
      </p:sp>
      <p:sp>
        <p:nvSpPr>
          <p:cNvPr id="19" name="Text 16"/>
          <p:cNvSpPr/>
          <p:nvPr/>
        </p:nvSpPr>
        <p:spPr>
          <a:xfrm>
            <a:off x="914400" y="4315968"/>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0" name="Text 17"/>
          <p:cNvSpPr/>
          <p:nvPr/>
        </p:nvSpPr>
        <p:spPr>
          <a:xfrm>
            <a:off x="1508760" y="4251960"/>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Review totals and codes before creation</a:t>
            </a:r>
            <a:endParaRPr lang="en-US" sz="1700" dirty="0"/>
          </a:p>
        </p:txBody>
      </p:sp>
      <p:sp>
        <p:nvSpPr>
          <p:cNvPr id="21" name="Shape 18"/>
          <p:cNvSpPr/>
          <p:nvPr/>
        </p:nvSpPr>
        <p:spPr>
          <a:xfrm>
            <a:off x="914400" y="4882896"/>
            <a:ext cx="384048" cy="384048"/>
          </a:xfrm>
          <a:prstGeom prst="ellipse">
            <a:avLst/>
          </a:prstGeom>
          <a:solidFill>
            <a:srgbClr val="F47C20"/>
          </a:solidFill>
          <a:ln w="12700">
            <a:solidFill>
              <a:srgbClr val="FFFFFF"/>
            </a:solidFill>
            <a:prstDash val="solid"/>
          </a:ln>
        </p:spPr>
      </p:sp>
      <p:sp>
        <p:nvSpPr>
          <p:cNvPr id="22" name="Text 19"/>
          <p:cNvSpPr/>
          <p:nvPr/>
        </p:nvSpPr>
        <p:spPr>
          <a:xfrm>
            <a:off x="914400" y="4974336"/>
            <a:ext cx="384048" cy="164592"/>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3" name="Text 20"/>
          <p:cNvSpPr/>
          <p:nvPr/>
        </p:nvSpPr>
        <p:spPr>
          <a:xfrm>
            <a:off x="1508760" y="4910328"/>
            <a:ext cx="9326880" cy="274320"/>
          </a:xfrm>
          <a:prstGeom prst="rect">
            <a:avLst/>
          </a:prstGeom>
          <a:noFill/>
          <a:ln/>
        </p:spPr>
        <p:txBody>
          <a:bodyPr wrap="square" lIns="0" tIns="0" rIns="0" bIns="0" rtlCol="0" anchor="ctr">
            <a:normAutofit/>
          </a:bodyPr>
          <a:lstStyle/>
          <a:p>
            <a:pPr indent="0" marL="0">
              <a:buNone/>
            </a:pPr>
            <a:r>
              <a:rPr lang="en-US" sz="1700" dirty="0">
                <a:solidFill>
                  <a:srgbClr val="16303D"/>
                </a:solidFill>
              </a:rPr>
              <a:t>Create → print/install labels → verify Warehouse Structure</a:t>
            </a:r>
            <a:endParaRPr lang="en-US" sz="1700" dirty="0"/>
          </a:p>
        </p:txBody>
      </p:sp>
      <p:sp>
        <p:nvSpPr>
          <p:cNvPr id="24" name="Shape 21"/>
          <p:cNvSpPr/>
          <p:nvPr/>
        </p:nvSpPr>
        <p:spPr>
          <a:xfrm>
            <a:off x="713232" y="5623560"/>
            <a:ext cx="5193792" cy="566928"/>
          </a:xfrm>
          <a:prstGeom prst="roundRect">
            <a:avLst>
              <a:gd name="adj" fmla="val 6452"/>
            </a:avLst>
          </a:prstGeom>
          <a:solidFill>
            <a:srgbClr val="EFF7F7"/>
          </a:solidFill>
          <a:ln w="12700">
            <a:solidFill>
              <a:srgbClr val="D7E2E6"/>
            </a:solidFill>
            <a:prstDash val="solid"/>
          </a:ln>
        </p:spPr>
      </p:sp>
      <p:sp>
        <p:nvSpPr>
          <p:cNvPr id="25" name="Text 22"/>
          <p:cNvSpPr/>
          <p:nvPr/>
        </p:nvSpPr>
        <p:spPr>
          <a:xfrm>
            <a:off x="914400"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087B76"/>
                </a:solidFill>
              </a:rPr>
              <a:t>WHAT HAPPENS NEXT  Prepare products/packaging, then release operational work.</a:t>
            </a:r>
            <a:endParaRPr lang="en-US" sz="1150" dirty="0"/>
          </a:p>
        </p:txBody>
      </p:sp>
      <p:sp>
        <p:nvSpPr>
          <p:cNvPr id="26" name="Shape 23"/>
          <p:cNvSpPr/>
          <p:nvPr/>
        </p:nvSpPr>
        <p:spPr>
          <a:xfrm>
            <a:off x="6144768" y="5623560"/>
            <a:ext cx="5193792" cy="566928"/>
          </a:xfrm>
          <a:prstGeom prst="roundRect">
            <a:avLst>
              <a:gd name="adj" fmla="val 6452"/>
            </a:avLst>
          </a:prstGeom>
          <a:solidFill>
            <a:srgbClr val="FFF3DF"/>
          </a:solidFill>
          <a:ln w="12700">
            <a:solidFill>
              <a:srgbClr val="FFC928"/>
            </a:solidFill>
            <a:prstDash val="solid"/>
          </a:ln>
        </p:spPr>
      </p:sp>
      <p:sp>
        <p:nvSpPr>
          <p:cNvPr id="27" name="Text 24"/>
          <p:cNvSpPr/>
          <p:nvPr/>
        </p:nvSpPr>
        <p:spPr>
          <a:xfrm>
            <a:off x="6345936" y="5797296"/>
            <a:ext cx="4800600" cy="219456"/>
          </a:xfrm>
          <a:prstGeom prst="rect">
            <a:avLst/>
          </a:prstGeom>
          <a:noFill/>
          <a:ln/>
        </p:spPr>
        <p:txBody>
          <a:bodyPr wrap="square" lIns="0" tIns="0" rIns="0" bIns="0" rtlCol="0" anchor="ctr">
            <a:normAutofit/>
          </a:bodyPr>
          <a:lstStyle/>
          <a:p>
            <a:pPr indent="0" marL="0">
              <a:buNone/>
            </a:pPr>
            <a:r>
              <a:rPr lang="en-US" sz="1150" b="1" dirty="0">
                <a:solidFill>
                  <a:srgbClr val="C93C3C"/>
                </a:solidFill>
              </a:rPr>
              <a:t>WATCH-OUT  It is not a routine correction tool after go-live; never run without the physical plan.</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66928" y="384048"/>
            <a:ext cx="9966960" cy="438912"/>
          </a:xfrm>
          <a:prstGeom prst="rect">
            <a:avLst/>
          </a:prstGeom>
          <a:noFill/>
          <a:ln/>
        </p:spPr>
        <p:txBody>
          <a:bodyPr wrap="square" lIns="0" tIns="0" rIns="0" bIns="0" rtlCol="0" anchor="ctr">
            <a:normAutofit/>
          </a:bodyPr>
          <a:lstStyle/>
          <a:p>
            <a:pPr indent="0" marL="0">
              <a:buNone/>
            </a:pPr>
            <a:r>
              <a:rPr lang="en-US" sz="2500" b="1" dirty="0">
                <a:solidFill>
                  <a:srgbClr val="123247"/>
                </a:solidFill>
                <a:latin typeface="Aptos Display" pitchFamily="34" charset="0"/>
                <a:ea typeface="Aptos Display" pitchFamily="34" charset="-122"/>
                <a:cs typeface="Aptos Display" pitchFamily="34" charset="-120"/>
              </a:rPr>
              <a:t>A normal day moves through the system just as it moves across the floor</a:t>
            </a:r>
            <a:endParaRPr lang="en-US" sz="2500" dirty="0"/>
          </a:p>
        </p:txBody>
      </p:sp>
      <p:sp>
        <p:nvSpPr>
          <p:cNvPr id="5" name="Text 2"/>
          <p:cNvSpPr/>
          <p:nvPr/>
        </p:nvSpPr>
        <p:spPr>
          <a:xfrm>
            <a:off x="10698480" y="438912"/>
            <a:ext cx="777240" cy="228600"/>
          </a:xfrm>
          <a:prstGeom prst="rect">
            <a:avLst/>
          </a:prstGeom>
          <a:noFill/>
          <a:ln/>
        </p:spPr>
        <p:txBody>
          <a:bodyPr wrap="square" lIns="0" tIns="0" rIns="0" bIns="0" rtlCol="0" anchor="ctr"/>
          <a:lstStyle/>
          <a:p>
            <a:pPr algn="r" indent="0" marL="0">
              <a:buNone/>
            </a:pPr>
            <a:r>
              <a:rPr lang="en-US" sz="900" b="1" dirty="0">
                <a:solidFill>
                  <a:srgbClr val="087B76"/>
                </a:solidFill>
              </a:rPr>
              <a:t>3 min</a:t>
            </a:r>
            <a:endParaRPr lang="en-US" sz="900" dirty="0"/>
          </a:p>
        </p:txBody>
      </p:sp>
      <p:sp>
        <p:nvSpPr>
          <p:cNvPr id="6" name="Text 3"/>
          <p:cNvSpPr/>
          <p:nvPr/>
        </p:nvSpPr>
        <p:spPr>
          <a:xfrm>
            <a:off x="566928" y="6473952"/>
            <a:ext cx="1097280" cy="182880"/>
          </a:xfrm>
          <a:prstGeom prst="rect">
            <a:avLst/>
          </a:prstGeom>
          <a:noFill/>
          <a:ln/>
        </p:spPr>
        <p:txBody>
          <a:bodyPr wrap="square" lIns="0" tIns="0" rIns="0" bIns="0" rtlCol="0" anchor="ctr"/>
          <a:lstStyle/>
          <a:p>
            <a:pPr indent="0" marL="0">
              <a:buNone/>
            </a:pPr>
            <a:r>
              <a:rPr lang="en-US" sz="800" dirty="0">
                <a:solidFill>
                  <a:srgbClr val="667985"/>
                </a:solidFill>
              </a:rPr>
              <a:t>Product 1.27</a:t>
            </a:r>
            <a:endParaRPr lang="en-US" sz="800" dirty="0"/>
          </a:p>
        </p:txBody>
      </p:sp>
      <p:sp>
        <p:nvSpPr>
          <p:cNvPr id="7" name="Text 4"/>
          <p:cNvSpPr/>
          <p:nvPr/>
        </p:nvSpPr>
        <p:spPr>
          <a:xfrm>
            <a:off x="10789920" y="6473952"/>
            <a:ext cx="731520" cy="182880"/>
          </a:xfrm>
          <a:prstGeom prst="rect">
            <a:avLst/>
          </a:prstGeom>
          <a:noFill/>
          <a:ln/>
        </p:spPr>
        <p:txBody>
          <a:bodyPr wrap="square" lIns="0" tIns="0" rIns="0" bIns="0" rtlCol="0" anchor="ctr"/>
          <a:lstStyle/>
          <a:p>
            <a:pPr algn="r" indent="0" marL="0">
              <a:buNone/>
            </a:pPr>
            <a:r>
              <a:rPr lang="en-US" sz="800" dirty="0">
                <a:solidFill>
                  <a:srgbClr val="667985"/>
                </a:solidFill>
              </a:rPr>
              <a:t>26 / 28</a:t>
            </a:r>
            <a:endParaRPr lang="en-US" sz="800" dirty="0"/>
          </a:p>
        </p:txBody>
      </p:sp>
      <p:sp>
        <p:nvSpPr>
          <p:cNvPr id="8" name="Shape 5"/>
          <p:cNvSpPr/>
          <p:nvPr/>
        </p:nvSpPr>
        <p:spPr>
          <a:xfrm>
            <a:off x="438912" y="1965960"/>
            <a:ext cx="1371600" cy="1463040"/>
          </a:xfrm>
          <a:prstGeom prst="roundRect">
            <a:avLst>
              <a:gd name="adj" fmla="val 3333"/>
            </a:avLst>
          </a:prstGeom>
          <a:solidFill>
            <a:srgbClr val="FFFFFF"/>
          </a:solidFill>
          <a:ln w="20320">
            <a:solidFill>
              <a:srgbClr val="0F9D96"/>
            </a:solidFill>
            <a:prstDash val="solid"/>
          </a:ln>
        </p:spPr>
      </p:sp>
      <p:sp>
        <p:nvSpPr>
          <p:cNvPr id="9" name="Text 6"/>
          <p:cNvSpPr/>
          <p:nvPr/>
        </p:nvSpPr>
        <p:spPr>
          <a:xfrm>
            <a:off x="548640" y="2148840"/>
            <a:ext cx="365760" cy="182880"/>
          </a:xfrm>
          <a:prstGeom prst="rect">
            <a:avLst/>
          </a:prstGeom>
          <a:noFill/>
          <a:ln/>
        </p:spPr>
        <p:txBody>
          <a:bodyPr wrap="square" lIns="0" tIns="0" rIns="0" bIns="0" rtlCol="0" anchor="ctr"/>
          <a:lstStyle/>
          <a:p>
            <a:pPr indent="0" marL="0">
              <a:buNone/>
            </a:pPr>
            <a:r>
              <a:rPr lang="en-US" sz="900" b="1" dirty="0">
                <a:solidFill>
                  <a:srgbClr val="667985"/>
                </a:solidFill>
              </a:rPr>
              <a:t>01</a:t>
            </a:r>
            <a:endParaRPr lang="en-US" sz="900" dirty="0"/>
          </a:p>
        </p:txBody>
      </p:sp>
      <p:sp>
        <p:nvSpPr>
          <p:cNvPr id="10" name="Text 7"/>
          <p:cNvSpPr/>
          <p:nvPr/>
        </p:nvSpPr>
        <p:spPr>
          <a:xfrm>
            <a:off x="576072" y="2542032"/>
            <a:ext cx="1097280" cy="502920"/>
          </a:xfrm>
          <a:prstGeom prst="rect">
            <a:avLst/>
          </a:prstGeom>
          <a:noFill/>
          <a:ln/>
        </p:spPr>
        <p:txBody>
          <a:bodyPr wrap="square" lIns="0" tIns="0" rIns="0" bIns="0" rtlCol="0" anchor="ctr">
            <a:normAutofit/>
          </a:bodyPr>
          <a:lstStyle/>
          <a:p>
            <a:pPr algn="ctr" indent="0" marL="0">
              <a:buNone/>
            </a:pPr>
            <a:r>
              <a:rPr lang="en-US" sz="1300" b="1" dirty="0">
                <a:solidFill>
                  <a:srgbClr val="123247"/>
                </a:solidFill>
              </a:rPr>
              <a:t>Agree priorities</a:t>
            </a:r>
            <a:endParaRPr lang="en-US" sz="1300" dirty="0"/>
          </a:p>
        </p:txBody>
      </p:sp>
      <p:sp>
        <p:nvSpPr>
          <p:cNvPr id="11" name="Shape 8"/>
          <p:cNvSpPr/>
          <p:nvPr/>
        </p:nvSpPr>
        <p:spPr>
          <a:xfrm>
            <a:off x="1819656" y="2450592"/>
            <a:ext cx="283464" cy="420624"/>
          </a:xfrm>
          <a:prstGeom prst="chevron">
            <a:avLst/>
          </a:prstGeom>
          <a:solidFill>
            <a:srgbClr val="FFC928"/>
          </a:solidFill>
          <a:ln w="12700">
            <a:solidFill>
              <a:srgbClr val="FFC928"/>
            </a:solidFill>
            <a:prstDash val="solid"/>
          </a:ln>
        </p:spPr>
      </p:sp>
      <p:sp>
        <p:nvSpPr>
          <p:cNvPr id="12" name="Shape 9"/>
          <p:cNvSpPr/>
          <p:nvPr/>
        </p:nvSpPr>
        <p:spPr>
          <a:xfrm>
            <a:off x="2103120" y="1965960"/>
            <a:ext cx="1371600" cy="1463040"/>
          </a:xfrm>
          <a:prstGeom prst="roundRect">
            <a:avLst>
              <a:gd name="adj" fmla="val 3333"/>
            </a:avLst>
          </a:prstGeom>
          <a:solidFill>
            <a:srgbClr val="EFF7F7"/>
          </a:solidFill>
          <a:ln w="20320">
            <a:solidFill>
              <a:srgbClr val="0F9D96"/>
            </a:solidFill>
            <a:prstDash val="solid"/>
          </a:ln>
        </p:spPr>
      </p:sp>
      <p:sp>
        <p:nvSpPr>
          <p:cNvPr id="13" name="Text 10"/>
          <p:cNvSpPr/>
          <p:nvPr/>
        </p:nvSpPr>
        <p:spPr>
          <a:xfrm>
            <a:off x="2212848" y="2148840"/>
            <a:ext cx="365760" cy="182880"/>
          </a:xfrm>
          <a:prstGeom prst="rect">
            <a:avLst/>
          </a:prstGeom>
          <a:noFill/>
          <a:ln/>
        </p:spPr>
        <p:txBody>
          <a:bodyPr wrap="square" lIns="0" tIns="0" rIns="0" bIns="0" rtlCol="0" anchor="ctr"/>
          <a:lstStyle/>
          <a:p>
            <a:pPr indent="0" marL="0">
              <a:buNone/>
            </a:pPr>
            <a:r>
              <a:rPr lang="en-US" sz="900" b="1" dirty="0">
                <a:solidFill>
                  <a:srgbClr val="667985"/>
                </a:solidFill>
              </a:rPr>
              <a:t>02</a:t>
            </a:r>
            <a:endParaRPr lang="en-US" sz="900" dirty="0"/>
          </a:p>
        </p:txBody>
      </p:sp>
      <p:sp>
        <p:nvSpPr>
          <p:cNvPr id="14" name="Text 11"/>
          <p:cNvSpPr/>
          <p:nvPr/>
        </p:nvSpPr>
        <p:spPr>
          <a:xfrm>
            <a:off x="2240280" y="2542032"/>
            <a:ext cx="1097280" cy="502920"/>
          </a:xfrm>
          <a:prstGeom prst="rect">
            <a:avLst/>
          </a:prstGeom>
          <a:noFill/>
          <a:ln/>
        </p:spPr>
        <p:txBody>
          <a:bodyPr wrap="square" lIns="0" tIns="0" rIns="0" bIns="0" rtlCol="0" anchor="ctr">
            <a:normAutofit/>
          </a:bodyPr>
          <a:lstStyle/>
          <a:p>
            <a:pPr algn="ctr" indent="0" marL="0">
              <a:buNone/>
            </a:pPr>
            <a:r>
              <a:rPr lang="en-US" sz="1300" b="1" dirty="0">
                <a:solidFill>
                  <a:srgbClr val="123247"/>
                </a:solidFill>
              </a:rPr>
              <a:t>Receive + label</a:t>
            </a:r>
            <a:endParaRPr lang="en-US" sz="1300" dirty="0"/>
          </a:p>
        </p:txBody>
      </p:sp>
      <p:sp>
        <p:nvSpPr>
          <p:cNvPr id="15" name="Shape 12"/>
          <p:cNvSpPr/>
          <p:nvPr/>
        </p:nvSpPr>
        <p:spPr>
          <a:xfrm>
            <a:off x="3483864" y="2450592"/>
            <a:ext cx="283464" cy="420624"/>
          </a:xfrm>
          <a:prstGeom prst="chevron">
            <a:avLst/>
          </a:prstGeom>
          <a:solidFill>
            <a:srgbClr val="FFC928"/>
          </a:solidFill>
          <a:ln w="12700">
            <a:solidFill>
              <a:srgbClr val="FFC928"/>
            </a:solidFill>
            <a:prstDash val="solid"/>
          </a:ln>
        </p:spPr>
      </p:sp>
      <p:sp>
        <p:nvSpPr>
          <p:cNvPr id="16" name="Shape 13"/>
          <p:cNvSpPr/>
          <p:nvPr/>
        </p:nvSpPr>
        <p:spPr>
          <a:xfrm>
            <a:off x="3767328" y="1965960"/>
            <a:ext cx="1371600" cy="1463040"/>
          </a:xfrm>
          <a:prstGeom prst="roundRect">
            <a:avLst>
              <a:gd name="adj" fmla="val 3333"/>
            </a:avLst>
          </a:prstGeom>
          <a:solidFill>
            <a:srgbClr val="FFFFFF"/>
          </a:solidFill>
          <a:ln w="20320">
            <a:solidFill>
              <a:srgbClr val="0F9D96"/>
            </a:solidFill>
            <a:prstDash val="solid"/>
          </a:ln>
        </p:spPr>
      </p:sp>
      <p:sp>
        <p:nvSpPr>
          <p:cNvPr id="17" name="Text 14"/>
          <p:cNvSpPr/>
          <p:nvPr/>
        </p:nvSpPr>
        <p:spPr>
          <a:xfrm>
            <a:off x="3877056" y="2148840"/>
            <a:ext cx="365760" cy="182880"/>
          </a:xfrm>
          <a:prstGeom prst="rect">
            <a:avLst/>
          </a:prstGeom>
          <a:noFill/>
          <a:ln/>
        </p:spPr>
        <p:txBody>
          <a:bodyPr wrap="square" lIns="0" tIns="0" rIns="0" bIns="0" rtlCol="0" anchor="ctr"/>
          <a:lstStyle/>
          <a:p>
            <a:pPr indent="0" marL="0">
              <a:buNone/>
            </a:pPr>
            <a:r>
              <a:rPr lang="en-US" sz="900" b="1" dirty="0">
                <a:solidFill>
                  <a:srgbClr val="667985"/>
                </a:solidFill>
              </a:rPr>
              <a:t>03</a:t>
            </a:r>
            <a:endParaRPr lang="en-US" sz="900" dirty="0"/>
          </a:p>
        </p:txBody>
      </p:sp>
      <p:sp>
        <p:nvSpPr>
          <p:cNvPr id="18" name="Text 15"/>
          <p:cNvSpPr/>
          <p:nvPr/>
        </p:nvSpPr>
        <p:spPr>
          <a:xfrm>
            <a:off x="3904488" y="2542032"/>
            <a:ext cx="1097280" cy="502920"/>
          </a:xfrm>
          <a:prstGeom prst="rect">
            <a:avLst/>
          </a:prstGeom>
          <a:noFill/>
          <a:ln/>
        </p:spPr>
        <p:txBody>
          <a:bodyPr wrap="square" lIns="0" tIns="0" rIns="0" bIns="0" rtlCol="0" anchor="ctr">
            <a:normAutofit/>
          </a:bodyPr>
          <a:lstStyle/>
          <a:p>
            <a:pPr algn="ctr" indent="0" marL="0">
              <a:buNone/>
            </a:pPr>
            <a:r>
              <a:rPr lang="en-US" sz="1300" b="1" dirty="0">
                <a:solidFill>
                  <a:srgbClr val="123247"/>
                </a:solidFill>
              </a:rPr>
              <a:t>Put away</a:t>
            </a:r>
            <a:endParaRPr lang="en-US" sz="1300" dirty="0"/>
          </a:p>
        </p:txBody>
      </p:sp>
      <p:sp>
        <p:nvSpPr>
          <p:cNvPr id="19" name="Shape 16"/>
          <p:cNvSpPr/>
          <p:nvPr/>
        </p:nvSpPr>
        <p:spPr>
          <a:xfrm>
            <a:off x="5148072" y="2450592"/>
            <a:ext cx="283464" cy="420624"/>
          </a:xfrm>
          <a:prstGeom prst="chevron">
            <a:avLst/>
          </a:prstGeom>
          <a:solidFill>
            <a:srgbClr val="FFC928"/>
          </a:solidFill>
          <a:ln w="12700">
            <a:solidFill>
              <a:srgbClr val="FFC928"/>
            </a:solidFill>
            <a:prstDash val="solid"/>
          </a:ln>
        </p:spPr>
      </p:sp>
      <p:sp>
        <p:nvSpPr>
          <p:cNvPr id="20" name="Shape 17"/>
          <p:cNvSpPr/>
          <p:nvPr/>
        </p:nvSpPr>
        <p:spPr>
          <a:xfrm>
            <a:off x="5431536" y="1965960"/>
            <a:ext cx="1371600" cy="1463040"/>
          </a:xfrm>
          <a:prstGeom prst="roundRect">
            <a:avLst>
              <a:gd name="adj" fmla="val 3333"/>
            </a:avLst>
          </a:prstGeom>
          <a:solidFill>
            <a:srgbClr val="EFF7F7"/>
          </a:solidFill>
          <a:ln w="20320">
            <a:solidFill>
              <a:srgbClr val="0F9D96"/>
            </a:solidFill>
            <a:prstDash val="solid"/>
          </a:ln>
        </p:spPr>
      </p:sp>
      <p:sp>
        <p:nvSpPr>
          <p:cNvPr id="21" name="Text 18"/>
          <p:cNvSpPr/>
          <p:nvPr/>
        </p:nvSpPr>
        <p:spPr>
          <a:xfrm>
            <a:off x="5541264" y="2148840"/>
            <a:ext cx="365760" cy="182880"/>
          </a:xfrm>
          <a:prstGeom prst="rect">
            <a:avLst/>
          </a:prstGeom>
          <a:noFill/>
          <a:ln/>
        </p:spPr>
        <p:txBody>
          <a:bodyPr wrap="square" lIns="0" tIns="0" rIns="0" bIns="0" rtlCol="0" anchor="ctr"/>
          <a:lstStyle/>
          <a:p>
            <a:pPr indent="0" marL="0">
              <a:buNone/>
            </a:pPr>
            <a:r>
              <a:rPr lang="en-US" sz="900" b="1" dirty="0">
                <a:solidFill>
                  <a:srgbClr val="667985"/>
                </a:solidFill>
              </a:rPr>
              <a:t>04</a:t>
            </a:r>
            <a:endParaRPr lang="en-US" sz="900" dirty="0"/>
          </a:p>
        </p:txBody>
      </p:sp>
      <p:sp>
        <p:nvSpPr>
          <p:cNvPr id="22" name="Text 19"/>
          <p:cNvSpPr/>
          <p:nvPr/>
        </p:nvSpPr>
        <p:spPr>
          <a:xfrm>
            <a:off x="5568696" y="2542032"/>
            <a:ext cx="1097280" cy="502920"/>
          </a:xfrm>
          <a:prstGeom prst="rect">
            <a:avLst/>
          </a:prstGeom>
          <a:noFill/>
          <a:ln/>
        </p:spPr>
        <p:txBody>
          <a:bodyPr wrap="square" lIns="0" tIns="0" rIns="0" bIns="0" rtlCol="0" anchor="ctr">
            <a:normAutofit/>
          </a:bodyPr>
          <a:lstStyle/>
          <a:p>
            <a:pPr algn="ctr" indent="0" marL="0">
              <a:buNone/>
            </a:pPr>
            <a:r>
              <a:rPr lang="en-US" sz="1300" b="1" dirty="0">
                <a:solidFill>
                  <a:srgbClr val="123247"/>
                </a:solidFill>
              </a:rPr>
              <a:t>Find + verify</a:t>
            </a:r>
            <a:endParaRPr lang="en-US" sz="1300" dirty="0"/>
          </a:p>
        </p:txBody>
      </p:sp>
      <p:sp>
        <p:nvSpPr>
          <p:cNvPr id="23" name="Shape 20"/>
          <p:cNvSpPr/>
          <p:nvPr/>
        </p:nvSpPr>
        <p:spPr>
          <a:xfrm>
            <a:off x="6812280" y="2450592"/>
            <a:ext cx="283464" cy="420624"/>
          </a:xfrm>
          <a:prstGeom prst="chevron">
            <a:avLst/>
          </a:prstGeom>
          <a:solidFill>
            <a:srgbClr val="FFC928"/>
          </a:solidFill>
          <a:ln w="12700">
            <a:solidFill>
              <a:srgbClr val="FFC928"/>
            </a:solidFill>
            <a:prstDash val="solid"/>
          </a:ln>
        </p:spPr>
      </p:sp>
      <p:sp>
        <p:nvSpPr>
          <p:cNvPr id="24" name="Shape 21"/>
          <p:cNvSpPr/>
          <p:nvPr/>
        </p:nvSpPr>
        <p:spPr>
          <a:xfrm>
            <a:off x="7095744" y="1965960"/>
            <a:ext cx="1371600" cy="1463040"/>
          </a:xfrm>
          <a:prstGeom prst="roundRect">
            <a:avLst>
              <a:gd name="adj" fmla="val 3333"/>
            </a:avLst>
          </a:prstGeom>
          <a:solidFill>
            <a:srgbClr val="FFFFFF"/>
          </a:solidFill>
          <a:ln w="20320">
            <a:solidFill>
              <a:srgbClr val="0F9D96"/>
            </a:solidFill>
            <a:prstDash val="solid"/>
          </a:ln>
        </p:spPr>
      </p:sp>
      <p:sp>
        <p:nvSpPr>
          <p:cNvPr id="25" name="Text 22"/>
          <p:cNvSpPr/>
          <p:nvPr/>
        </p:nvSpPr>
        <p:spPr>
          <a:xfrm>
            <a:off x="7205472" y="2148840"/>
            <a:ext cx="365760" cy="182880"/>
          </a:xfrm>
          <a:prstGeom prst="rect">
            <a:avLst/>
          </a:prstGeom>
          <a:noFill/>
          <a:ln/>
        </p:spPr>
        <p:txBody>
          <a:bodyPr wrap="square" lIns="0" tIns="0" rIns="0" bIns="0" rtlCol="0" anchor="ctr"/>
          <a:lstStyle/>
          <a:p>
            <a:pPr indent="0" marL="0">
              <a:buNone/>
            </a:pPr>
            <a:r>
              <a:rPr lang="en-US" sz="900" b="1" dirty="0">
                <a:solidFill>
                  <a:srgbClr val="667985"/>
                </a:solidFill>
              </a:rPr>
              <a:t>05</a:t>
            </a:r>
            <a:endParaRPr lang="en-US" sz="900" dirty="0"/>
          </a:p>
        </p:txBody>
      </p:sp>
      <p:sp>
        <p:nvSpPr>
          <p:cNvPr id="26" name="Text 23"/>
          <p:cNvSpPr/>
          <p:nvPr/>
        </p:nvSpPr>
        <p:spPr>
          <a:xfrm>
            <a:off x="7232904" y="2542032"/>
            <a:ext cx="1097280" cy="502920"/>
          </a:xfrm>
          <a:prstGeom prst="rect">
            <a:avLst/>
          </a:prstGeom>
          <a:noFill/>
          <a:ln/>
        </p:spPr>
        <p:txBody>
          <a:bodyPr wrap="square" lIns="0" tIns="0" rIns="0" bIns="0" rtlCol="0" anchor="ctr">
            <a:normAutofit/>
          </a:bodyPr>
          <a:lstStyle/>
          <a:p>
            <a:pPr algn="ctr" indent="0" marL="0">
              <a:buNone/>
            </a:pPr>
            <a:r>
              <a:rPr lang="en-US" sz="1300" b="1" dirty="0">
                <a:solidFill>
                  <a:srgbClr val="123247"/>
                </a:solidFill>
              </a:rPr>
              <a:t>Pick / move / transfer</a:t>
            </a:r>
            <a:endParaRPr lang="en-US" sz="1300" dirty="0"/>
          </a:p>
        </p:txBody>
      </p:sp>
      <p:sp>
        <p:nvSpPr>
          <p:cNvPr id="27" name="Shape 24"/>
          <p:cNvSpPr/>
          <p:nvPr/>
        </p:nvSpPr>
        <p:spPr>
          <a:xfrm>
            <a:off x="8476488" y="2450592"/>
            <a:ext cx="283464" cy="420624"/>
          </a:xfrm>
          <a:prstGeom prst="chevron">
            <a:avLst/>
          </a:prstGeom>
          <a:solidFill>
            <a:srgbClr val="FFC928"/>
          </a:solidFill>
          <a:ln w="12700">
            <a:solidFill>
              <a:srgbClr val="FFC928"/>
            </a:solidFill>
            <a:prstDash val="solid"/>
          </a:ln>
        </p:spPr>
      </p:sp>
      <p:sp>
        <p:nvSpPr>
          <p:cNvPr id="28" name="Shape 25"/>
          <p:cNvSpPr/>
          <p:nvPr/>
        </p:nvSpPr>
        <p:spPr>
          <a:xfrm>
            <a:off x="8759952" y="1965960"/>
            <a:ext cx="1371600" cy="1463040"/>
          </a:xfrm>
          <a:prstGeom prst="roundRect">
            <a:avLst>
              <a:gd name="adj" fmla="val 3333"/>
            </a:avLst>
          </a:prstGeom>
          <a:solidFill>
            <a:srgbClr val="EFF7F7"/>
          </a:solidFill>
          <a:ln w="20320">
            <a:solidFill>
              <a:srgbClr val="0F9D96"/>
            </a:solidFill>
            <a:prstDash val="solid"/>
          </a:ln>
        </p:spPr>
      </p:sp>
      <p:sp>
        <p:nvSpPr>
          <p:cNvPr id="29" name="Text 26"/>
          <p:cNvSpPr/>
          <p:nvPr/>
        </p:nvSpPr>
        <p:spPr>
          <a:xfrm>
            <a:off x="8869680" y="2148840"/>
            <a:ext cx="365760" cy="182880"/>
          </a:xfrm>
          <a:prstGeom prst="rect">
            <a:avLst/>
          </a:prstGeom>
          <a:noFill/>
          <a:ln/>
        </p:spPr>
        <p:txBody>
          <a:bodyPr wrap="square" lIns="0" tIns="0" rIns="0" bIns="0" rtlCol="0" anchor="ctr"/>
          <a:lstStyle/>
          <a:p>
            <a:pPr indent="0" marL="0">
              <a:buNone/>
            </a:pPr>
            <a:r>
              <a:rPr lang="en-US" sz="900" b="1" dirty="0">
                <a:solidFill>
                  <a:srgbClr val="667985"/>
                </a:solidFill>
              </a:rPr>
              <a:t>06</a:t>
            </a:r>
            <a:endParaRPr lang="en-US" sz="900" dirty="0"/>
          </a:p>
        </p:txBody>
      </p:sp>
      <p:sp>
        <p:nvSpPr>
          <p:cNvPr id="30" name="Text 27"/>
          <p:cNvSpPr/>
          <p:nvPr/>
        </p:nvSpPr>
        <p:spPr>
          <a:xfrm>
            <a:off x="8897112" y="2542032"/>
            <a:ext cx="1097280" cy="502920"/>
          </a:xfrm>
          <a:prstGeom prst="rect">
            <a:avLst/>
          </a:prstGeom>
          <a:noFill/>
          <a:ln/>
        </p:spPr>
        <p:txBody>
          <a:bodyPr wrap="square" lIns="0" tIns="0" rIns="0" bIns="0" rtlCol="0" anchor="ctr">
            <a:normAutofit/>
          </a:bodyPr>
          <a:lstStyle/>
          <a:p>
            <a:pPr algn="ctr" indent="0" marL="0">
              <a:buNone/>
            </a:pPr>
            <a:r>
              <a:rPr lang="en-US" sz="1300" b="1" dirty="0">
                <a:solidFill>
                  <a:srgbClr val="123247"/>
                </a:solidFill>
              </a:rPr>
              <a:t>Handle exceptions</a:t>
            </a:r>
            <a:endParaRPr lang="en-US" sz="1300" dirty="0"/>
          </a:p>
        </p:txBody>
      </p:sp>
      <p:sp>
        <p:nvSpPr>
          <p:cNvPr id="31" name="Shape 28"/>
          <p:cNvSpPr/>
          <p:nvPr/>
        </p:nvSpPr>
        <p:spPr>
          <a:xfrm>
            <a:off x="10140696" y="2450592"/>
            <a:ext cx="283464" cy="420624"/>
          </a:xfrm>
          <a:prstGeom prst="chevron">
            <a:avLst/>
          </a:prstGeom>
          <a:solidFill>
            <a:srgbClr val="FFC928"/>
          </a:solidFill>
          <a:ln w="12700">
            <a:solidFill>
              <a:srgbClr val="FFC928"/>
            </a:solidFill>
            <a:prstDash val="solid"/>
          </a:ln>
        </p:spPr>
      </p:sp>
      <p:sp>
        <p:nvSpPr>
          <p:cNvPr id="32" name="Shape 29"/>
          <p:cNvSpPr/>
          <p:nvPr/>
        </p:nvSpPr>
        <p:spPr>
          <a:xfrm>
            <a:off x="10424160" y="1965960"/>
            <a:ext cx="1371600" cy="1463040"/>
          </a:xfrm>
          <a:prstGeom prst="roundRect">
            <a:avLst>
              <a:gd name="adj" fmla="val 3333"/>
            </a:avLst>
          </a:prstGeom>
          <a:solidFill>
            <a:srgbClr val="FFFFFF"/>
          </a:solidFill>
          <a:ln w="20320">
            <a:solidFill>
              <a:srgbClr val="F47C20"/>
            </a:solidFill>
            <a:prstDash val="solid"/>
          </a:ln>
        </p:spPr>
      </p:sp>
      <p:sp>
        <p:nvSpPr>
          <p:cNvPr id="33" name="Text 30"/>
          <p:cNvSpPr/>
          <p:nvPr/>
        </p:nvSpPr>
        <p:spPr>
          <a:xfrm>
            <a:off x="10533888" y="2148840"/>
            <a:ext cx="365760" cy="182880"/>
          </a:xfrm>
          <a:prstGeom prst="rect">
            <a:avLst/>
          </a:prstGeom>
          <a:noFill/>
          <a:ln/>
        </p:spPr>
        <p:txBody>
          <a:bodyPr wrap="square" lIns="0" tIns="0" rIns="0" bIns="0" rtlCol="0" anchor="ctr"/>
          <a:lstStyle/>
          <a:p>
            <a:pPr indent="0" marL="0">
              <a:buNone/>
            </a:pPr>
            <a:r>
              <a:rPr lang="en-US" sz="900" b="1" dirty="0">
                <a:solidFill>
                  <a:srgbClr val="667985"/>
                </a:solidFill>
              </a:rPr>
              <a:t>07</a:t>
            </a:r>
            <a:endParaRPr lang="en-US" sz="900" dirty="0"/>
          </a:p>
        </p:txBody>
      </p:sp>
      <p:sp>
        <p:nvSpPr>
          <p:cNvPr id="34" name="Text 31"/>
          <p:cNvSpPr/>
          <p:nvPr/>
        </p:nvSpPr>
        <p:spPr>
          <a:xfrm>
            <a:off x="10561320" y="2542032"/>
            <a:ext cx="1097280" cy="502920"/>
          </a:xfrm>
          <a:prstGeom prst="rect">
            <a:avLst/>
          </a:prstGeom>
          <a:noFill/>
          <a:ln/>
        </p:spPr>
        <p:txBody>
          <a:bodyPr wrap="square" lIns="0" tIns="0" rIns="0" bIns="0" rtlCol="0" anchor="ctr">
            <a:normAutofit/>
          </a:bodyPr>
          <a:lstStyle/>
          <a:p>
            <a:pPr algn="ctr" indent="0" marL="0">
              <a:buNone/>
            </a:pPr>
            <a:r>
              <a:rPr lang="en-US" sz="1300" b="1" dirty="0">
                <a:solidFill>
                  <a:srgbClr val="123247"/>
                </a:solidFill>
              </a:rPr>
              <a:t>Close the shift</a:t>
            </a:r>
            <a:endParaRPr lang="en-US" sz="1300" dirty="0"/>
          </a:p>
        </p:txBody>
      </p:sp>
      <p:sp>
        <p:nvSpPr>
          <p:cNvPr id="35" name="Text 32"/>
          <p:cNvSpPr/>
          <p:nvPr/>
        </p:nvSpPr>
        <p:spPr>
          <a:xfrm>
            <a:off x="914400" y="4343400"/>
            <a:ext cx="10332720" cy="502920"/>
          </a:xfrm>
          <a:prstGeom prst="rect">
            <a:avLst/>
          </a:prstGeom>
          <a:noFill/>
          <a:ln/>
        </p:spPr>
        <p:txBody>
          <a:bodyPr wrap="square" lIns="0" tIns="0" rIns="0" bIns="0" rtlCol="0" anchor="ctr"/>
          <a:lstStyle/>
          <a:p>
            <a:pPr algn="ctr" indent="0" marL="0">
              <a:buNone/>
            </a:pPr>
            <a:r>
              <a:rPr lang="en-US" sz="2000" b="1" dirty="0">
                <a:solidFill>
                  <a:srgbClr val="087B76"/>
                </a:solidFill>
              </a:rPr>
              <a:t>One pallet identity · clear handoff · live verification before the next consequential action</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66928" y="384048"/>
            <a:ext cx="9966960" cy="438912"/>
          </a:xfrm>
          <a:prstGeom prst="rect">
            <a:avLst/>
          </a:prstGeom>
          <a:noFill/>
          <a:ln/>
        </p:spPr>
        <p:txBody>
          <a:bodyPr wrap="square" lIns="0" tIns="0" rIns="0" bIns="0" rtlCol="0" anchor="ctr">
            <a:normAutofit/>
          </a:bodyPr>
          <a:lstStyle/>
          <a:p>
            <a:pPr indent="0" marL="0">
              <a:buNone/>
            </a:pPr>
            <a:r>
              <a:rPr lang="en-US" sz="2500" b="1" dirty="0">
                <a:solidFill>
                  <a:srgbClr val="123247"/>
                </a:solidFill>
                <a:latin typeface="Aptos Display" pitchFamily="34" charset="0"/>
                <a:ea typeface="Aptos Display" pitchFamily="34" charset="-122"/>
                <a:cs typeface="Aptos Display" pitchFamily="34" charset="-120"/>
              </a:rPr>
              <a:t>Which part of the system would you reach for?</a:t>
            </a:r>
            <a:endParaRPr lang="en-US" sz="2500" dirty="0"/>
          </a:p>
        </p:txBody>
      </p:sp>
      <p:sp>
        <p:nvSpPr>
          <p:cNvPr id="5" name="Text 2"/>
          <p:cNvSpPr/>
          <p:nvPr/>
        </p:nvSpPr>
        <p:spPr>
          <a:xfrm>
            <a:off x="10698480" y="438912"/>
            <a:ext cx="777240" cy="228600"/>
          </a:xfrm>
          <a:prstGeom prst="rect">
            <a:avLst/>
          </a:prstGeom>
          <a:noFill/>
          <a:ln/>
        </p:spPr>
        <p:txBody>
          <a:bodyPr wrap="square" lIns="0" tIns="0" rIns="0" bIns="0" rtlCol="0" anchor="ctr"/>
          <a:lstStyle/>
          <a:p>
            <a:pPr algn="r" indent="0" marL="0">
              <a:buNone/>
            </a:pPr>
            <a:r>
              <a:rPr lang="en-US" sz="900" b="1" dirty="0">
                <a:solidFill>
                  <a:srgbClr val="087B76"/>
                </a:solidFill>
              </a:rPr>
              <a:t>2 min</a:t>
            </a:r>
            <a:endParaRPr lang="en-US" sz="900" dirty="0"/>
          </a:p>
        </p:txBody>
      </p:sp>
      <p:sp>
        <p:nvSpPr>
          <p:cNvPr id="6" name="Text 3"/>
          <p:cNvSpPr/>
          <p:nvPr/>
        </p:nvSpPr>
        <p:spPr>
          <a:xfrm>
            <a:off x="566928" y="6473952"/>
            <a:ext cx="1097280" cy="182880"/>
          </a:xfrm>
          <a:prstGeom prst="rect">
            <a:avLst/>
          </a:prstGeom>
          <a:noFill/>
          <a:ln/>
        </p:spPr>
        <p:txBody>
          <a:bodyPr wrap="square" lIns="0" tIns="0" rIns="0" bIns="0" rtlCol="0" anchor="ctr"/>
          <a:lstStyle/>
          <a:p>
            <a:pPr indent="0" marL="0">
              <a:buNone/>
            </a:pPr>
            <a:r>
              <a:rPr lang="en-US" sz="800" dirty="0">
                <a:solidFill>
                  <a:srgbClr val="667985"/>
                </a:solidFill>
              </a:rPr>
              <a:t>Product 1.27</a:t>
            </a:r>
            <a:endParaRPr lang="en-US" sz="800" dirty="0"/>
          </a:p>
        </p:txBody>
      </p:sp>
      <p:sp>
        <p:nvSpPr>
          <p:cNvPr id="7" name="Text 4"/>
          <p:cNvSpPr/>
          <p:nvPr/>
        </p:nvSpPr>
        <p:spPr>
          <a:xfrm>
            <a:off x="10789920" y="6473952"/>
            <a:ext cx="731520" cy="182880"/>
          </a:xfrm>
          <a:prstGeom prst="rect">
            <a:avLst/>
          </a:prstGeom>
          <a:noFill/>
          <a:ln/>
        </p:spPr>
        <p:txBody>
          <a:bodyPr wrap="square" lIns="0" tIns="0" rIns="0" bIns="0" rtlCol="0" anchor="ctr"/>
          <a:lstStyle/>
          <a:p>
            <a:pPr algn="r" indent="0" marL="0">
              <a:buNone/>
            </a:pPr>
            <a:r>
              <a:rPr lang="en-US" sz="800" dirty="0">
                <a:solidFill>
                  <a:srgbClr val="667985"/>
                </a:solidFill>
              </a:rPr>
              <a:t>27 / 28</a:t>
            </a:r>
            <a:endParaRPr lang="en-US" sz="800" dirty="0"/>
          </a:p>
        </p:txBody>
      </p:sp>
      <p:sp>
        <p:nvSpPr>
          <p:cNvPr id="8" name="Shape 5"/>
          <p:cNvSpPr/>
          <p:nvPr/>
        </p:nvSpPr>
        <p:spPr>
          <a:xfrm>
            <a:off x="658368" y="1325880"/>
            <a:ext cx="5074920" cy="1188720"/>
          </a:xfrm>
          <a:prstGeom prst="roundRect">
            <a:avLst>
              <a:gd name="adj" fmla="val 4615"/>
            </a:avLst>
          </a:prstGeom>
          <a:solidFill>
            <a:srgbClr val="FFFFFF"/>
          </a:solidFill>
          <a:ln w="15240">
            <a:solidFill>
              <a:srgbClr val="D7E2E6"/>
            </a:solidFill>
            <a:prstDash val="solid"/>
          </a:ln>
          <a:effectLst>
            <a:outerShdw sx="100000" sy="100000" kx="0" ky="0" algn="bl" rotWithShape="0" blurRad="12700" dist="50800" dir="2700000">
              <a:srgbClr val="9DAFB7">
                <a:alpha val="12000"/>
              </a:srgbClr>
            </a:outerShdw>
          </a:effectLst>
        </p:spPr>
      </p:sp>
      <p:sp>
        <p:nvSpPr>
          <p:cNvPr id="9" name="Shape 6"/>
          <p:cNvSpPr/>
          <p:nvPr/>
        </p:nvSpPr>
        <p:spPr>
          <a:xfrm>
            <a:off x="658368" y="1325880"/>
            <a:ext cx="73152" cy="1188720"/>
          </a:xfrm>
          <a:prstGeom prst="rect">
            <a:avLst/>
          </a:prstGeom>
          <a:solidFill>
            <a:srgbClr val="0F9D96"/>
          </a:solidFill>
          <a:ln w="12700">
            <a:solidFill>
              <a:srgbClr val="0F9D96"/>
            </a:solidFill>
            <a:prstDash val="solid"/>
          </a:ln>
        </p:spPr>
      </p:sp>
      <p:sp>
        <p:nvSpPr>
          <p:cNvPr id="10" name="Text 7"/>
          <p:cNvSpPr/>
          <p:nvPr/>
        </p:nvSpPr>
        <p:spPr>
          <a:xfrm>
            <a:off x="886968" y="1508760"/>
            <a:ext cx="4663440" cy="256032"/>
          </a:xfrm>
          <a:prstGeom prst="rect">
            <a:avLst/>
          </a:prstGeom>
          <a:noFill/>
          <a:ln/>
        </p:spPr>
        <p:txBody>
          <a:bodyPr wrap="square" lIns="0" tIns="0" rIns="0" bIns="0" rtlCol="0" anchor="ctr"/>
          <a:lstStyle/>
          <a:p>
            <a:pPr indent="0" marL="0">
              <a:buNone/>
            </a:pPr>
            <a:r>
              <a:rPr lang="en-US" sz="1200" b="1" spc="80" kern="0" dirty="0">
                <a:solidFill>
                  <a:srgbClr val="0F9D96"/>
                </a:solidFill>
              </a:rPr>
              <a:t>DECISION 1</a:t>
            </a:r>
            <a:endParaRPr lang="en-US" sz="1200" dirty="0"/>
          </a:p>
        </p:txBody>
      </p:sp>
      <p:sp>
        <p:nvSpPr>
          <p:cNvPr id="11" name="Text 8"/>
          <p:cNvSpPr/>
          <p:nvPr/>
        </p:nvSpPr>
        <p:spPr>
          <a:xfrm>
            <a:off x="886968" y="1947672"/>
            <a:ext cx="4663440" cy="393192"/>
          </a:xfrm>
          <a:prstGeom prst="rect">
            <a:avLst/>
          </a:prstGeom>
          <a:noFill/>
          <a:ln/>
        </p:spPr>
        <p:txBody>
          <a:bodyPr wrap="square" lIns="0" tIns="0" rIns="0" bIns="0" rtlCol="0" anchor="ctr">
            <a:normAutofit/>
          </a:bodyPr>
          <a:lstStyle/>
          <a:p>
            <a:pPr indent="0" marL="0">
              <a:buNone/>
            </a:pPr>
            <a:r>
              <a:rPr lang="en-US" sz="1700" b="1" dirty="0">
                <a:solidFill>
                  <a:srgbClr val="16303D"/>
                </a:solidFill>
              </a:rPr>
              <a:t>Same warehouse relocation? → Location Moves</a:t>
            </a:r>
            <a:endParaRPr lang="en-US" sz="1700" dirty="0"/>
          </a:p>
        </p:txBody>
      </p:sp>
      <p:sp>
        <p:nvSpPr>
          <p:cNvPr id="12" name="Shape 9"/>
          <p:cNvSpPr/>
          <p:nvPr/>
        </p:nvSpPr>
        <p:spPr>
          <a:xfrm>
            <a:off x="6190488" y="1325880"/>
            <a:ext cx="5074920" cy="1188720"/>
          </a:xfrm>
          <a:prstGeom prst="roundRect">
            <a:avLst>
              <a:gd name="adj" fmla="val 4615"/>
            </a:avLst>
          </a:prstGeom>
          <a:solidFill>
            <a:srgbClr val="FFFFFF"/>
          </a:solidFill>
          <a:ln w="15240">
            <a:solidFill>
              <a:srgbClr val="D7E2E6"/>
            </a:solidFill>
            <a:prstDash val="solid"/>
          </a:ln>
          <a:effectLst>
            <a:outerShdw sx="100000" sy="100000" kx="0" ky="0" algn="bl" rotWithShape="0" blurRad="12700" dist="50800" dir="2700000">
              <a:srgbClr val="9DAFB7">
                <a:alpha val="12000"/>
              </a:srgbClr>
            </a:outerShdw>
          </a:effectLst>
        </p:spPr>
      </p:sp>
      <p:sp>
        <p:nvSpPr>
          <p:cNvPr id="13" name="Shape 10"/>
          <p:cNvSpPr/>
          <p:nvPr/>
        </p:nvSpPr>
        <p:spPr>
          <a:xfrm>
            <a:off x="6190488" y="1325880"/>
            <a:ext cx="73152" cy="1188720"/>
          </a:xfrm>
          <a:prstGeom prst="rect">
            <a:avLst/>
          </a:prstGeom>
          <a:solidFill>
            <a:srgbClr val="0F9D96"/>
          </a:solidFill>
          <a:ln w="12700">
            <a:solidFill>
              <a:srgbClr val="0F9D96"/>
            </a:solidFill>
            <a:prstDash val="solid"/>
          </a:ln>
        </p:spPr>
      </p:sp>
      <p:sp>
        <p:nvSpPr>
          <p:cNvPr id="14" name="Text 11"/>
          <p:cNvSpPr/>
          <p:nvPr/>
        </p:nvSpPr>
        <p:spPr>
          <a:xfrm>
            <a:off x="6419088" y="1508760"/>
            <a:ext cx="4663440" cy="256032"/>
          </a:xfrm>
          <a:prstGeom prst="rect">
            <a:avLst/>
          </a:prstGeom>
          <a:noFill/>
          <a:ln/>
        </p:spPr>
        <p:txBody>
          <a:bodyPr wrap="square" lIns="0" tIns="0" rIns="0" bIns="0" rtlCol="0" anchor="ctr"/>
          <a:lstStyle/>
          <a:p>
            <a:pPr indent="0" marL="0">
              <a:buNone/>
            </a:pPr>
            <a:r>
              <a:rPr lang="en-US" sz="1200" b="1" spc="80" kern="0" dirty="0">
                <a:solidFill>
                  <a:srgbClr val="0F9D96"/>
                </a:solidFill>
              </a:rPr>
              <a:t>DECISION 2</a:t>
            </a:r>
            <a:endParaRPr lang="en-US" sz="1200" dirty="0"/>
          </a:p>
        </p:txBody>
      </p:sp>
      <p:sp>
        <p:nvSpPr>
          <p:cNvPr id="15" name="Text 12"/>
          <p:cNvSpPr/>
          <p:nvPr/>
        </p:nvSpPr>
        <p:spPr>
          <a:xfrm>
            <a:off x="6419088" y="1947672"/>
            <a:ext cx="4663440" cy="393192"/>
          </a:xfrm>
          <a:prstGeom prst="rect">
            <a:avLst/>
          </a:prstGeom>
          <a:noFill/>
          <a:ln/>
        </p:spPr>
        <p:txBody>
          <a:bodyPr wrap="square" lIns="0" tIns="0" rIns="0" bIns="0" rtlCol="0" anchor="ctr">
            <a:normAutofit/>
          </a:bodyPr>
          <a:lstStyle/>
          <a:p>
            <a:pPr indent="0" marL="0">
              <a:buNone/>
            </a:pPr>
            <a:r>
              <a:rPr lang="en-US" sz="1700" b="1" dirty="0">
                <a:solidFill>
                  <a:srgbClr val="16303D"/>
                </a:solidFill>
              </a:rPr>
              <a:t>Different facility? → Transfers</a:t>
            </a:r>
            <a:endParaRPr lang="en-US" sz="1700" dirty="0"/>
          </a:p>
        </p:txBody>
      </p:sp>
      <p:sp>
        <p:nvSpPr>
          <p:cNvPr id="16" name="Shape 13"/>
          <p:cNvSpPr/>
          <p:nvPr/>
        </p:nvSpPr>
        <p:spPr>
          <a:xfrm>
            <a:off x="658368" y="2898648"/>
            <a:ext cx="5074920" cy="1188720"/>
          </a:xfrm>
          <a:prstGeom prst="roundRect">
            <a:avLst>
              <a:gd name="adj" fmla="val 4615"/>
            </a:avLst>
          </a:prstGeom>
          <a:solidFill>
            <a:srgbClr val="FFFFFF"/>
          </a:solidFill>
          <a:ln w="15240">
            <a:solidFill>
              <a:srgbClr val="D7E2E6"/>
            </a:solidFill>
            <a:prstDash val="solid"/>
          </a:ln>
          <a:effectLst>
            <a:outerShdw sx="100000" sy="100000" kx="0" ky="0" algn="bl" rotWithShape="0" blurRad="12700" dist="50800" dir="2700000">
              <a:srgbClr val="9DAFB7">
                <a:alpha val="12000"/>
              </a:srgbClr>
            </a:outerShdw>
          </a:effectLst>
        </p:spPr>
      </p:sp>
      <p:sp>
        <p:nvSpPr>
          <p:cNvPr id="17" name="Shape 14"/>
          <p:cNvSpPr/>
          <p:nvPr/>
        </p:nvSpPr>
        <p:spPr>
          <a:xfrm>
            <a:off x="658368" y="2898648"/>
            <a:ext cx="73152" cy="1188720"/>
          </a:xfrm>
          <a:prstGeom prst="rect">
            <a:avLst/>
          </a:prstGeom>
          <a:solidFill>
            <a:srgbClr val="0F9D96"/>
          </a:solidFill>
          <a:ln w="12700">
            <a:solidFill>
              <a:srgbClr val="0F9D96"/>
            </a:solidFill>
            <a:prstDash val="solid"/>
          </a:ln>
        </p:spPr>
      </p:sp>
      <p:sp>
        <p:nvSpPr>
          <p:cNvPr id="18" name="Text 15"/>
          <p:cNvSpPr/>
          <p:nvPr/>
        </p:nvSpPr>
        <p:spPr>
          <a:xfrm>
            <a:off x="886968" y="3081528"/>
            <a:ext cx="4663440" cy="256032"/>
          </a:xfrm>
          <a:prstGeom prst="rect">
            <a:avLst/>
          </a:prstGeom>
          <a:noFill/>
          <a:ln/>
        </p:spPr>
        <p:txBody>
          <a:bodyPr wrap="square" lIns="0" tIns="0" rIns="0" bIns="0" rtlCol="0" anchor="ctr"/>
          <a:lstStyle/>
          <a:p>
            <a:pPr indent="0" marL="0">
              <a:buNone/>
            </a:pPr>
            <a:r>
              <a:rPr lang="en-US" sz="1200" b="1" spc="80" kern="0" dirty="0">
                <a:solidFill>
                  <a:srgbClr val="0F9D96"/>
                </a:solidFill>
              </a:rPr>
              <a:t>DECISION 3</a:t>
            </a:r>
            <a:endParaRPr lang="en-US" sz="1200" dirty="0"/>
          </a:p>
        </p:txBody>
      </p:sp>
      <p:sp>
        <p:nvSpPr>
          <p:cNvPr id="19" name="Text 16"/>
          <p:cNvSpPr/>
          <p:nvPr/>
        </p:nvSpPr>
        <p:spPr>
          <a:xfrm>
            <a:off x="886968" y="3520440"/>
            <a:ext cx="4663440" cy="393192"/>
          </a:xfrm>
          <a:prstGeom prst="rect">
            <a:avLst/>
          </a:prstGeom>
          <a:noFill/>
          <a:ln/>
        </p:spPr>
        <p:txBody>
          <a:bodyPr wrap="square" lIns="0" tIns="0" rIns="0" bIns="0" rtlCol="0" anchor="ctr">
            <a:normAutofit/>
          </a:bodyPr>
          <a:lstStyle/>
          <a:p>
            <a:pPr indent="0" marL="0">
              <a:buNone/>
            </a:pPr>
            <a:r>
              <a:rPr lang="en-US" sz="1700" b="1" dirty="0">
                <a:solidFill>
                  <a:srgbClr val="16303D"/>
                </a:solidFill>
              </a:rPr>
              <a:t>Unknown SKU? → Products + Packaging</a:t>
            </a:r>
            <a:endParaRPr lang="en-US" sz="1700" dirty="0"/>
          </a:p>
        </p:txBody>
      </p:sp>
      <p:sp>
        <p:nvSpPr>
          <p:cNvPr id="20" name="Shape 17"/>
          <p:cNvSpPr/>
          <p:nvPr/>
        </p:nvSpPr>
        <p:spPr>
          <a:xfrm>
            <a:off x="6190488" y="2898648"/>
            <a:ext cx="5074920" cy="1188720"/>
          </a:xfrm>
          <a:prstGeom prst="roundRect">
            <a:avLst>
              <a:gd name="adj" fmla="val 4615"/>
            </a:avLst>
          </a:prstGeom>
          <a:solidFill>
            <a:srgbClr val="FFFFFF"/>
          </a:solidFill>
          <a:ln w="15240">
            <a:solidFill>
              <a:srgbClr val="D7E2E6"/>
            </a:solidFill>
            <a:prstDash val="solid"/>
          </a:ln>
          <a:effectLst>
            <a:outerShdw sx="100000" sy="100000" kx="0" ky="0" algn="bl" rotWithShape="0" blurRad="12700" dist="50800" dir="2700000">
              <a:srgbClr val="9DAFB7">
                <a:alpha val="12000"/>
              </a:srgbClr>
            </a:outerShdw>
          </a:effectLst>
        </p:spPr>
      </p:sp>
      <p:sp>
        <p:nvSpPr>
          <p:cNvPr id="21" name="Shape 18"/>
          <p:cNvSpPr/>
          <p:nvPr/>
        </p:nvSpPr>
        <p:spPr>
          <a:xfrm>
            <a:off x="6190488" y="2898648"/>
            <a:ext cx="73152" cy="1188720"/>
          </a:xfrm>
          <a:prstGeom prst="rect">
            <a:avLst/>
          </a:prstGeom>
          <a:solidFill>
            <a:srgbClr val="F47C20"/>
          </a:solidFill>
          <a:ln w="12700">
            <a:solidFill>
              <a:srgbClr val="F47C20"/>
            </a:solidFill>
            <a:prstDash val="solid"/>
          </a:ln>
        </p:spPr>
      </p:sp>
      <p:sp>
        <p:nvSpPr>
          <p:cNvPr id="22" name="Text 19"/>
          <p:cNvSpPr/>
          <p:nvPr/>
        </p:nvSpPr>
        <p:spPr>
          <a:xfrm>
            <a:off x="6419088" y="3081528"/>
            <a:ext cx="4663440" cy="256032"/>
          </a:xfrm>
          <a:prstGeom prst="rect">
            <a:avLst/>
          </a:prstGeom>
          <a:noFill/>
          <a:ln/>
        </p:spPr>
        <p:txBody>
          <a:bodyPr wrap="square" lIns="0" tIns="0" rIns="0" bIns="0" rtlCol="0" anchor="ctr"/>
          <a:lstStyle/>
          <a:p>
            <a:pPr indent="0" marL="0">
              <a:buNone/>
            </a:pPr>
            <a:r>
              <a:rPr lang="en-US" sz="1200" b="1" spc="80" kern="0" dirty="0">
                <a:solidFill>
                  <a:srgbClr val="F47C20"/>
                </a:solidFill>
              </a:rPr>
              <a:t>DECISION 4</a:t>
            </a:r>
            <a:endParaRPr lang="en-US" sz="1200" dirty="0"/>
          </a:p>
        </p:txBody>
      </p:sp>
      <p:sp>
        <p:nvSpPr>
          <p:cNvPr id="23" name="Text 20"/>
          <p:cNvSpPr/>
          <p:nvPr/>
        </p:nvSpPr>
        <p:spPr>
          <a:xfrm>
            <a:off x="6419088" y="3520440"/>
            <a:ext cx="4663440" cy="393192"/>
          </a:xfrm>
          <a:prstGeom prst="rect">
            <a:avLst/>
          </a:prstGeom>
          <a:noFill/>
          <a:ln/>
        </p:spPr>
        <p:txBody>
          <a:bodyPr wrap="square" lIns="0" tIns="0" rIns="0" bIns="0" rtlCol="0" anchor="ctr">
            <a:normAutofit/>
          </a:bodyPr>
          <a:lstStyle/>
          <a:p>
            <a:pPr indent="0" marL="0">
              <a:buNone/>
            </a:pPr>
            <a:r>
              <a:rPr lang="en-US" sz="1700" b="1" dirty="0">
                <a:solidFill>
                  <a:srgbClr val="16303D"/>
                </a:solidFill>
              </a:rPr>
              <a:t>Short pick pallet? → Inventory + Status + System Log</a:t>
            </a:r>
            <a:endParaRPr lang="en-US" sz="1700" dirty="0"/>
          </a:p>
        </p:txBody>
      </p:sp>
      <p:sp>
        <p:nvSpPr>
          <p:cNvPr id="24" name="Shape 21"/>
          <p:cNvSpPr/>
          <p:nvPr/>
        </p:nvSpPr>
        <p:spPr>
          <a:xfrm>
            <a:off x="658368" y="4471416"/>
            <a:ext cx="5074920" cy="1188720"/>
          </a:xfrm>
          <a:prstGeom prst="roundRect">
            <a:avLst>
              <a:gd name="adj" fmla="val 4615"/>
            </a:avLst>
          </a:prstGeom>
          <a:solidFill>
            <a:srgbClr val="FFFFFF"/>
          </a:solidFill>
          <a:ln w="15240">
            <a:solidFill>
              <a:srgbClr val="D7E2E6"/>
            </a:solidFill>
            <a:prstDash val="solid"/>
          </a:ln>
          <a:effectLst>
            <a:outerShdw sx="100000" sy="100000" kx="0" ky="0" algn="bl" rotWithShape="0" blurRad="12700" dist="50800" dir="2700000">
              <a:srgbClr val="9DAFB7">
                <a:alpha val="12000"/>
              </a:srgbClr>
            </a:outerShdw>
          </a:effectLst>
        </p:spPr>
      </p:sp>
      <p:sp>
        <p:nvSpPr>
          <p:cNvPr id="25" name="Shape 22"/>
          <p:cNvSpPr/>
          <p:nvPr/>
        </p:nvSpPr>
        <p:spPr>
          <a:xfrm>
            <a:off x="658368" y="4471416"/>
            <a:ext cx="73152" cy="1188720"/>
          </a:xfrm>
          <a:prstGeom prst="rect">
            <a:avLst/>
          </a:prstGeom>
          <a:solidFill>
            <a:srgbClr val="0F9D96"/>
          </a:solidFill>
          <a:ln w="12700">
            <a:solidFill>
              <a:srgbClr val="0F9D96"/>
            </a:solidFill>
            <a:prstDash val="solid"/>
          </a:ln>
        </p:spPr>
      </p:sp>
      <p:sp>
        <p:nvSpPr>
          <p:cNvPr id="26" name="Text 23"/>
          <p:cNvSpPr/>
          <p:nvPr/>
        </p:nvSpPr>
        <p:spPr>
          <a:xfrm>
            <a:off x="886968" y="4654296"/>
            <a:ext cx="4663440" cy="256032"/>
          </a:xfrm>
          <a:prstGeom prst="rect">
            <a:avLst/>
          </a:prstGeom>
          <a:noFill/>
          <a:ln/>
        </p:spPr>
        <p:txBody>
          <a:bodyPr wrap="square" lIns="0" tIns="0" rIns="0" bIns="0" rtlCol="0" anchor="ctr"/>
          <a:lstStyle/>
          <a:p>
            <a:pPr indent="0" marL="0">
              <a:buNone/>
            </a:pPr>
            <a:r>
              <a:rPr lang="en-US" sz="1200" b="1" spc="80" kern="0" dirty="0">
                <a:solidFill>
                  <a:srgbClr val="0F9D96"/>
                </a:solidFill>
              </a:rPr>
              <a:t>DECISION 5</a:t>
            </a:r>
            <a:endParaRPr lang="en-US" sz="1200" dirty="0"/>
          </a:p>
        </p:txBody>
      </p:sp>
      <p:sp>
        <p:nvSpPr>
          <p:cNvPr id="27" name="Text 24"/>
          <p:cNvSpPr/>
          <p:nvPr/>
        </p:nvSpPr>
        <p:spPr>
          <a:xfrm>
            <a:off x="886968" y="5093208"/>
            <a:ext cx="4663440" cy="393192"/>
          </a:xfrm>
          <a:prstGeom prst="rect">
            <a:avLst/>
          </a:prstGeom>
          <a:noFill/>
          <a:ln/>
        </p:spPr>
        <p:txBody>
          <a:bodyPr wrap="square" lIns="0" tIns="0" rIns="0" bIns="0" rtlCol="0" anchor="ctr">
            <a:normAutofit/>
          </a:bodyPr>
          <a:lstStyle/>
          <a:p>
            <a:pPr indent="0" marL="0">
              <a:buNone/>
            </a:pPr>
            <a:r>
              <a:rPr lang="en-US" sz="1700" b="1" dirty="0">
                <a:solidFill>
                  <a:srgbClr val="16303D"/>
                </a:solidFill>
              </a:rPr>
              <a:t>Unreadable label? → Verify, then reprint same identity</a:t>
            </a:r>
            <a:endParaRPr lang="en-US" sz="1700" dirty="0"/>
          </a:p>
        </p:txBody>
      </p:sp>
      <p:sp>
        <p:nvSpPr>
          <p:cNvPr id="28" name="Shape 25"/>
          <p:cNvSpPr/>
          <p:nvPr/>
        </p:nvSpPr>
        <p:spPr>
          <a:xfrm>
            <a:off x="6190488" y="4471416"/>
            <a:ext cx="5074920" cy="1188720"/>
          </a:xfrm>
          <a:prstGeom prst="roundRect">
            <a:avLst>
              <a:gd name="adj" fmla="val 4615"/>
            </a:avLst>
          </a:prstGeom>
          <a:solidFill>
            <a:srgbClr val="FFFFFF"/>
          </a:solidFill>
          <a:ln w="15240">
            <a:solidFill>
              <a:srgbClr val="D7E2E6"/>
            </a:solidFill>
            <a:prstDash val="solid"/>
          </a:ln>
          <a:effectLst>
            <a:outerShdw sx="100000" sy="100000" kx="0" ky="0" algn="bl" rotWithShape="0" blurRad="12700" dist="50800" dir="2700000">
              <a:srgbClr val="9DAFB7">
                <a:alpha val="12000"/>
              </a:srgbClr>
            </a:outerShdw>
          </a:effectLst>
        </p:spPr>
      </p:sp>
      <p:sp>
        <p:nvSpPr>
          <p:cNvPr id="29" name="Shape 26"/>
          <p:cNvSpPr/>
          <p:nvPr/>
        </p:nvSpPr>
        <p:spPr>
          <a:xfrm>
            <a:off x="6190488" y="4471416"/>
            <a:ext cx="73152" cy="1188720"/>
          </a:xfrm>
          <a:prstGeom prst="rect">
            <a:avLst/>
          </a:prstGeom>
          <a:solidFill>
            <a:srgbClr val="0F9D96"/>
          </a:solidFill>
          <a:ln w="12700">
            <a:solidFill>
              <a:srgbClr val="0F9D96"/>
            </a:solidFill>
            <a:prstDash val="solid"/>
          </a:ln>
        </p:spPr>
      </p:sp>
      <p:sp>
        <p:nvSpPr>
          <p:cNvPr id="30" name="Text 27"/>
          <p:cNvSpPr/>
          <p:nvPr/>
        </p:nvSpPr>
        <p:spPr>
          <a:xfrm>
            <a:off x="6419088" y="4654296"/>
            <a:ext cx="4663440" cy="256032"/>
          </a:xfrm>
          <a:prstGeom prst="rect">
            <a:avLst/>
          </a:prstGeom>
          <a:noFill/>
          <a:ln/>
        </p:spPr>
        <p:txBody>
          <a:bodyPr wrap="square" lIns="0" tIns="0" rIns="0" bIns="0" rtlCol="0" anchor="ctr"/>
          <a:lstStyle/>
          <a:p>
            <a:pPr indent="0" marL="0">
              <a:buNone/>
            </a:pPr>
            <a:r>
              <a:rPr lang="en-US" sz="1200" b="1" spc="80" kern="0" dirty="0">
                <a:solidFill>
                  <a:srgbClr val="0F9D96"/>
                </a:solidFill>
              </a:rPr>
              <a:t>DECISION 6</a:t>
            </a:r>
            <a:endParaRPr lang="en-US" sz="1200" dirty="0"/>
          </a:p>
        </p:txBody>
      </p:sp>
      <p:sp>
        <p:nvSpPr>
          <p:cNvPr id="31" name="Text 28"/>
          <p:cNvSpPr/>
          <p:nvPr/>
        </p:nvSpPr>
        <p:spPr>
          <a:xfrm>
            <a:off x="6419088" y="5093208"/>
            <a:ext cx="4663440" cy="393192"/>
          </a:xfrm>
          <a:prstGeom prst="rect">
            <a:avLst/>
          </a:prstGeom>
          <a:noFill/>
          <a:ln/>
        </p:spPr>
        <p:txBody>
          <a:bodyPr wrap="square" lIns="0" tIns="0" rIns="0" bIns="0" rtlCol="0" anchor="ctr">
            <a:normAutofit/>
          </a:bodyPr>
          <a:lstStyle/>
          <a:p>
            <a:pPr indent="0" marL="0">
              <a:buNone/>
            </a:pPr>
            <a:r>
              <a:rPr lang="en-US" sz="1700" b="1" dirty="0">
                <a:solidFill>
                  <a:srgbClr val="16303D"/>
                </a:solidFill>
              </a:rPr>
              <a:t>Rising quarantine? → Dashboard/Reports, then Status detail</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66928" y="384048"/>
            <a:ext cx="9966960" cy="438912"/>
          </a:xfrm>
          <a:prstGeom prst="rect">
            <a:avLst/>
          </a:prstGeom>
          <a:noFill/>
          <a:ln/>
        </p:spPr>
        <p:txBody>
          <a:bodyPr wrap="square" lIns="0" tIns="0" rIns="0" bIns="0" rtlCol="0" anchor="ctr">
            <a:normAutofit/>
          </a:bodyPr>
          <a:lstStyle/>
          <a:p>
            <a:pPr indent="0" marL="0">
              <a:buNone/>
            </a:pPr>
            <a:r>
              <a:rPr lang="en-US" sz="2500" b="1" dirty="0">
                <a:solidFill>
                  <a:srgbClr val="123247"/>
                </a:solidFill>
                <a:latin typeface="Aptos Display" pitchFamily="34" charset="0"/>
                <a:ea typeface="Aptos Display" pitchFamily="34" charset="-122"/>
                <a:cs typeface="Aptos Display" pitchFamily="34" charset="-120"/>
              </a:rPr>
              <a:t>Your team knows the warehouse. The system keeps that knowledge visible.</a:t>
            </a:r>
            <a:endParaRPr lang="en-US" sz="2500" dirty="0"/>
          </a:p>
        </p:txBody>
      </p:sp>
      <p:sp>
        <p:nvSpPr>
          <p:cNvPr id="5" name="Text 2"/>
          <p:cNvSpPr/>
          <p:nvPr/>
        </p:nvSpPr>
        <p:spPr>
          <a:xfrm>
            <a:off x="10698480" y="438912"/>
            <a:ext cx="777240" cy="228600"/>
          </a:xfrm>
          <a:prstGeom prst="rect">
            <a:avLst/>
          </a:prstGeom>
          <a:noFill/>
          <a:ln/>
        </p:spPr>
        <p:txBody>
          <a:bodyPr wrap="square" lIns="0" tIns="0" rIns="0" bIns="0" rtlCol="0" anchor="ctr"/>
          <a:lstStyle/>
          <a:p>
            <a:pPr algn="r" indent="0" marL="0">
              <a:buNone/>
            </a:pPr>
            <a:r>
              <a:rPr lang="en-US" sz="900" b="1" dirty="0">
                <a:solidFill>
                  <a:srgbClr val="087B76"/>
                </a:solidFill>
              </a:rPr>
              <a:t>2 min</a:t>
            </a:r>
            <a:endParaRPr lang="en-US" sz="900" dirty="0"/>
          </a:p>
        </p:txBody>
      </p:sp>
      <p:sp>
        <p:nvSpPr>
          <p:cNvPr id="6" name="Text 3"/>
          <p:cNvSpPr/>
          <p:nvPr/>
        </p:nvSpPr>
        <p:spPr>
          <a:xfrm>
            <a:off x="566928" y="6473952"/>
            <a:ext cx="1097280" cy="182880"/>
          </a:xfrm>
          <a:prstGeom prst="rect">
            <a:avLst/>
          </a:prstGeom>
          <a:noFill/>
          <a:ln/>
        </p:spPr>
        <p:txBody>
          <a:bodyPr wrap="square" lIns="0" tIns="0" rIns="0" bIns="0" rtlCol="0" anchor="ctr"/>
          <a:lstStyle/>
          <a:p>
            <a:pPr indent="0" marL="0">
              <a:buNone/>
            </a:pPr>
            <a:r>
              <a:rPr lang="en-US" sz="800" dirty="0">
                <a:solidFill>
                  <a:srgbClr val="667985"/>
                </a:solidFill>
              </a:rPr>
              <a:t>Product 1.27</a:t>
            </a:r>
            <a:endParaRPr lang="en-US" sz="800" dirty="0"/>
          </a:p>
        </p:txBody>
      </p:sp>
      <p:sp>
        <p:nvSpPr>
          <p:cNvPr id="7" name="Text 4"/>
          <p:cNvSpPr/>
          <p:nvPr/>
        </p:nvSpPr>
        <p:spPr>
          <a:xfrm>
            <a:off x="10789920" y="6473952"/>
            <a:ext cx="731520" cy="182880"/>
          </a:xfrm>
          <a:prstGeom prst="rect">
            <a:avLst/>
          </a:prstGeom>
          <a:noFill/>
          <a:ln/>
        </p:spPr>
        <p:txBody>
          <a:bodyPr wrap="square" lIns="0" tIns="0" rIns="0" bIns="0" rtlCol="0" anchor="ctr"/>
          <a:lstStyle/>
          <a:p>
            <a:pPr algn="r" indent="0" marL="0">
              <a:buNone/>
            </a:pPr>
            <a:r>
              <a:rPr lang="en-US" sz="800" dirty="0">
                <a:solidFill>
                  <a:srgbClr val="667985"/>
                </a:solidFill>
              </a:rPr>
              <a:t>28 / 28</a:t>
            </a:r>
            <a:endParaRPr lang="en-US" sz="800" dirty="0"/>
          </a:p>
        </p:txBody>
      </p:sp>
      <p:sp>
        <p:nvSpPr>
          <p:cNvPr id="8" name="Shape 5"/>
          <p:cNvSpPr/>
          <p:nvPr/>
        </p:nvSpPr>
        <p:spPr>
          <a:xfrm>
            <a:off x="1005840" y="1554480"/>
            <a:ext cx="438912" cy="438912"/>
          </a:xfrm>
          <a:prstGeom prst="ellipse">
            <a:avLst/>
          </a:prstGeom>
          <a:solidFill>
            <a:srgbClr val="0F9D96"/>
          </a:solidFill>
          <a:ln w="12700">
            <a:solidFill>
              <a:srgbClr val="0F9D96"/>
            </a:solidFill>
            <a:prstDash val="solid"/>
          </a:ln>
        </p:spPr>
      </p:sp>
      <p:sp>
        <p:nvSpPr>
          <p:cNvPr id="9" name="Text 6"/>
          <p:cNvSpPr/>
          <p:nvPr/>
        </p:nvSpPr>
        <p:spPr>
          <a:xfrm>
            <a:off x="1005840" y="1645920"/>
            <a:ext cx="438912" cy="18288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7"/>
          <p:cNvSpPr/>
          <p:nvPr/>
        </p:nvSpPr>
        <p:spPr>
          <a:xfrm>
            <a:off x="1691640" y="1600200"/>
            <a:ext cx="8869680" cy="320040"/>
          </a:xfrm>
          <a:prstGeom prst="rect">
            <a:avLst/>
          </a:prstGeom>
          <a:noFill/>
          <a:ln/>
        </p:spPr>
        <p:txBody>
          <a:bodyPr wrap="square" lIns="0" tIns="0" rIns="0" bIns="0" rtlCol="0" anchor="ctr"/>
          <a:lstStyle/>
          <a:p>
            <a:pPr indent="0" marL="0">
              <a:buNone/>
            </a:pPr>
            <a:r>
              <a:rPr lang="en-US" sz="2000" dirty="0">
                <a:solidFill>
                  <a:srgbClr val="16303D"/>
                </a:solidFill>
              </a:rPr>
              <a:t>System Tour — where familiar work lives</a:t>
            </a:r>
            <a:endParaRPr lang="en-US" sz="2000" dirty="0"/>
          </a:p>
        </p:txBody>
      </p:sp>
      <p:sp>
        <p:nvSpPr>
          <p:cNvPr id="11" name="Shape 8"/>
          <p:cNvSpPr/>
          <p:nvPr/>
        </p:nvSpPr>
        <p:spPr>
          <a:xfrm>
            <a:off x="1005840" y="2423160"/>
            <a:ext cx="438912" cy="438912"/>
          </a:xfrm>
          <a:prstGeom prst="ellipse">
            <a:avLst/>
          </a:prstGeom>
          <a:solidFill>
            <a:srgbClr val="0F9D96"/>
          </a:solidFill>
          <a:ln w="12700">
            <a:solidFill>
              <a:srgbClr val="0F9D96"/>
            </a:solidFill>
            <a:prstDash val="solid"/>
          </a:ln>
        </p:spPr>
      </p:sp>
      <p:sp>
        <p:nvSpPr>
          <p:cNvPr id="12" name="Text 9"/>
          <p:cNvSpPr/>
          <p:nvPr/>
        </p:nvSpPr>
        <p:spPr>
          <a:xfrm>
            <a:off x="1005840" y="2514600"/>
            <a:ext cx="438912" cy="18288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3" name="Text 10"/>
          <p:cNvSpPr/>
          <p:nvPr/>
        </p:nvSpPr>
        <p:spPr>
          <a:xfrm>
            <a:off x="1691640" y="2468880"/>
            <a:ext cx="8869680" cy="320040"/>
          </a:xfrm>
          <a:prstGeom prst="rect">
            <a:avLst/>
          </a:prstGeom>
          <a:noFill/>
          <a:ln/>
        </p:spPr>
        <p:txBody>
          <a:bodyPr wrap="square" lIns="0" tIns="0" rIns="0" bIns="0" rtlCol="0" anchor="ctr"/>
          <a:lstStyle/>
          <a:p>
            <a:pPr indent="0" marL="0">
              <a:buNone/>
            </a:pPr>
            <a:r>
              <a:rPr lang="en-US" sz="2000" dirty="0">
                <a:solidFill>
                  <a:srgbClr val="16303D"/>
                </a:solidFill>
              </a:rPr>
              <a:t>End-to-End deck — follow one pallet together</a:t>
            </a:r>
            <a:endParaRPr lang="en-US" sz="2000" dirty="0"/>
          </a:p>
        </p:txBody>
      </p:sp>
      <p:sp>
        <p:nvSpPr>
          <p:cNvPr id="14" name="Shape 11"/>
          <p:cNvSpPr/>
          <p:nvPr/>
        </p:nvSpPr>
        <p:spPr>
          <a:xfrm>
            <a:off x="1005840" y="3291840"/>
            <a:ext cx="438912" cy="438912"/>
          </a:xfrm>
          <a:prstGeom prst="ellipse">
            <a:avLst/>
          </a:prstGeom>
          <a:solidFill>
            <a:srgbClr val="0F9D96"/>
          </a:solidFill>
          <a:ln w="12700">
            <a:solidFill>
              <a:srgbClr val="0F9D96"/>
            </a:solidFill>
            <a:prstDash val="solid"/>
          </a:ln>
        </p:spPr>
      </p:sp>
      <p:sp>
        <p:nvSpPr>
          <p:cNvPr id="15" name="Text 12"/>
          <p:cNvSpPr/>
          <p:nvPr/>
        </p:nvSpPr>
        <p:spPr>
          <a:xfrm>
            <a:off x="1005840" y="3383280"/>
            <a:ext cx="438912" cy="18288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6" name="Text 13"/>
          <p:cNvSpPr/>
          <p:nvPr/>
        </p:nvSpPr>
        <p:spPr>
          <a:xfrm>
            <a:off x="1691640" y="3337560"/>
            <a:ext cx="8869680" cy="320040"/>
          </a:xfrm>
          <a:prstGeom prst="rect">
            <a:avLst/>
          </a:prstGeom>
          <a:noFill/>
          <a:ln/>
        </p:spPr>
        <p:txBody>
          <a:bodyPr wrap="square" lIns="0" tIns="0" rIns="0" bIns="0" rtlCol="0" anchor="ctr"/>
          <a:lstStyle/>
          <a:p>
            <a:pPr indent="0" marL="0">
              <a:buNone/>
            </a:pPr>
            <a:r>
              <a:rPr lang="en-US" sz="2000" dirty="0">
                <a:solidFill>
                  <a:srgbClr val="16303D"/>
                </a:solidFill>
              </a:rPr>
              <a:t>WW-UM-001 — detailed reference when needed</a:t>
            </a:r>
            <a:endParaRPr lang="en-US" sz="2000" dirty="0"/>
          </a:p>
        </p:txBody>
      </p:sp>
      <p:sp>
        <p:nvSpPr>
          <p:cNvPr id="17" name="Shape 14"/>
          <p:cNvSpPr/>
          <p:nvPr/>
        </p:nvSpPr>
        <p:spPr>
          <a:xfrm>
            <a:off x="1005840" y="4160520"/>
            <a:ext cx="438912" cy="438912"/>
          </a:xfrm>
          <a:prstGeom prst="ellipse">
            <a:avLst/>
          </a:prstGeom>
          <a:solidFill>
            <a:srgbClr val="0F9D96"/>
          </a:solidFill>
          <a:ln w="12700">
            <a:solidFill>
              <a:srgbClr val="0F9D96"/>
            </a:solidFill>
            <a:prstDash val="solid"/>
          </a:ln>
        </p:spPr>
      </p:sp>
      <p:sp>
        <p:nvSpPr>
          <p:cNvPr id="18" name="Text 15"/>
          <p:cNvSpPr/>
          <p:nvPr/>
        </p:nvSpPr>
        <p:spPr>
          <a:xfrm>
            <a:off x="1005840" y="4251960"/>
            <a:ext cx="438912" cy="18288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9" name="Text 16"/>
          <p:cNvSpPr/>
          <p:nvPr/>
        </p:nvSpPr>
        <p:spPr>
          <a:xfrm>
            <a:off x="1691640" y="4206240"/>
            <a:ext cx="8869680" cy="320040"/>
          </a:xfrm>
          <a:prstGeom prst="rect">
            <a:avLst/>
          </a:prstGeom>
          <a:noFill/>
          <a:ln/>
        </p:spPr>
        <p:txBody>
          <a:bodyPr wrap="square" lIns="0" tIns="0" rIns="0" bIns="0" rtlCol="0" anchor="ctr"/>
          <a:lstStyle/>
          <a:p>
            <a:pPr indent="0" marL="0">
              <a:buNone/>
            </a:pPr>
            <a:r>
              <a:rPr lang="en-US" sz="2000" dirty="0">
                <a:solidFill>
                  <a:srgbClr val="16303D"/>
                </a:solidFill>
              </a:rPr>
              <a:t>In-app Help Center — guidance beside the live task</a:t>
            </a:r>
            <a:endParaRPr lang="en-US" sz="2000" dirty="0"/>
          </a:p>
        </p:txBody>
      </p:sp>
      <p:sp>
        <p:nvSpPr>
          <p:cNvPr id="20" name="Shape 17"/>
          <p:cNvSpPr/>
          <p:nvPr/>
        </p:nvSpPr>
        <p:spPr>
          <a:xfrm>
            <a:off x="914400" y="5394960"/>
            <a:ext cx="10241280" cy="658368"/>
          </a:xfrm>
          <a:prstGeom prst="roundRect">
            <a:avLst>
              <a:gd name="adj" fmla="val 8333"/>
            </a:avLst>
          </a:prstGeom>
          <a:solidFill>
            <a:srgbClr val="123247"/>
          </a:solidFill>
          <a:ln w="12700">
            <a:solidFill>
              <a:srgbClr val="123247"/>
            </a:solidFill>
            <a:prstDash val="solid"/>
          </a:ln>
        </p:spPr>
      </p:sp>
      <p:sp>
        <p:nvSpPr>
          <p:cNvPr id="21" name="Text 18"/>
          <p:cNvSpPr/>
          <p:nvPr/>
        </p:nvSpPr>
        <p:spPr>
          <a:xfrm>
            <a:off x="1234440" y="5614416"/>
            <a:ext cx="9601200" cy="228600"/>
          </a:xfrm>
          <a:prstGeom prst="rect">
            <a:avLst/>
          </a:prstGeom>
          <a:noFill/>
          <a:ln/>
        </p:spPr>
        <p:txBody>
          <a:bodyPr wrap="square" lIns="0" tIns="0" rIns="0" bIns="0" rtlCol="0" anchor="ctr"/>
          <a:lstStyle/>
          <a:p>
            <a:pPr algn="ctr" indent="0" marL="0">
              <a:buNone/>
            </a:pPr>
            <a:r>
              <a:rPr lang="en-US" sz="1800" b="1" dirty="0">
                <a:solidFill>
                  <a:srgbClr val="FFC928"/>
                </a:solidFill>
              </a:rPr>
              <a:t>The work is familiar. The system makes the handoff easier to see.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Warehouse Wizard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Warehouse Wizard System Overview</dc:title>
  <dc:subject>Module-by-module system overview training</dc:subject>
  <dc:creator>Warehouse Wizard</dc:creator>
  <cp:lastModifiedBy>Warehouse Wizard</cp:lastModifiedBy>
  <cp:revision>1</cp:revision>
  <dcterms:created xsi:type="dcterms:W3CDTF">2026-08-09T09:15:33Z</dcterms:created>
  <dcterms:modified xsi:type="dcterms:W3CDTF">2026-08-09T09:15:33Z</dcterms:modified>
</cp:coreProperties>
</file>