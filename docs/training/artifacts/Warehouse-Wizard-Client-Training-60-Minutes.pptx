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Welcome the team as experienced warehouse people. Say: ‘You already know the work. Today we are connecting the decisions you make every day to where Warehouse Wizard records them.’ Confirm this is product version 1.27 and local safety practice remains the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who receives, who releases work, who solves problems, and who closes the shift. Say this is a conversation built on their experience, not a test. The manual is the reference so nobody needs to memorize every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the room how they answer these questions today. Then connect each answer to pallet scan, location scan, action confirmation, and visible handoff. Typing the exact printed code is a valid fallback; guessing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Walk left to right and ask who normally speaks to whom at each point. The system does not replace those conversations; it keeps the answer visible after the conversation ends or the shift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Ask what their best shift-start routine looks like now. Map those checks to the Dashboard and notification bell. Red connectivity deserves attention before amber reorder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Invite someone to describe the story of a pallet from the gate to dispatch. Use that story for the rest of the presentation. One physical pallet should not become two system identities; a label reprint keeps the same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Live demo if safe. Show the highlighted product commit arrow and Enter-to-advance sequence. Explain that the green container candidate is checked before use. End by matching each printed label to one physical pallet.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Use a pallet label and both bay/exact location props. Ask which scan identifies the object and which identifies the destination. Mention Return to Receiving when the receipt itself needs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that dashboards are signals, not transaction detail. Held or quarantined stock can be excluded from availability by filters. Demonstrate a pallet detail/history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State the current design clearly: normal picks are whole-pallet. Order demand is not permission to split a pallet. The manager prevents failure by reviewing shortage and staging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the operator what they do before touching another task: confirm the current pick. Explain the yellow confirmation signal after the correct pallet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Frame the pause as experienced judgment, never user failure. Ask: ‘What would make you stop this pallet today?’ Scenario: task expects 100, physical pallet has 80. The team keeps it safe, verifies, records the justified status, corrects the record, and replans.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Use the simplest decision question: does the warehouse change? Explain the departure quality gate: sign-off only after physical departure. At destination, receipt is followed by Put-Away.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Explain CCT work. Operators count blind and enter truth. Supervisors separate threshold variance from exceptions and use notes before approve/reject/return. Do not approve stale state after reconnect.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Distinguish preserved local typing from a live commit. Acknowledge a critical RF alert only after reconnect, refresh, and floor safety verification. Never repeat a physical move under a second task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the room why Hold is safer than guessing Damaged or Missing. The status is not the narrative; the reason and System Log connect it to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Ask what the manager notices first while walking the floor. Show how Floor, Dock, and Office views keep those observations visible across the team. Dashboard tiles invite a closer look; they do not overrule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Give pairs 60 seconds, then debrief. Correct misconceptions: do not confirm 80, do not trust the old scan, do not choose Damaged/Missing without evidence, do not repeat the physical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Avoid test language. Explain that each person should get a supported first run using familiar stock, locations, and exceptions. Record what was practiced and what needs another coached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minute(s)
Close by thanking the room for the operational knowledge they contributed. Confirm the client owner for site-specific terms, coached practice, and approved distribution. Record their decisions instead of improvising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W">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34"/>
        </a:solidFill>
      </p:bgPr>
    </p:bg>
    <p:spTree>
      <p:nvGrpSpPr>
        <p:cNvPr id="1" name=""/>
        <p:cNvGrpSpPr/>
        <p:nvPr/>
      </p:nvGrpSpPr>
      <p:grpSpPr>
        <a:xfrm>
          <a:off x="0" y="0"/>
          <a:ext cx="0" cy="0"/>
          <a:chOff x="0" y="0"/>
          <a:chExt cx="0" cy="0"/>
        </a:xfrm>
      </p:grpSpPr>
      <p:pic>
        <p:nvPicPr>
          <p:cNvPr id="3" name="Image 0" descr="C:\classicitbb\warehouse-wizard\docs\training\assets\warehouse-team-huddle.png">    </p:cNvPr>
          <p:cNvPicPr>
            <a:picLocks noChangeAspect="1"/>
          </p:cNvPicPr>
          <p:nvPr/>
        </p:nvPicPr>
        <p:blipFill>
          <a:blip r:embed="rId1"/>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B2434">
              <a:alpha val="66000"/>
            </a:srgbClr>
          </a:solidFill>
          <a:ln w="12700">
            <a:solidFill>
              <a:srgbClr val="0B2434">
                <a:alpha val="0"/>
              </a:srgbClr>
            </a:solidFill>
            <a:prstDash val="solid"/>
          </a:ln>
        </p:spPr>
      </p:sp>
      <p:sp>
        <p:nvSpPr>
          <p:cNvPr id="5" name="Shape 1"/>
          <p:cNvSpPr/>
          <p:nvPr/>
        </p:nvSpPr>
        <p:spPr>
          <a:xfrm>
            <a:off x="0" y="0"/>
            <a:ext cx="6629400" cy="6858000"/>
          </a:xfrm>
          <a:prstGeom prst="rect">
            <a:avLst/>
          </a:prstGeom>
          <a:solidFill>
            <a:srgbClr val="0B2434">
              <a:alpha val="92000"/>
            </a:srgbClr>
          </a:solidFill>
          <a:ln w="12700">
            <a:solidFill>
              <a:srgbClr val="0B2434">
                <a:alpha val="0"/>
              </a:srgbClr>
            </a:solidFill>
            <a:prstDash val="solid"/>
          </a:ln>
        </p:spPr>
      </p:sp>
      <p:sp>
        <p:nvSpPr>
          <p:cNvPr id="6" name="Text 2"/>
          <p:cNvSpPr/>
          <p:nvPr/>
        </p:nvSpPr>
        <p:spPr>
          <a:xfrm>
            <a:off x="731520" y="1600200"/>
            <a:ext cx="5943600" cy="1554480"/>
          </a:xfrm>
          <a:prstGeom prst="rect">
            <a:avLst/>
          </a:prstGeom>
          <a:noFill/>
          <a:ln/>
        </p:spPr>
        <p:txBody>
          <a:bodyPr wrap="square" lIns="0" tIns="0" rIns="0" bIns="0" rtlCol="0" anchor="ct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Manager + Operator</a:t>
            </a:r>
            <a:endParaRPr lang="en-US" sz="4200" dirty="0"/>
          </a:p>
          <a:p>
            <a:pPr indent="0" marL="0">
              <a:buNone/>
            </a:pPr>
            <a:r>
              <a:rPr lang="en-US" sz="4200" b="1" dirty="0">
                <a:solidFill>
                  <a:srgbClr val="FFFFFF"/>
                </a:solidFill>
                <a:latin typeface="Aptos Display" pitchFamily="34" charset="0"/>
                <a:ea typeface="Aptos Display" pitchFamily="34" charset="-122"/>
                <a:cs typeface="Aptos Display" pitchFamily="34" charset="-120"/>
              </a:rPr>
              <a:t>Training</a:t>
            </a:r>
            <a:endParaRPr lang="en-US" sz="4200" dirty="0"/>
          </a:p>
        </p:txBody>
      </p:sp>
      <p:sp>
        <p:nvSpPr>
          <p:cNvPr id="7" name="Text 3"/>
          <p:cNvSpPr/>
          <p:nvPr/>
        </p:nvSpPr>
        <p:spPr>
          <a:xfrm>
            <a:off x="777240" y="3429000"/>
            <a:ext cx="5394960" cy="685800"/>
          </a:xfrm>
          <a:prstGeom prst="rect">
            <a:avLst/>
          </a:prstGeom>
          <a:noFill/>
          <a:ln/>
        </p:spPr>
        <p:txBody>
          <a:bodyPr wrap="square" lIns="0" tIns="0" rIns="0" bIns="0" rtlCol="0" anchor="ctr">
            <a:normAutofit/>
          </a:bodyPr>
          <a:lstStyle/>
          <a:p>
            <a:pPr indent="0" marL="0">
              <a:buNone/>
            </a:pPr>
            <a:r>
              <a:rPr lang="en-US" sz="2000" dirty="0">
                <a:solidFill>
                  <a:srgbClr val="BFE7E5"/>
                </a:solidFill>
                <a:latin typeface="Aptos" pitchFamily="34" charset="0"/>
                <a:ea typeface="Aptos" pitchFamily="34" charset="-122"/>
                <a:cs typeface="Aptos" pitchFamily="34" charset="-120"/>
              </a:rPr>
              <a:t>Your warehouse experience, connected through one shared system</a:t>
            </a:r>
            <a:endParaRPr lang="en-US" sz="2000" dirty="0"/>
          </a:p>
        </p:txBody>
      </p:sp>
      <p:sp>
        <p:nvSpPr>
          <p:cNvPr id="8" name="Shape 4"/>
          <p:cNvSpPr/>
          <p:nvPr/>
        </p:nvSpPr>
        <p:spPr>
          <a:xfrm>
            <a:off x="777240" y="4617720"/>
            <a:ext cx="1325880" cy="347472"/>
          </a:xfrm>
          <a:prstGeom prst="roundRect">
            <a:avLst>
              <a:gd name="adj" fmla="val 21053"/>
            </a:avLst>
          </a:prstGeom>
          <a:solidFill>
            <a:srgbClr val="F47C20"/>
          </a:solidFill>
          <a:ln w="12700">
            <a:solidFill>
              <a:srgbClr val="F47C20"/>
            </a:solidFill>
            <a:prstDash val="solid"/>
          </a:ln>
        </p:spPr>
      </p:sp>
      <p:sp>
        <p:nvSpPr>
          <p:cNvPr id="9" name="Text 5"/>
          <p:cNvSpPr/>
          <p:nvPr/>
        </p:nvSpPr>
        <p:spPr>
          <a:xfrm>
            <a:off x="832104" y="4672584"/>
            <a:ext cx="12161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60 MINUTES</a:t>
            </a:r>
            <a:endParaRPr lang="en-US" sz="900" dirty="0"/>
          </a:p>
        </p:txBody>
      </p:sp>
      <p:sp>
        <p:nvSpPr>
          <p:cNvPr id="10" name="Shape 6"/>
          <p:cNvSpPr/>
          <p:nvPr/>
        </p:nvSpPr>
        <p:spPr>
          <a:xfrm>
            <a:off x="2286000" y="4617720"/>
            <a:ext cx="1417320" cy="347472"/>
          </a:xfrm>
          <a:prstGeom prst="roundRect">
            <a:avLst>
              <a:gd name="adj" fmla="val 21053"/>
            </a:avLst>
          </a:prstGeom>
          <a:solidFill>
            <a:srgbClr val="0F9D96"/>
          </a:solidFill>
          <a:ln w="12700">
            <a:solidFill>
              <a:srgbClr val="0F9D96"/>
            </a:solidFill>
            <a:prstDash val="solid"/>
          </a:ln>
        </p:spPr>
      </p:sp>
      <p:sp>
        <p:nvSpPr>
          <p:cNvPr id="11" name="Text 7"/>
          <p:cNvSpPr/>
          <p:nvPr/>
        </p:nvSpPr>
        <p:spPr>
          <a:xfrm>
            <a:off x="2340864" y="4672584"/>
            <a:ext cx="130759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PRODUCT 1.27</a:t>
            </a:r>
            <a:endParaRPr lang="en-US" sz="900" dirty="0"/>
          </a:p>
        </p:txBody>
      </p:sp>
      <p:sp>
        <p:nvSpPr>
          <p:cNvPr id="12" name="Text 8"/>
          <p:cNvSpPr/>
          <p:nvPr/>
        </p:nvSpPr>
        <p:spPr>
          <a:xfrm>
            <a:off x="777240" y="5870448"/>
            <a:ext cx="3840480" cy="274320"/>
          </a:xfrm>
          <a:prstGeom prst="rect">
            <a:avLst/>
          </a:prstGeom>
          <a:noFill/>
          <a:ln/>
        </p:spPr>
        <p:txBody>
          <a:bodyPr wrap="square" lIns="0" tIns="0" rIns="0" bIns="0" rtlCol="0" anchor="ctr"/>
          <a:lstStyle/>
          <a:p>
            <a:pPr indent="0" marL="0">
              <a:buNone/>
            </a:pPr>
            <a:r>
              <a:rPr lang="en-US" sz="1100" dirty="0">
                <a:solidFill>
                  <a:srgbClr val="94AFBA"/>
                </a:solidFill>
                <a:latin typeface="Aptos" pitchFamily="34" charset="0"/>
                <a:ea typeface="Aptos" pitchFamily="34" charset="-122"/>
                <a:cs typeface="Aptos" pitchFamily="34" charset="-120"/>
              </a:rPr>
              <a:t>Client session • 10 August 2026</a:t>
            </a:r>
            <a:endParaRPr lang="en-US" sz="1100" dirty="0"/>
          </a:p>
        </p:txBody>
      </p:sp>
      <p:sp>
        <p:nvSpPr>
          <p:cNvPr id="13" name="Text 9"/>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 / 20</a:t>
            </a:r>
            <a:endParaRPr lang="en-US" sz="800" dirty="0"/>
          </a:p>
        </p:txBody>
      </p:sp>
      <p:sp>
        <p:nvSpPr>
          <p:cNvPr id="14" name="Text 10"/>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1 min</a:t>
            </a:r>
            <a:endParaRPr lang="en-US" sz="8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By the end, the system should feel familiar</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2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2 min</a:t>
            </a:r>
            <a:endParaRPr lang="en-US" sz="800" dirty="0"/>
          </a:p>
        </p:txBody>
      </p:sp>
      <p:sp>
        <p:nvSpPr>
          <p:cNvPr id="8" name="Shape 5"/>
          <p:cNvSpPr/>
          <p:nvPr/>
        </p:nvSpPr>
        <p:spPr>
          <a:xfrm>
            <a:off x="594360" y="1280160"/>
            <a:ext cx="5166360" cy="1600200"/>
          </a:xfrm>
          <a:prstGeom prst="roundRect">
            <a:avLst>
              <a:gd name="adj" fmla="val 4571"/>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9" name="Shape 6"/>
          <p:cNvSpPr/>
          <p:nvPr/>
        </p:nvSpPr>
        <p:spPr>
          <a:xfrm>
            <a:off x="594360" y="1280160"/>
            <a:ext cx="73152" cy="1600200"/>
          </a:xfrm>
          <a:prstGeom prst="rect">
            <a:avLst/>
          </a:prstGeom>
          <a:solidFill>
            <a:srgbClr val="0F9D96"/>
          </a:solidFill>
          <a:ln w="12700">
            <a:solidFill>
              <a:srgbClr val="0F9D96"/>
            </a:solidFill>
            <a:prstDash val="solid"/>
          </a:ln>
        </p:spPr>
      </p:sp>
      <p:sp>
        <p:nvSpPr>
          <p:cNvPr id="10" name="Text 7"/>
          <p:cNvSpPr/>
          <p:nvPr/>
        </p:nvSpPr>
        <p:spPr>
          <a:xfrm>
            <a:off x="822960" y="1481328"/>
            <a:ext cx="475488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YOUR WORK</a:t>
            </a:r>
            <a:endParaRPr lang="en-US" sz="1300" dirty="0"/>
          </a:p>
        </p:txBody>
      </p:sp>
      <p:sp>
        <p:nvSpPr>
          <p:cNvPr id="11" name="Text 8"/>
          <p:cNvSpPr/>
          <p:nvPr/>
        </p:nvSpPr>
        <p:spPr>
          <a:xfrm>
            <a:off x="822960" y="1920240"/>
            <a:ext cx="4754880" cy="7772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The pallet journey you already manage</a:t>
            </a:r>
            <a:endParaRPr lang="en-US" sz="1700" dirty="0"/>
          </a:p>
        </p:txBody>
      </p:sp>
      <p:sp>
        <p:nvSpPr>
          <p:cNvPr id="12" name="Shape 9"/>
          <p:cNvSpPr/>
          <p:nvPr/>
        </p:nvSpPr>
        <p:spPr>
          <a:xfrm>
            <a:off x="6217920" y="1280160"/>
            <a:ext cx="5166360" cy="1600200"/>
          </a:xfrm>
          <a:prstGeom prst="roundRect">
            <a:avLst>
              <a:gd name="adj" fmla="val 4571"/>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3" name="Shape 10"/>
          <p:cNvSpPr/>
          <p:nvPr/>
        </p:nvSpPr>
        <p:spPr>
          <a:xfrm>
            <a:off x="6217920" y="1280160"/>
            <a:ext cx="73152" cy="1600200"/>
          </a:xfrm>
          <a:prstGeom prst="rect">
            <a:avLst/>
          </a:prstGeom>
          <a:solidFill>
            <a:srgbClr val="F47C20"/>
          </a:solidFill>
          <a:ln w="12700">
            <a:solidFill>
              <a:srgbClr val="F47C20"/>
            </a:solidFill>
            <a:prstDash val="solid"/>
          </a:ln>
        </p:spPr>
      </p:sp>
      <p:sp>
        <p:nvSpPr>
          <p:cNvPr id="14" name="Text 11"/>
          <p:cNvSpPr/>
          <p:nvPr/>
        </p:nvSpPr>
        <p:spPr>
          <a:xfrm>
            <a:off x="6446520" y="1481328"/>
            <a:ext cx="475488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ONE SHARED MEMORY</a:t>
            </a:r>
            <a:endParaRPr lang="en-US" sz="1300" dirty="0"/>
          </a:p>
        </p:txBody>
      </p:sp>
      <p:sp>
        <p:nvSpPr>
          <p:cNvPr id="15" name="Text 12"/>
          <p:cNvSpPr/>
          <p:nvPr/>
        </p:nvSpPr>
        <p:spPr>
          <a:xfrm>
            <a:off x="6446520" y="1920240"/>
            <a:ext cx="4754880" cy="7772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Scans and updates everyone can see</a:t>
            </a:r>
            <a:endParaRPr lang="en-US" sz="1700" dirty="0"/>
          </a:p>
        </p:txBody>
      </p:sp>
      <p:sp>
        <p:nvSpPr>
          <p:cNvPr id="16" name="Shape 13"/>
          <p:cNvSpPr/>
          <p:nvPr/>
        </p:nvSpPr>
        <p:spPr>
          <a:xfrm>
            <a:off x="594360" y="3337560"/>
            <a:ext cx="5166360" cy="1600200"/>
          </a:xfrm>
          <a:prstGeom prst="roundRect">
            <a:avLst>
              <a:gd name="adj" fmla="val 4571"/>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7" name="Shape 14"/>
          <p:cNvSpPr/>
          <p:nvPr/>
        </p:nvSpPr>
        <p:spPr>
          <a:xfrm>
            <a:off x="594360" y="3337560"/>
            <a:ext cx="73152" cy="1600200"/>
          </a:xfrm>
          <a:prstGeom prst="rect">
            <a:avLst/>
          </a:prstGeom>
          <a:solidFill>
            <a:srgbClr val="123247"/>
          </a:solidFill>
          <a:ln w="12700">
            <a:solidFill>
              <a:srgbClr val="123247"/>
            </a:solidFill>
            <a:prstDash val="solid"/>
          </a:ln>
        </p:spPr>
      </p:sp>
      <p:sp>
        <p:nvSpPr>
          <p:cNvPr id="18" name="Text 15"/>
          <p:cNvSpPr/>
          <p:nvPr/>
        </p:nvSpPr>
        <p:spPr>
          <a:xfrm>
            <a:off x="822960" y="3538728"/>
            <a:ext cx="4754880" cy="256032"/>
          </a:xfrm>
          <a:prstGeom prst="rect">
            <a:avLst/>
          </a:prstGeom>
          <a:noFill/>
          <a:ln/>
        </p:spPr>
        <p:txBody>
          <a:bodyPr wrap="square" lIns="0" tIns="0" rIns="0" bIns="0" rtlCol="0" anchor="ctr"/>
          <a:lstStyle/>
          <a:p>
            <a:pPr indent="0" marL="0">
              <a:buNone/>
            </a:pPr>
            <a:r>
              <a:rPr lang="en-US" sz="1300" b="1" spc="80" kern="0" dirty="0">
                <a:solidFill>
                  <a:srgbClr val="123247"/>
                </a:solidFill>
                <a:latin typeface="Aptos" pitchFamily="34" charset="0"/>
                <a:ea typeface="Aptos" pitchFamily="34" charset="-122"/>
                <a:cs typeface="Aptos" pitchFamily="34" charset="-120"/>
              </a:rPr>
              <a:t>GOOD JUDGMENT</a:t>
            </a:r>
            <a:endParaRPr lang="en-US" sz="1300" dirty="0"/>
          </a:p>
        </p:txBody>
      </p:sp>
      <p:sp>
        <p:nvSpPr>
          <p:cNvPr id="19" name="Text 16"/>
          <p:cNvSpPr/>
          <p:nvPr/>
        </p:nvSpPr>
        <p:spPr>
          <a:xfrm>
            <a:off x="822960" y="3977640"/>
            <a:ext cx="4754880" cy="7772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Pause when the floor and screen disagree</a:t>
            </a:r>
            <a:endParaRPr lang="en-US" sz="1700" dirty="0"/>
          </a:p>
        </p:txBody>
      </p:sp>
      <p:sp>
        <p:nvSpPr>
          <p:cNvPr id="20" name="Shape 17"/>
          <p:cNvSpPr/>
          <p:nvPr/>
        </p:nvSpPr>
        <p:spPr>
          <a:xfrm>
            <a:off x="6217920" y="3337560"/>
            <a:ext cx="5166360" cy="1600200"/>
          </a:xfrm>
          <a:prstGeom prst="roundRect">
            <a:avLst>
              <a:gd name="adj" fmla="val 4571"/>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21" name="Shape 18"/>
          <p:cNvSpPr/>
          <p:nvPr/>
        </p:nvSpPr>
        <p:spPr>
          <a:xfrm>
            <a:off x="6217920" y="3337560"/>
            <a:ext cx="73152" cy="1600200"/>
          </a:xfrm>
          <a:prstGeom prst="rect">
            <a:avLst/>
          </a:prstGeom>
          <a:solidFill>
            <a:srgbClr val="2F8F5B"/>
          </a:solidFill>
          <a:ln w="12700">
            <a:solidFill>
              <a:srgbClr val="2F8F5B"/>
            </a:solidFill>
            <a:prstDash val="solid"/>
          </a:ln>
        </p:spPr>
      </p:sp>
      <p:sp>
        <p:nvSpPr>
          <p:cNvPr id="22" name="Text 19"/>
          <p:cNvSpPr/>
          <p:nvPr/>
        </p:nvSpPr>
        <p:spPr>
          <a:xfrm>
            <a:off x="6446520" y="3538728"/>
            <a:ext cx="4754880" cy="256032"/>
          </a:xfrm>
          <a:prstGeom prst="rect">
            <a:avLst/>
          </a:prstGeom>
          <a:noFill/>
          <a:ln/>
        </p:spPr>
        <p:txBody>
          <a:bodyPr wrap="square" lIns="0" tIns="0" rIns="0" bIns="0" rtlCol="0" anchor="ctr"/>
          <a:lstStyle/>
          <a:p>
            <a:pPr indent="0" marL="0">
              <a:buNone/>
            </a:pPr>
            <a:r>
              <a:rPr lang="en-US" sz="1300" b="1" spc="80" kern="0" dirty="0">
                <a:solidFill>
                  <a:srgbClr val="2F8F5B"/>
                </a:solidFill>
                <a:latin typeface="Aptos" pitchFamily="34" charset="0"/>
                <a:ea typeface="Aptos" pitchFamily="34" charset="-122"/>
                <a:cs typeface="Aptos" pitchFamily="34" charset="-120"/>
              </a:rPr>
              <a:t>CLEAR HANDOFFS</a:t>
            </a:r>
            <a:endParaRPr lang="en-US" sz="1300" dirty="0"/>
          </a:p>
        </p:txBody>
      </p:sp>
      <p:sp>
        <p:nvSpPr>
          <p:cNvPr id="23" name="Text 20"/>
          <p:cNvSpPr/>
          <p:nvPr/>
        </p:nvSpPr>
        <p:spPr>
          <a:xfrm>
            <a:off x="6446520" y="3977640"/>
            <a:ext cx="4754880" cy="7772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The next person knows what happened</a:t>
            </a:r>
            <a:endParaRPr lang="en-US" sz="1700" dirty="0"/>
          </a:p>
        </p:txBody>
      </p:sp>
      <p:sp>
        <p:nvSpPr>
          <p:cNvPr id="24" name="Text 21"/>
          <p:cNvSpPr/>
          <p:nvPr/>
        </p:nvSpPr>
        <p:spPr>
          <a:xfrm>
            <a:off x="731520" y="5742432"/>
            <a:ext cx="10789920" cy="411480"/>
          </a:xfrm>
          <a:prstGeom prst="rect">
            <a:avLst/>
          </a:prstGeom>
          <a:noFill/>
          <a:ln/>
        </p:spPr>
        <p:txBody>
          <a:bodyPr wrap="square" lIns="0" tIns="0" rIns="0" bIns="0" rtlCol="0" anchor="ctr"/>
          <a:lstStyle/>
          <a:p>
            <a:pPr algn="ctr" indent="0" marL="0">
              <a:buNone/>
            </a:pPr>
            <a:r>
              <a:rPr lang="en-US" sz="1500" i="1" dirty="0">
                <a:solidFill>
                  <a:srgbClr val="667985"/>
                </a:solidFill>
                <a:latin typeface="Aptos" pitchFamily="34" charset="0"/>
                <a:ea typeface="Aptos" pitchFamily="34" charset="-122"/>
                <a:cs typeface="Aptos" pitchFamily="34" charset="-120"/>
              </a:rPr>
              <a:t>Questions are welcome; configuration topics will be parked for the final follow-up.</a:t>
            </a:r>
            <a:endParaRPr lang="en-US" sz="15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434"/>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The system follows the same questions you already ask</a:t>
            </a:r>
            <a:endParaRPr lang="en-US" sz="2400" dirty="0"/>
          </a:p>
        </p:txBody>
      </p:sp>
      <p:sp>
        <p:nvSpPr>
          <p:cNvPr id="5" name="Shape 2"/>
          <p:cNvSpPr/>
          <p:nvPr/>
        </p:nvSpPr>
        <p:spPr>
          <a:xfrm>
            <a:off x="530352" y="950976"/>
            <a:ext cx="10972800" cy="0"/>
          </a:xfrm>
          <a:prstGeom prst="line">
            <a:avLst/>
          </a:prstGeom>
          <a:noFill/>
          <a:ln w="12700">
            <a:solidFill>
              <a:srgbClr val="315064"/>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3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2 min</a:t>
            </a:r>
            <a:endParaRPr lang="en-US" sz="800" dirty="0"/>
          </a:p>
        </p:txBody>
      </p:sp>
      <p:sp>
        <p:nvSpPr>
          <p:cNvPr id="8" name="Shape 5"/>
          <p:cNvSpPr/>
          <p:nvPr/>
        </p:nvSpPr>
        <p:spPr>
          <a:xfrm>
            <a:off x="658368" y="1325880"/>
            <a:ext cx="1508760" cy="347472"/>
          </a:xfrm>
          <a:prstGeom prst="roundRect">
            <a:avLst>
              <a:gd name="adj" fmla="val 21053"/>
            </a:avLst>
          </a:prstGeom>
          <a:solidFill>
            <a:srgbClr val="F47C20"/>
          </a:solidFill>
          <a:ln w="12700">
            <a:solidFill>
              <a:srgbClr val="F47C20"/>
            </a:solidFill>
            <a:prstDash val="solid"/>
          </a:ln>
        </p:spPr>
      </p:sp>
      <p:sp>
        <p:nvSpPr>
          <p:cNvPr id="9" name="Text 6"/>
          <p:cNvSpPr/>
          <p:nvPr/>
        </p:nvSpPr>
        <p:spPr>
          <a:xfrm>
            <a:off x="713232" y="1380744"/>
            <a:ext cx="139903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STANDARD WORK</a:t>
            </a:r>
            <a:endParaRPr lang="en-US" sz="900" dirty="0"/>
          </a:p>
        </p:txBody>
      </p:sp>
      <p:sp>
        <p:nvSpPr>
          <p:cNvPr id="10" name="Text 7"/>
          <p:cNvSpPr/>
          <p:nvPr/>
        </p:nvSpPr>
        <p:spPr>
          <a:xfrm>
            <a:off x="658368" y="2057400"/>
            <a:ext cx="10835640" cy="960120"/>
          </a:xfrm>
          <a:prstGeom prst="rect">
            <a:avLst/>
          </a:prstGeom>
          <a:noFill/>
          <a:ln/>
        </p:spPr>
        <p:txBody>
          <a:bodyPr wrap="square" lIns="0" tIns="0" rIns="0" bIns="0" rtlCol="0" anchor="ctr">
            <a:normAutofit/>
          </a:bodyPr>
          <a:lstStyle/>
          <a:p>
            <a:pPr algn="ctr" indent="0" marL="0">
              <a:buNone/>
            </a:pPr>
            <a:r>
              <a:rPr lang="en-US" sz="3700" b="1" dirty="0">
                <a:solidFill>
                  <a:srgbClr val="FFFFFF"/>
                </a:solidFill>
                <a:latin typeface="Aptos Display" pitchFamily="34" charset="0"/>
                <a:ea typeface="Aptos Display" pitchFamily="34" charset="-122"/>
                <a:cs typeface="Aptos Display" pitchFamily="34" charset="-120"/>
              </a:rPr>
              <a:t>WHAT IS IT? → WHERE IS IT? → WHAT HAPPENED? → WHO NEEDS TO KNOW?</a:t>
            </a:r>
            <a:endParaRPr lang="en-US" sz="3700" dirty="0"/>
          </a:p>
        </p:txBody>
      </p:sp>
      <p:sp>
        <p:nvSpPr>
          <p:cNvPr id="11" name="Shape 8"/>
          <p:cNvSpPr/>
          <p:nvPr/>
        </p:nvSpPr>
        <p:spPr>
          <a:xfrm>
            <a:off x="1143000" y="3337560"/>
            <a:ext cx="9875520" cy="0"/>
          </a:xfrm>
          <a:prstGeom prst="line">
            <a:avLst/>
          </a:prstGeom>
          <a:noFill/>
          <a:ln w="50800">
            <a:solidFill>
              <a:srgbClr val="0F9D96"/>
            </a:solidFill>
            <a:prstDash val="solid"/>
            <a:headEnd type="none"/>
            <a:tailEnd type="triangle"/>
          </a:ln>
        </p:spPr>
      </p:sp>
      <p:sp>
        <p:nvSpPr>
          <p:cNvPr id="12" name="Text 9"/>
          <p:cNvSpPr/>
          <p:nvPr/>
        </p:nvSpPr>
        <p:spPr>
          <a:xfrm>
            <a:off x="1143000" y="3977640"/>
            <a:ext cx="9875520" cy="822960"/>
          </a:xfrm>
          <a:prstGeom prst="rect">
            <a:avLst/>
          </a:prstGeom>
          <a:noFill/>
          <a:ln/>
        </p:spPr>
        <p:txBody>
          <a:bodyPr wrap="square" lIns="0" tIns="0" rIns="0" bIns="0" rtlCol="0" anchor="ctr">
            <a:normAutofit/>
          </a:bodyPr>
          <a:lstStyle/>
          <a:p>
            <a:pPr algn="ctr" indent="0" marL="0">
              <a:buNone/>
            </a:pPr>
            <a:r>
              <a:rPr lang="en-US" sz="2200" b="1" dirty="0">
                <a:solidFill>
                  <a:srgbClr val="FFC928"/>
                </a:solidFill>
                <a:latin typeface="Aptos" pitchFamily="34" charset="0"/>
                <a:ea typeface="Aptos" pitchFamily="34" charset="-122"/>
                <a:cs typeface="Aptos" pitchFamily="34" charset="-120"/>
              </a:rPr>
              <a:t>The scan gives the team a shared answer without replacing the walk-around, count, or conversation.</a:t>
            </a:r>
            <a:endParaRPr lang="en-US" sz="22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The work stays familiar—the handoff becomes visible</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4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502920" y="1874520"/>
            <a:ext cx="1993392" cy="2423160"/>
          </a:xfrm>
          <a:prstGeom prst="roundRect">
            <a:avLst>
              <a:gd name="adj" fmla="val 2752"/>
            </a:avLst>
          </a:prstGeom>
          <a:solidFill>
            <a:srgbClr val="FFFFFF"/>
          </a:solidFill>
          <a:ln w="19050">
            <a:solidFill>
              <a:srgbClr val="D7E2E6"/>
            </a:solidFill>
            <a:prstDash val="solid"/>
          </a:ln>
        </p:spPr>
      </p:sp>
      <p:sp>
        <p:nvSpPr>
          <p:cNvPr id="9" name="Shape 6"/>
          <p:cNvSpPr/>
          <p:nvPr/>
        </p:nvSpPr>
        <p:spPr>
          <a:xfrm>
            <a:off x="1115568" y="1444752"/>
            <a:ext cx="768096" cy="768096"/>
          </a:xfrm>
          <a:prstGeom prst="ellipse">
            <a:avLst/>
          </a:prstGeom>
          <a:solidFill>
            <a:srgbClr val="0F9D96"/>
          </a:solidFill>
          <a:ln w="25400">
            <a:solidFill>
              <a:srgbClr val="FFFFFF"/>
            </a:solidFill>
            <a:prstDash val="solid"/>
          </a:ln>
        </p:spPr>
      </p:sp>
      <p:sp>
        <p:nvSpPr>
          <p:cNvPr id="10" name="Text 7"/>
          <p:cNvSpPr/>
          <p:nvPr/>
        </p:nvSpPr>
        <p:spPr>
          <a:xfrm>
            <a:off x="1115568" y="1664208"/>
            <a:ext cx="768096" cy="22860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11" name="Text 8"/>
          <p:cNvSpPr/>
          <p:nvPr/>
        </p:nvSpPr>
        <p:spPr>
          <a:xfrm>
            <a:off x="640080" y="2377440"/>
            <a:ext cx="1719072" cy="292608"/>
          </a:xfrm>
          <a:prstGeom prst="rect">
            <a:avLst/>
          </a:prstGeom>
          <a:noFill/>
          <a:ln/>
        </p:spPr>
        <p:txBody>
          <a:bodyPr wrap="square" lIns="0" tIns="0" rIns="0" bIns="0" rtlCol="0" anchor="ctr"/>
          <a:lstStyle/>
          <a:p>
            <a:pPr algn="ctr" indent="0" marL="0">
              <a:buNone/>
            </a:pPr>
            <a:r>
              <a:rPr lang="en-US" sz="1300" b="1" dirty="0">
                <a:solidFill>
                  <a:srgbClr val="123247"/>
                </a:solidFill>
              </a:rPr>
              <a:t>MANAGER</a:t>
            </a:r>
            <a:endParaRPr lang="en-US" sz="1300" dirty="0"/>
          </a:p>
        </p:txBody>
      </p:sp>
      <p:sp>
        <p:nvSpPr>
          <p:cNvPr id="12" name="Text 9"/>
          <p:cNvSpPr/>
          <p:nvPr/>
        </p:nvSpPr>
        <p:spPr>
          <a:xfrm>
            <a:off x="685800" y="2971800"/>
            <a:ext cx="1627632" cy="822960"/>
          </a:xfrm>
          <a:prstGeom prst="rect">
            <a:avLst/>
          </a:prstGeom>
          <a:noFill/>
          <a:ln/>
        </p:spPr>
        <p:txBody>
          <a:bodyPr wrap="square" lIns="0" tIns="0" rIns="0" bIns="0" rtlCol="0" anchor="ctr">
            <a:normAutofit/>
          </a:bodyPr>
          <a:lstStyle/>
          <a:p>
            <a:pPr algn="ctr" indent="0" marL="0">
              <a:buNone/>
            </a:pPr>
            <a:r>
              <a:rPr lang="en-US" sz="1500" dirty="0">
                <a:solidFill>
                  <a:srgbClr val="16303D"/>
                </a:solidFill>
              </a:rPr>
              <a:t>Plan capacity</a:t>
            </a:r>
            <a:endParaRPr lang="en-US" sz="1500" dirty="0"/>
          </a:p>
          <a:p>
            <a:pPr algn="ctr" indent="0" marL="0">
              <a:buNone/>
            </a:pPr>
            <a:r>
              <a:rPr lang="en-US" sz="1500" dirty="0">
                <a:solidFill>
                  <a:srgbClr val="16303D"/>
                </a:solidFill>
              </a:rPr>
              <a:t>Release executable work</a:t>
            </a:r>
            <a:endParaRPr lang="en-US" sz="1500" dirty="0"/>
          </a:p>
        </p:txBody>
      </p:sp>
      <p:sp>
        <p:nvSpPr>
          <p:cNvPr id="13" name="Shape 10"/>
          <p:cNvSpPr/>
          <p:nvPr/>
        </p:nvSpPr>
        <p:spPr>
          <a:xfrm>
            <a:off x="2441448" y="2761488"/>
            <a:ext cx="384048" cy="502920"/>
          </a:xfrm>
          <a:prstGeom prst="chevron">
            <a:avLst/>
          </a:prstGeom>
          <a:solidFill>
            <a:srgbClr val="FFC928"/>
          </a:solidFill>
          <a:ln w="12700">
            <a:solidFill>
              <a:srgbClr val="FFC928"/>
            </a:solidFill>
            <a:prstDash val="solid"/>
          </a:ln>
        </p:spPr>
      </p:sp>
      <p:sp>
        <p:nvSpPr>
          <p:cNvPr id="14" name="Shape 11"/>
          <p:cNvSpPr/>
          <p:nvPr/>
        </p:nvSpPr>
        <p:spPr>
          <a:xfrm>
            <a:off x="2807208" y="1874520"/>
            <a:ext cx="1993392" cy="2423160"/>
          </a:xfrm>
          <a:prstGeom prst="roundRect">
            <a:avLst>
              <a:gd name="adj" fmla="val 2752"/>
            </a:avLst>
          </a:prstGeom>
          <a:solidFill>
            <a:srgbClr val="EFF7F7"/>
          </a:solidFill>
          <a:ln w="19050">
            <a:solidFill>
              <a:srgbClr val="0F9D96"/>
            </a:solidFill>
            <a:prstDash val="solid"/>
          </a:ln>
        </p:spPr>
      </p:sp>
      <p:sp>
        <p:nvSpPr>
          <p:cNvPr id="15" name="Shape 12"/>
          <p:cNvSpPr/>
          <p:nvPr/>
        </p:nvSpPr>
        <p:spPr>
          <a:xfrm>
            <a:off x="3419856" y="1444752"/>
            <a:ext cx="768096" cy="768096"/>
          </a:xfrm>
          <a:prstGeom prst="ellipse">
            <a:avLst/>
          </a:prstGeom>
          <a:solidFill>
            <a:srgbClr val="0F9D96"/>
          </a:solidFill>
          <a:ln w="25400">
            <a:solidFill>
              <a:srgbClr val="FFFFFF"/>
            </a:solidFill>
            <a:prstDash val="solid"/>
          </a:ln>
        </p:spPr>
      </p:sp>
      <p:sp>
        <p:nvSpPr>
          <p:cNvPr id="16" name="Text 13"/>
          <p:cNvSpPr/>
          <p:nvPr/>
        </p:nvSpPr>
        <p:spPr>
          <a:xfrm>
            <a:off x="3419856" y="1664208"/>
            <a:ext cx="768096" cy="22860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7" name="Text 14"/>
          <p:cNvSpPr/>
          <p:nvPr/>
        </p:nvSpPr>
        <p:spPr>
          <a:xfrm>
            <a:off x="2944368" y="2377440"/>
            <a:ext cx="1719072" cy="292608"/>
          </a:xfrm>
          <a:prstGeom prst="rect">
            <a:avLst/>
          </a:prstGeom>
          <a:noFill/>
          <a:ln/>
        </p:spPr>
        <p:txBody>
          <a:bodyPr wrap="square" lIns="0" tIns="0" rIns="0" bIns="0" rtlCol="0" anchor="ctr"/>
          <a:lstStyle/>
          <a:p>
            <a:pPr algn="ctr" indent="0" marL="0">
              <a:buNone/>
            </a:pPr>
            <a:r>
              <a:rPr lang="en-US" sz="1300" b="1" dirty="0">
                <a:solidFill>
                  <a:srgbClr val="123247"/>
                </a:solidFill>
              </a:rPr>
              <a:t>CLERK</a:t>
            </a:r>
            <a:endParaRPr lang="en-US" sz="1300" dirty="0"/>
          </a:p>
        </p:txBody>
      </p:sp>
      <p:sp>
        <p:nvSpPr>
          <p:cNvPr id="18" name="Text 15"/>
          <p:cNvSpPr/>
          <p:nvPr/>
        </p:nvSpPr>
        <p:spPr>
          <a:xfrm>
            <a:off x="2990088" y="2971800"/>
            <a:ext cx="1627632" cy="822960"/>
          </a:xfrm>
          <a:prstGeom prst="rect">
            <a:avLst/>
          </a:prstGeom>
          <a:noFill/>
          <a:ln/>
        </p:spPr>
        <p:txBody>
          <a:bodyPr wrap="square" lIns="0" tIns="0" rIns="0" bIns="0" rtlCol="0" anchor="ctr">
            <a:normAutofit/>
          </a:bodyPr>
          <a:lstStyle/>
          <a:p>
            <a:pPr algn="ctr" indent="0" marL="0">
              <a:buNone/>
            </a:pPr>
            <a:r>
              <a:rPr lang="en-US" sz="1500" dirty="0">
                <a:solidFill>
                  <a:srgbClr val="16303D"/>
                </a:solidFill>
              </a:rPr>
              <a:t>Receive + label</a:t>
            </a:r>
            <a:endParaRPr lang="en-US" sz="1500" dirty="0"/>
          </a:p>
          <a:p>
            <a:pPr algn="ctr" indent="0" marL="0">
              <a:buNone/>
            </a:pPr>
            <a:r>
              <a:rPr lang="en-US" sz="1500" dirty="0">
                <a:solidFill>
                  <a:srgbClr val="16303D"/>
                </a:solidFill>
              </a:rPr>
              <a:t>Control master data</a:t>
            </a:r>
            <a:endParaRPr lang="en-US" sz="1500" dirty="0"/>
          </a:p>
        </p:txBody>
      </p:sp>
      <p:sp>
        <p:nvSpPr>
          <p:cNvPr id="19" name="Shape 16"/>
          <p:cNvSpPr/>
          <p:nvPr/>
        </p:nvSpPr>
        <p:spPr>
          <a:xfrm>
            <a:off x="4745736" y="2761488"/>
            <a:ext cx="384048" cy="502920"/>
          </a:xfrm>
          <a:prstGeom prst="chevron">
            <a:avLst/>
          </a:prstGeom>
          <a:solidFill>
            <a:srgbClr val="FFC928"/>
          </a:solidFill>
          <a:ln w="12700">
            <a:solidFill>
              <a:srgbClr val="FFC928"/>
            </a:solidFill>
            <a:prstDash val="solid"/>
          </a:ln>
        </p:spPr>
      </p:sp>
      <p:sp>
        <p:nvSpPr>
          <p:cNvPr id="20" name="Shape 17"/>
          <p:cNvSpPr/>
          <p:nvPr/>
        </p:nvSpPr>
        <p:spPr>
          <a:xfrm>
            <a:off x="5111496" y="1874520"/>
            <a:ext cx="1993392" cy="2423160"/>
          </a:xfrm>
          <a:prstGeom prst="roundRect">
            <a:avLst>
              <a:gd name="adj" fmla="val 2752"/>
            </a:avLst>
          </a:prstGeom>
          <a:solidFill>
            <a:srgbClr val="FFFFFF"/>
          </a:solidFill>
          <a:ln w="19050">
            <a:solidFill>
              <a:srgbClr val="D7E2E6"/>
            </a:solidFill>
            <a:prstDash val="solid"/>
          </a:ln>
        </p:spPr>
      </p:sp>
      <p:sp>
        <p:nvSpPr>
          <p:cNvPr id="21" name="Shape 18"/>
          <p:cNvSpPr/>
          <p:nvPr/>
        </p:nvSpPr>
        <p:spPr>
          <a:xfrm>
            <a:off x="5724144" y="1444752"/>
            <a:ext cx="768096" cy="768096"/>
          </a:xfrm>
          <a:prstGeom prst="ellipse">
            <a:avLst/>
          </a:prstGeom>
          <a:solidFill>
            <a:srgbClr val="0F9D96"/>
          </a:solidFill>
          <a:ln w="25400">
            <a:solidFill>
              <a:srgbClr val="FFFFFF"/>
            </a:solidFill>
            <a:prstDash val="solid"/>
          </a:ln>
        </p:spPr>
      </p:sp>
      <p:sp>
        <p:nvSpPr>
          <p:cNvPr id="22" name="Text 19"/>
          <p:cNvSpPr/>
          <p:nvPr/>
        </p:nvSpPr>
        <p:spPr>
          <a:xfrm>
            <a:off x="5724144" y="1664208"/>
            <a:ext cx="768096" cy="22860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23" name="Text 20"/>
          <p:cNvSpPr/>
          <p:nvPr/>
        </p:nvSpPr>
        <p:spPr>
          <a:xfrm>
            <a:off x="5248656" y="2377440"/>
            <a:ext cx="1719072" cy="292608"/>
          </a:xfrm>
          <a:prstGeom prst="rect">
            <a:avLst/>
          </a:prstGeom>
          <a:noFill/>
          <a:ln/>
        </p:spPr>
        <p:txBody>
          <a:bodyPr wrap="square" lIns="0" tIns="0" rIns="0" bIns="0" rtlCol="0" anchor="ctr"/>
          <a:lstStyle/>
          <a:p>
            <a:pPr algn="ctr" indent="0" marL="0">
              <a:buNone/>
            </a:pPr>
            <a:r>
              <a:rPr lang="en-US" sz="1300" b="1" dirty="0">
                <a:solidFill>
                  <a:srgbClr val="123247"/>
                </a:solidFill>
              </a:rPr>
              <a:t>OPERATOR</a:t>
            </a:r>
            <a:endParaRPr lang="en-US" sz="1300" dirty="0"/>
          </a:p>
        </p:txBody>
      </p:sp>
      <p:sp>
        <p:nvSpPr>
          <p:cNvPr id="24" name="Text 21"/>
          <p:cNvSpPr/>
          <p:nvPr/>
        </p:nvSpPr>
        <p:spPr>
          <a:xfrm>
            <a:off x="5294376" y="2971800"/>
            <a:ext cx="1627632" cy="822960"/>
          </a:xfrm>
          <a:prstGeom prst="rect">
            <a:avLst/>
          </a:prstGeom>
          <a:noFill/>
          <a:ln/>
        </p:spPr>
        <p:txBody>
          <a:bodyPr wrap="square" lIns="0" tIns="0" rIns="0" bIns="0" rtlCol="0" anchor="ctr">
            <a:normAutofit/>
          </a:bodyPr>
          <a:lstStyle/>
          <a:p>
            <a:pPr algn="ctr" indent="0" marL="0">
              <a:buNone/>
            </a:pPr>
            <a:r>
              <a:rPr lang="en-US" sz="1500" dirty="0">
                <a:solidFill>
                  <a:srgbClr val="16303D"/>
                </a:solidFill>
              </a:rPr>
              <a:t>Scan-confirm</a:t>
            </a:r>
            <a:endParaRPr lang="en-US" sz="1500" dirty="0"/>
          </a:p>
          <a:p>
            <a:pPr algn="ctr" indent="0" marL="0">
              <a:buNone/>
            </a:pPr>
            <a:r>
              <a:rPr lang="en-US" sz="1500" dirty="0">
                <a:solidFill>
                  <a:srgbClr val="16303D"/>
                </a:solidFill>
              </a:rPr>
              <a:t>Move one task at a time</a:t>
            </a:r>
            <a:endParaRPr lang="en-US" sz="1500" dirty="0"/>
          </a:p>
        </p:txBody>
      </p:sp>
      <p:sp>
        <p:nvSpPr>
          <p:cNvPr id="25" name="Shape 22"/>
          <p:cNvSpPr/>
          <p:nvPr/>
        </p:nvSpPr>
        <p:spPr>
          <a:xfrm>
            <a:off x="7050024" y="2761488"/>
            <a:ext cx="384048" cy="502920"/>
          </a:xfrm>
          <a:prstGeom prst="chevron">
            <a:avLst/>
          </a:prstGeom>
          <a:solidFill>
            <a:srgbClr val="FFC928"/>
          </a:solidFill>
          <a:ln w="12700">
            <a:solidFill>
              <a:srgbClr val="FFC928"/>
            </a:solidFill>
            <a:prstDash val="solid"/>
          </a:ln>
        </p:spPr>
      </p:sp>
      <p:sp>
        <p:nvSpPr>
          <p:cNvPr id="26" name="Shape 23"/>
          <p:cNvSpPr/>
          <p:nvPr/>
        </p:nvSpPr>
        <p:spPr>
          <a:xfrm>
            <a:off x="7415784" y="1874520"/>
            <a:ext cx="1993392" cy="2423160"/>
          </a:xfrm>
          <a:prstGeom prst="roundRect">
            <a:avLst>
              <a:gd name="adj" fmla="val 2752"/>
            </a:avLst>
          </a:prstGeom>
          <a:solidFill>
            <a:srgbClr val="EFF7F7"/>
          </a:solidFill>
          <a:ln w="19050">
            <a:solidFill>
              <a:srgbClr val="0F9D96"/>
            </a:solidFill>
            <a:prstDash val="solid"/>
          </a:ln>
        </p:spPr>
      </p:sp>
      <p:sp>
        <p:nvSpPr>
          <p:cNvPr id="27" name="Shape 24"/>
          <p:cNvSpPr/>
          <p:nvPr/>
        </p:nvSpPr>
        <p:spPr>
          <a:xfrm>
            <a:off x="8028432" y="1444752"/>
            <a:ext cx="768096" cy="768096"/>
          </a:xfrm>
          <a:prstGeom prst="ellipse">
            <a:avLst/>
          </a:prstGeom>
          <a:solidFill>
            <a:srgbClr val="0F9D96"/>
          </a:solidFill>
          <a:ln w="25400">
            <a:solidFill>
              <a:srgbClr val="FFFFFF"/>
            </a:solidFill>
            <a:prstDash val="solid"/>
          </a:ln>
        </p:spPr>
      </p:sp>
      <p:sp>
        <p:nvSpPr>
          <p:cNvPr id="28" name="Text 25"/>
          <p:cNvSpPr/>
          <p:nvPr/>
        </p:nvSpPr>
        <p:spPr>
          <a:xfrm>
            <a:off x="8028432" y="1664208"/>
            <a:ext cx="768096" cy="22860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29" name="Text 26"/>
          <p:cNvSpPr/>
          <p:nvPr/>
        </p:nvSpPr>
        <p:spPr>
          <a:xfrm>
            <a:off x="7552944" y="2377440"/>
            <a:ext cx="1719072" cy="292608"/>
          </a:xfrm>
          <a:prstGeom prst="rect">
            <a:avLst/>
          </a:prstGeom>
          <a:noFill/>
          <a:ln/>
        </p:spPr>
        <p:txBody>
          <a:bodyPr wrap="square" lIns="0" tIns="0" rIns="0" bIns="0" rtlCol="0" anchor="ctr"/>
          <a:lstStyle/>
          <a:p>
            <a:pPr algn="ctr" indent="0" marL="0">
              <a:buNone/>
            </a:pPr>
            <a:r>
              <a:rPr lang="en-US" sz="1300" b="1" dirty="0">
                <a:solidFill>
                  <a:srgbClr val="123247"/>
                </a:solidFill>
              </a:rPr>
              <a:t>SUPERVISOR</a:t>
            </a:r>
            <a:endParaRPr lang="en-US" sz="1300" dirty="0"/>
          </a:p>
        </p:txBody>
      </p:sp>
      <p:sp>
        <p:nvSpPr>
          <p:cNvPr id="30" name="Text 27"/>
          <p:cNvSpPr/>
          <p:nvPr/>
        </p:nvSpPr>
        <p:spPr>
          <a:xfrm>
            <a:off x="7598664" y="2971800"/>
            <a:ext cx="1627632" cy="822960"/>
          </a:xfrm>
          <a:prstGeom prst="rect">
            <a:avLst/>
          </a:prstGeom>
          <a:noFill/>
          <a:ln/>
        </p:spPr>
        <p:txBody>
          <a:bodyPr wrap="square" lIns="0" tIns="0" rIns="0" bIns="0" rtlCol="0" anchor="ctr">
            <a:normAutofit/>
          </a:bodyPr>
          <a:lstStyle/>
          <a:p>
            <a:pPr algn="ctr" indent="0" marL="0">
              <a:buNone/>
            </a:pPr>
            <a:r>
              <a:rPr lang="en-US" sz="1500" dirty="0">
                <a:solidFill>
                  <a:srgbClr val="16303D"/>
                </a:solidFill>
              </a:rPr>
              <a:t>Resolve exceptions</a:t>
            </a:r>
            <a:endParaRPr lang="en-US" sz="1500" dirty="0"/>
          </a:p>
          <a:p>
            <a:pPr algn="ctr" indent="0" marL="0">
              <a:buNone/>
            </a:pPr>
            <a:r>
              <a:rPr lang="en-US" sz="1500" dirty="0">
                <a:solidFill>
                  <a:srgbClr val="16303D"/>
                </a:solidFill>
              </a:rPr>
              <a:t>Review counts</a:t>
            </a:r>
            <a:endParaRPr lang="en-US" sz="1500" dirty="0"/>
          </a:p>
        </p:txBody>
      </p:sp>
      <p:sp>
        <p:nvSpPr>
          <p:cNvPr id="31" name="Shape 28"/>
          <p:cNvSpPr/>
          <p:nvPr/>
        </p:nvSpPr>
        <p:spPr>
          <a:xfrm>
            <a:off x="9354312" y="2761488"/>
            <a:ext cx="384048" cy="502920"/>
          </a:xfrm>
          <a:prstGeom prst="chevron">
            <a:avLst/>
          </a:prstGeom>
          <a:solidFill>
            <a:srgbClr val="FFC928"/>
          </a:solidFill>
          <a:ln w="12700">
            <a:solidFill>
              <a:srgbClr val="FFC928"/>
            </a:solidFill>
            <a:prstDash val="solid"/>
          </a:ln>
        </p:spPr>
      </p:sp>
      <p:sp>
        <p:nvSpPr>
          <p:cNvPr id="32" name="Shape 29"/>
          <p:cNvSpPr/>
          <p:nvPr/>
        </p:nvSpPr>
        <p:spPr>
          <a:xfrm>
            <a:off x="9720072" y="1874520"/>
            <a:ext cx="1993392" cy="2423160"/>
          </a:xfrm>
          <a:prstGeom prst="roundRect">
            <a:avLst>
              <a:gd name="adj" fmla="val 2752"/>
            </a:avLst>
          </a:prstGeom>
          <a:solidFill>
            <a:srgbClr val="FFFFFF"/>
          </a:solidFill>
          <a:ln w="19050">
            <a:solidFill>
              <a:srgbClr val="D7E2E6"/>
            </a:solidFill>
            <a:prstDash val="solid"/>
          </a:ln>
        </p:spPr>
      </p:sp>
      <p:sp>
        <p:nvSpPr>
          <p:cNvPr id="33" name="Shape 30"/>
          <p:cNvSpPr/>
          <p:nvPr/>
        </p:nvSpPr>
        <p:spPr>
          <a:xfrm>
            <a:off x="10332720" y="1444752"/>
            <a:ext cx="768096" cy="768096"/>
          </a:xfrm>
          <a:prstGeom prst="ellipse">
            <a:avLst/>
          </a:prstGeom>
          <a:solidFill>
            <a:srgbClr val="F47C20"/>
          </a:solidFill>
          <a:ln w="25400">
            <a:solidFill>
              <a:srgbClr val="FFFFFF"/>
            </a:solidFill>
            <a:prstDash val="solid"/>
          </a:ln>
        </p:spPr>
      </p:sp>
      <p:sp>
        <p:nvSpPr>
          <p:cNvPr id="34" name="Text 31"/>
          <p:cNvSpPr/>
          <p:nvPr/>
        </p:nvSpPr>
        <p:spPr>
          <a:xfrm>
            <a:off x="10332720" y="1664208"/>
            <a:ext cx="768096" cy="22860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35" name="Text 32"/>
          <p:cNvSpPr/>
          <p:nvPr/>
        </p:nvSpPr>
        <p:spPr>
          <a:xfrm>
            <a:off x="9857232" y="2377440"/>
            <a:ext cx="1719072" cy="292608"/>
          </a:xfrm>
          <a:prstGeom prst="rect">
            <a:avLst/>
          </a:prstGeom>
          <a:noFill/>
          <a:ln/>
        </p:spPr>
        <p:txBody>
          <a:bodyPr wrap="square" lIns="0" tIns="0" rIns="0" bIns="0" rtlCol="0" anchor="ctr"/>
          <a:lstStyle/>
          <a:p>
            <a:pPr algn="ctr" indent="0" marL="0">
              <a:buNone/>
            </a:pPr>
            <a:r>
              <a:rPr lang="en-US" sz="1300" b="1" dirty="0">
                <a:solidFill>
                  <a:srgbClr val="123247"/>
                </a:solidFill>
              </a:rPr>
              <a:t>MANAGER</a:t>
            </a:r>
            <a:endParaRPr lang="en-US" sz="1300" dirty="0"/>
          </a:p>
        </p:txBody>
      </p:sp>
      <p:sp>
        <p:nvSpPr>
          <p:cNvPr id="36" name="Text 33"/>
          <p:cNvSpPr/>
          <p:nvPr/>
        </p:nvSpPr>
        <p:spPr>
          <a:xfrm>
            <a:off x="9902952" y="2971800"/>
            <a:ext cx="1627632" cy="822960"/>
          </a:xfrm>
          <a:prstGeom prst="rect">
            <a:avLst/>
          </a:prstGeom>
          <a:noFill/>
          <a:ln/>
        </p:spPr>
        <p:txBody>
          <a:bodyPr wrap="square" lIns="0" tIns="0" rIns="0" bIns="0" rtlCol="0" anchor="ctr">
            <a:normAutofit/>
          </a:bodyPr>
          <a:lstStyle/>
          <a:p>
            <a:pPr algn="ctr" indent="0" marL="0">
              <a:buNone/>
            </a:pPr>
            <a:r>
              <a:rPr lang="en-US" sz="1500" dirty="0">
                <a:solidFill>
                  <a:srgbClr val="16303D"/>
                </a:solidFill>
              </a:rPr>
              <a:t>Reconcile + close</a:t>
            </a:r>
            <a:endParaRPr lang="en-US" sz="1500" dirty="0"/>
          </a:p>
          <a:p>
            <a:pPr algn="ctr" indent="0" marL="0">
              <a:buNone/>
            </a:pPr>
            <a:r>
              <a:rPr lang="en-US" sz="1500" dirty="0">
                <a:solidFill>
                  <a:srgbClr val="16303D"/>
                </a:solidFill>
              </a:rPr>
              <a:t>Assign every owner</a:t>
            </a:r>
            <a:endParaRPr lang="en-US" sz="1500" dirty="0"/>
          </a:p>
        </p:txBody>
      </p:sp>
      <p:sp>
        <p:nvSpPr>
          <p:cNvPr id="37" name="Text 34"/>
          <p:cNvSpPr/>
          <p:nvPr/>
        </p:nvSpPr>
        <p:spPr>
          <a:xfrm>
            <a:off x="1051560" y="4983480"/>
            <a:ext cx="10058400" cy="502920"/>
          </a:xfrm>
          <a:prstGeom prst="rect">
            <a:avLst/>
          </a:prstGeom>
          <a:noFill/>
          <a:ln/>
        </p:spPr>
        <p:txBody>
          <a:bodyPr wrap="square" lIns="0" tIns="0" rIns="0" bIns="0" rtlCol="0" anchor="ctr"/>
          <a:lstStyle/>
          <a:p>
            <a:pPr algn="ctr" indent="0" marL="0">
              <a:buNone/>
            </a:pPr>
            <a:r>
              <a:rPr lang="en-US" sz="2000" b="1" dirty="0">
                <a:solidFill>
                  <a:srgbClr val="087B76"/>
                </a:solidFill>
              </a:rPr>
              <a:t>A task is not handed off until the physical state and system state match.</a:t>
            </a:r>
            <a:endParaRPr lang="en-US" sz="20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A good shift starts the way it always has</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5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4 min</a:t>
            </a:r>
            <a:endParaRPr lang="en-US" sz="800" dirty="0"/>
          </a:p>
        </p:txBody>
      </p:sp>
      <p:sp>
        <p:nvSpPr>
          <p:cNvPr id="8" name="Shape 5"/>
          <p:cNvSpPr/>
          <p:nvPr/>
        </p:nvSpPr>
        <p:spPr>
          <a:xfrm>
            <a:off x="594360" y="1298448"/>
            <a:ext cx="5257800" cy="4251960"/>
          </a:xfrm>
          <a:prstGeom prst="roundRect">
            <a:avLst>
              <a:gd name="adj" fmla="val 1720"/>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9" name="Shape 6"/>
          <p:cNvSpPr/>
          <p:nvPr/>
        </p:nvSpPr>
        <p:spPr>
          <a:xfrm>
            <a:off x="594360" y="1298448"/>
            <a:ext cx="73152" cy="4251960"/>
          </a:xfrm>
          <a:prstGeom prst="rect">
            <a:avLst/>
          </a:prstGeom>
          <a:solidFill>
            <a:srgbClr val="0F9D96"/>
          </a:solidFill>
          <a:ln w="12700">
            <a:solidFill>
              <a:srgbClr val="0F9D96"/>
            </a:solidFill>
            <a:prstDash val="solid"/>
          </a:ln>
        </p:spPr>
      </p:sp>
      <p:sp>
        <p:nvSpPr>
          <p:cNvPr id="10" name="Text 7"/>
          <p:cNvSpPr/>
          <p:nvPr/>
        </p:nvSpPr>
        <p:spPr>
          <a:xfrm>
            <a:off x="822960" y="1499616"/>
            <a:ext cx="484632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MANAGER — 5 TO 10 MIN</a:t>
            </a:r>
            <a:endParaRPr lang="en-US" sz="1300" dirty="0"/>
          </a:p>
        </p:txBody>
      </p:sp>
      <p:sp>
        <p:nvSpPr>
          <p:cNvPr id="11" name="Text 8"/>
          <p:cNvSpPr/>
          <p:nvPr/>
        </p:nvSpPr>
        <p:spPr>
          <a:xfrm>
            <a:off x="822960" y="1938528"/>
            <a:ext cx="4846320" cy="3429000"/>
          </a:xfrm>
          <a:prstGeom prst="rect">
            <a:avLst/>
          </a:prstGeom>
          <a:noFill/>
          <a:ln/>
        </p:spPr>
        <p:txBody>
          <a:bodyPr wrap="square" lIns="0" tIns="0" rIns="0" bIns="0" rtlCol="0" anchor="ctr">
            <a:normAutofit/>
          </a:bodyPr>
          <a:lstStyle/>
          <a:p>
            <a:pPr indent="0" marL="0">
              <a:buNone/>
            </a:pPr>
            <a:endParaRPr lang="en-US" sz="1700" dirty="0"/>
          </a:p>
        </p:txBody>
      </p:sp>
      <p:sp>
        <p:nvSpPr>
          <p:cNvPr id="12" name="Shape 9"/>
          <p:cNvSpPr/>
          <p:nvPr/>
        </p:nvSpPr>
        <p:spPr>
          <a:xfrm>
            <a:off x="6327648" y="1298448"/>
            <a:ext cx="5257800" cy="4251960"/>
          </a:xfrm>
          <a:prstGeom prst="roundRect">
            <a:avLst>
              <a:gd name="adj" fmla="val 1720"/>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3" name="Shape 10"/>
          <p:cNvSpPr/>
          <p:nvPr/>
        </p:nvSpPr>
        <p:spPr>
          <a:xfrm>
            <a:off x="6327648" y="1298448"/>
            <a:ext cx="73152" cy="4251960"/>
          </a:xfrm>
          <a:prstGeom prst="rect">
            <a:avLst/>
          </a:prstGeom>
          <a:solidFill>
            <a:srgbClr val="F47C20"/>
          </a:solidFill>
          <a:ln w="12700">
            <a:solidFill>
              <a:srgbClr val="F47C20"/>
            </a:solidFill>
            <a:prstDash val="solid"/>
          </a:ln>
        </p:spPr>
      </p:sp>
      <p:sp>
        <p:nvSpPr>
          <p:cNvPr id="14" name="Text 11"/>
          <p:cNvSpPr/>
          <p:nvPr/>
        </p:nvSpPr>
        <p:spPr>
          <a:xfrm>
            <a:off x="6556248" y="1499616"/>
            <a:ext cx="484632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OPERATOR — 2 TO 5 MIN</a:t>
            </a:r>
            <a:endParaRPr lang="en-US" sz="1300" dirty="0"/>
          </a:p>
        </p:txBody>
      </p:sp>
      <p:sp>
        <p:nvSpPr>
          <p:cNvPr id="15" name="Text 12"/>
          <p:cNvSpPr/>
          <p:nvPr/>
        </p:nvSpPr>
        <p:spPr>
          <a:xfrm>
            <a:off x="6556248" y="1938528"/>
            <a:ext cx="4846320" cy="3429000"/>
          </a:xfrm>
          <a:prstGeom prst="rect">
            <a:avLst/>
          </a:prstGeom>
          <a:noFill/>
          <a:ln/>
        </p:spPr>
        <p:txBody>
          <a:bodyPr wrap="square" lIns="0" tIns="0" rIns="0" bIns="0" rtlCol="0" anchor="ctr">
            <a:normAutofit/>
          </a:bodyPr>
          <a:lstStyle/>
          <a:p>
            <a:pPr indent="0" marL="0">
              <a:buNone/>
            </a:pPr>
            <a:endParaRPr lang="en-US" sz="1700" dirty="0"/>
          </a:p>
        </p:txBody>
      </p:sp>
      <p:sp>
        <p:nvSpPr>
          <p:cNvPr id="16" name="Text 13"/>
          <p:cNvSpPr/>
          <p:nvPr/>
        </p:nvSpPr>
        <p:spPr>
          <a:xfrm>
            <a:off x="941832" y="2057400"/>
            <a:ext cx="4526280" cy="288036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Choose warehouse + Dashboard view</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Review open work and staffing</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Check holds, quarantine, space, RF alerts</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Assign owners; release finishable work</a:t>
            </a:r>
            <a:endParaRPr lang="en-US" sz="1700" dirty="0"/>
          </a:p>
        </p:txBody>
      </p:sp>
      <p:sp>
        <p:nvSpPr>
          <p:cNvPr id="17" name="Text 14"/>
          <p:cNvSpPr/>
          <p:nvPr/>
        </p:nvSpPr>
        <p:spPr>
          <a:xfrm>
            <a:off x="6675120" y="2057400"/>
            <a:ext cx="4526280" cy="288036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16303D"/>
                </a:solidFill>
                <a:latin typeface="Aptos" pitchFamily="34" charset="0"/>
                <a:ea typeface="Aptos" pitchFamily="34" charset="-122"/>
                <a:cs typeface="Aptos" pitchFamily="34" charset="-120"/>
              </a:rPr>
              <a:t>Sign in; verify active warehouse</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Check scanner, network, battery, printer</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Confirm PPE + equipment</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Read priority; open assigned queue</a:t>
            </a:r>
            <a:endParaRPr lang="en-US" sz="1700" dirty="0"/>
          </a:p>
        </p:txBody>
      </p:sp>
      <p:sp>
        <p:nvSpPr>
          <p:cNvPr id="18" name="Shape 15"/>
          <p:cNvSpPr/>
          <p:nvPr/>
        </p:nvSpPr>
        <p:spPr>
          <a:xfrm>
            <a:off x="1005840" y="5641848"/>
            <a:ext cx="10149840" cy="530352"/>
          </a:xfrm>
          <a:prstGeom prst="roundRect">
            <a:avLst>
              <a:gd name="adj" fmla="val 6897"/>
            </a:avLst>
          </a:prstGeom>
          <a:solidFill>
            <a:srgbClr val="FFF3DF"/>
          </a:solidFill>
          <a:ln w="12700">
            <a:solidFill>
              <a:srgbClr val="FFC928"/>
            </a:solidFill>
            <a:prstDash val="solid"/>
          </a:ln>
        </p:spPr>
      </p:sp>
      <p:sp>
        <p:nvSpPr>
          <p:cNvPr id="19" name="Text 16"/>
          <p:cNvSpPr/>
          <p:nvPr/>
        </p:nvSpPr>
        <p:spPr>
          <a:xfrm>
            <a:off x="1207008" y="5806440"/>
            <a:ext cx="9738360" cy="18288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The system supports the walk-around: people, space, stock, equipment, and priority still have to agree.</a:t>
            </a:r>
            <a:endParaRPr lang="en-US" sz="13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Every pallet already has a story—the system keeps it together</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6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2 min</a:t>
            </a:r>
            <a:endParaRPr lang="en-US" sz="800" dirty="0"/>
          </a:p>
        </p:txBody>
      </p:sp>
      <p:sp>
        <p:nvSpPr>
          <p:cNvPr id="8" name="Shape 5"/>
          <p:cNvSpPr/>
          <p:nvPr/>
        </p:nvSpPr>
        <p:spPr>
          <a:xfrm>
            <a:off x="502920" y="1965960"/>
            <a:ext cx="1600200" cy="1463040"/>
          </a:xfrm>
          <a:prstGeom prst="roundRect">
            <a:avLst>
              <a:gd name="adj" fmla="val 5000"/>
            </a:avLst>
          </a:prstGeom>
          <a:solidFill>
            <a:srgbClr val="FFFFFF"/>
          </a:solidFill>
          <a:ln w="25400">
            <a:solidFill>
              <a:srgbClr val="0F9D96"/>
            </a:solidFill>
            <a:prstDash val="solid"/>
          </a:ln>
        </p:spPr>
      </p:sp>
      <p:sp>
        <p:nvSpPr>
          <p:cNvPr id="9" name="Text 6"/>
          <p:cNvSpPr/>
          <p:nvPr/>
        </p:nvSpPr>
        <p:spPr>
          <a:xfrm>
            <a:off x="61264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01</a:t>
            </a:r>
            <a:endParaRPr lang="en-US" sz="1000" dirty="0"/>
          </a:p>
        </p:txBody>
      </p:sp>
      <p:sp>
        <p:nvSpPr>
          <p:cNvPr id="10" name="Text 7"/>
          <p:cNvSpPr/>
          <p:nvPr/>
        </p:nvSpPr>
        <p:spPr>
          <a:xfrm>
            <a:off x="64008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RECEIVE</a:t>
            </a:r>
            <a:endParaRPr lang="en-US" sz="1500" dirty="0"/>
          </a:p>
        </p:txBody>
      </p:sp>
      <p:sp>
        <p:nvSpPr>
          <p:cNvPr id="11" name="Shape 8"/>
          <p:cNvSpPr/>
          <p:nvPr/>
        </p:nvSpPr>
        <p:spPr>
          <a:xfrm>
            <a:off x="2112264" y="2423160"/>
            <a:ext cx="320040" cy="475488"/>
          </a:xfrm>
          <a:prstGeom prst="chevron">
            <a:avLst/>
          </a:prstGeom>
          <a:solidFill>
            <a:srgbClr val="FFC928"/>
          </a:solidFill>
          <a:ln w="12700">
            <a:solidFill>
              <a:srgbClr val="FFC928"/>
            </a:solidFill>
            <a:prstDash val="solid"/>
          </a:ln>
        </p:spPr>
      </p:sp>
      <p:sp>
        <p:nvSpPr>
          <p:cNvPr id="12" name="Shape 9"/>
          <p:cNvSpPr/>
          <p:nvPr/>
        </p:nvSpPr>
        <p:spPr>
          <a:xfrm>
            <a:off x="2423160" y="1965960"/>
            <a:ext cx="1600200" cy="1463040"/>
          </a:xfrm>
          <a:prstGeom prst="roundRect">
            <a:avLst>
              <a:gd name="adj" fmla="val 5000"/>
            </a:avLst>
          </a:prstGeom>
          <a:solidFill>
            <a:srgbClr val="EFF7F7"/>
          </a:solidFill>
          <a:ln w="25400">
            <a:solidFill>
              <a:srgbClr val="0F9D96"/>
            </a:solidFill>
            <a:prstDash val="solid"/>
          </a:ln>
        </p:spPr>
      </p:sp>
      <p:sp>
        <p:nvSpPr>
          <p:cNvPr id="13" name="Text 10"/>
          <p:cNvSpPr/>
          <p:nvPr/>
        </p:nvSpPr>
        <p:spPr>
          <a:xfrm>
            <a:off x="253288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02</a:t>
            </a:r>
            <a:endParaRPr lang="en-US" sz="1000" dirty="0"/>
          </a:p>
        </p:txBody>
      </p:sp>
      <p:sp>
        <p:nvSpPr>
          <p:cNvPr id="14" name="Text 11"/>
          <p:cNvSpPr/>
          <p:nvPr/>
        </p:nvSpPr>
        <p:spPr>
          <a:xfrm>
            <a:off x="256032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LABEL</a:t>
            </a:r>
            <a:endParaRPr lang="en-US" sz="1500" dirty="0"/>
          </a:p>
        </p:txBody>
      </p:sp>
      <p:sp>
        <p:nvSpPr>
          <p:cNvPr id="15" name="Shape 12"/>
          <p:cNvSpPr/>
          <p:nvPr/>
        </p:nvSpPr>
        <p:spPr>
          <a:xfrm>
            <a:off x="4032504" y="2423160"/>
            <a:ext cx="320040" cy="475488"/>
          </a:xfrm>
          <a:prstGeom prst="chevron">
            <a:avLst/>
          </a:prstGeom>
          <a:solidFill>
            <a:srgbClr val="FFC928"/>
          </a:solidFill>
          <a:ln w="12700">
            <a:solidFill>
              <a:srgbClr val="FFC928"/>
            </a:solidFill>
            <a:prstDash val="solid"/>
          </a:ln>
        </p:spPr>
      </p:sp>
      <p:sp>
        <p:nvSpPr>
          <p:cNvPr id="16" name="Shape 13"/>
          <p:cNvSpPr/>
          <p:nvPr/>
        </p:nvSpPr>
        <p:spPr>
          <a:xfrm>
            <a:off x="4343400" y="1965960"/>
            <a:ext cx="1600200" cy="1463040"/>
          </a:xfrm>
          <a:prstGeom prst="roundRect">
            <a:avLst>
              <a:gd name="adj" fmla="val 5000"/>
            </a:avLst>
          </a:prstGeom>
          <a:solidFill>
            <a:srgbClr val="FFFFFF"/>
          </a:solidFill>
          <a:ln w="25400">
            <a:solidFill>
              <a:srgbClr val="0F9D96"/>
            </a:solidFill>
            <a:prstDash val="solid"/>
          </a:ln>
        </p:spPr>
      </p:sp>
      <p:sp>
        <p:nvSpPr>
          <p:cNvPr id="17" name="Text 14"/>
          <p:cNvSpPr/>
          <p:nvPr/>
        </p:nvSpPr>
        <p:spPr>
          <a:xfrm>
            <a:off x="445312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03</a:t>
            </a:r>
            <a:endParaRPr lang="en-US" sz="1000" dirty="0"/>
          </a:p>
        </p:txBody>
      </p:sp>
      <p:sp>
        <p:nvSpPr>
          <p:cNvPr id="18" name="Text 15"/>
          <p:cNvSpPr/>
          <p:nvPr/>
        </p:nvSpPr>
        <p:spPr>
          <a:xfrm>
            <a:off x="448056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PUT-AWAY</a:t>
            </a:r>
            <a:endParaRPr lang="en-US" sz="1500" dirty="0"/>
          </a:p>
        </p:txBody>
      </p:sp>
      <p:sp>
        <p:nvSpPr>
          <p:cNvPr id="19" name="Shape 16"/>
          <p:cNvSpPr/>
          <p:nvPr/>
        </p:nvSpPr>
        <p:spPr>
          <a:xfrm>
            <a:off x="5952744" y="2423160"/>
            <a:ext cx="320040" cy="475488"/>
          </a:xfrm>
          <a:prstGeom prst="chevron">
            <a:avLst/>
          </a:prstGeom>
          <a:solidFill>
            <a:srgbClr val="FFC928"/>
          </a:solidFill>
          <a:ln w="12700">
            <a:solidFill>
              <a:srgbClr val="FFC928"/>
            </a:solidFill>
            <a:prstDash val="solid"/>
          </a:ln>
        </p:spPr>
      </p:sp>
      <p:sp>
        <p:nvSpPr>
          <p:cNvPr id="20" name="Shape 17"/>
          <p:cNvSpPr/>
          <p:nvPr/>
        </p:nvSpPr>
        <p:spPr>
          <a:xfrm>
            <a:off x="6263640" y="1965960"/>
            <a:ext cx="1600200" cy="1463040"/>
          </a:xfrm>
          <a:prstGeom prst="roundRect">
            <a:avLst>
              <a:gd name="adj" fmla="val 5000"/>
            </a:avLst>
          </a:prstGeom>
          <a:solidFill>
            <a:srgbClr val="EFF7F7"/>
          </a:solidFill>
          <a:ln w="25400">
            <a:solidFill>
              <a:srgbClr val="0F9D96"/>
            </a:solidFill>
            <a:prstDash val="solid"/>
          </a:ln>
        </p:spPr>
      </p:sp>
      <p:sp>
        <p:nvSpPr>
          <p:cNvPr id="21" name="Text 18"/>
          <p:cNvSpPr/>
          <p:nvPr/>
        </p:nvSpPr>
        <p:spPr>
          <a:xfrm>
            <a:off x="637336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04</a:t>
            </a:r>
            <a:endParaRPr lang="en-US" sz="1000" dirty="0"/>
          </a:p>
        </p:txBody>
      </p:sp>
      <p:sp>
        <p:nvSpPr>
          <p:cNvPr id="22" name="Text 19"/>
          <p:cNvSpPr/>
          <p:nvPr/>
        </p:nvSpPr>
        <p:spPr>
          <a:xfrm>
            <a:off x="640080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VERIFY</a:t>
            </a:r>
            <a:endParaRPr lang="en-US" sz="1500" dirty="0"/>
          </a:p>
        </p:txBody>
      </p:sp>
      <p:sp>
        <p:nvSpPr>
          <p:cNvPr id="23" name="Shape 20"/>
          <p:cNvSpPr/>
          <p:nvPr/>
        </p:nvSpPr>
        <p:spPr>
          <a:xfrm>
            <a:off x="7872984" y="2423160"/>
            <a:ext cx="320040" cy="475488"/>
          </a:xfrm>
          <a:prstGeom prst="chevron">
            <a:avLst/>
          </a:prstGeom>
          <a:solidFill>
            <a:srgbClr val="FFC928"/>
          </a:solidFill>
          <a:ln w="12700">
            <a:solidFill>
              <a:srgbClr val="FFC928"/>
            </a:solidFill>
            <a:prstDash val="solid"/>
          </a:ln>
        </p:spPr>
      </p:sp>
      <p:sp>
        <p:nvSpPr>
          <p:cNvPr id="24" name="Shape 21"/>
          <p:cNvSpPr/>
          <p:nvPr/>
        </p:nvSpPr>
        <p:spPr>
          <a:xfrm>
            <a:off x="8183880" y="1965960"/>
            <a:ext cx="1600200" cy="1463040"/>
          </a:xfrm>
          <a:prstGeom prst="roundRect">
            <a:avLst>
              <a:gd name="adj" fmla="val 5000"/>
            </a:avLst>
          </a:prstGeom>
          <a:solidFill>
            <a:srgbClr val="FFFFFF"/>
          </a:solidFill>
          <a:ln w="25400">
            <a:solidFill>
              <a:srgbClr val="0F9D96"/>
            </a:solidFill>
            <a:prstDash val="solid"/>
          </a:ln>
        </p:spPr>
      </p:sp>
      <p:sp>
        <p:nvSpPr>
          <p:cNvPr id="25" name="Text 22"/>
          <p:cNvSpPr/>
          <p:nvPr/>
        </p:nvSpPr>
        <p:spPr>
          <a:xfrm>
            <a:off x="829360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05</a:t>
            </a:r>
            <a:endParaRPr lang="en-US" sz="1000" dirty="0"/>
          </a:p>
        </p:txBody>
      </p:sp>
      <p:sp>
        <p:nvSpPr>
          <p:cNvPr id="26" name="Text 23"/>
          <p:cNvSpPr/>
          <p:nvPr/>
        </p:nvSpPr>
        <p:spPr>
          <a:xfrm>
            <a:off x="832104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PICK</a:t>
            </a:r>
            <a:endParaRPr lang="en-US" sz="1500" dirty="0"/>
          </a:p>
        </p:txBody>
      </p:sp>
      <p:sp>
        <p:nvSpPr>
          <p:cNvPr id="27" name="Shape 24"/>
          <p:cNvSpPr/>
          <p:nvPr/>
        </p:nvSpPr>
        <p:spPr>
          <a:xfrm>
            <a:off x="9793224" y="2423160"/>
            <a:ext cx="320040" cy="475488"/>
          </a:xfrm>
          <a:prstGeom prst="chevron">
            <a:avLst/>
          </a:prstGeom>
          <a:solidFill>
            <a:srgbClr val="FFC928"/>
          </a:solidFill>
          <a:ln w="12700">
            <a:solidFill>
              <a:srgbClr val="FFC928"/>
            </a:solidFill>
            <a:prstDash val="solid"/>
          </a:ln>
        </p:spPr>
      </p:sp>
      <p:sp>
        <p:nvSpPr>
          <p:cNvPr id="28" name="Shape 25"/>
          <p:cNvSpPr/>
          <p:nvPr/>
        </p:nvSpPr>
        <p:spPr>
          <a:xfrm>
            <a:off x="10104120" y="1965960"/>
            <a:ext cx="1600200" cy="1463040"/>
          </a:xfrm>
          <a:prstGeom prst="roundRect">
            <a:avLst>
              <a:gd name="adj" fmla="val 5000"/>
            </a:avLst>
          </a:prstGeom>
          <a:solidFill>
            <a:srgbClr val="EFF7F7"/>
          </a:solidFill>
          <a:ln w="25400">
            <a:solidFill>
              <a:srgbClr val="F47C20"/>
            </a:solidFill>
            <a:prstDash val="solid"/>
          </a:ln>
        </p:spPr>
      </p:sp>
      <p:sp>
        <p:nvSpPr>
          <p:cNvPr id="29" name="Text 26"/>
          <p:cNvSpPr/>
          <p:nvPr/>
        </p:nvSpPr>
        <p:spPr>
          <a:xfrm>
            <a:off x="10213848" y="2148840"/>
            <a:ext cx="457200" cy="228600"/>
          </a:xfrm>
          <a:prstGeom prst="rect">
            <a:avLst/>
          </a:prstGeom>
          <a:noFill/>
          <a:ln/>
        </p:spPr>
        <p:txBody>
          <a:bodyPr wrap="square" lIns="0" tIns="0" rIns="0" bIns="0" rtlCol="0" anchor="ctr"/>
          <a:lstStyle/>
          <a:p>
            <a:pPr indent="0" marL="0">
              <a:buNone/>
            </a:pPr>
            <a:r>
              <a:rPr lang="en-US" sz="1000" b="1" dirty="0">
                <a:solidFill>
                  <a:srgbClr val="667985"/>
                </a:solidFill>
              </a:rPr>
              <a:t>06</a:t>
            </a:r>
            <a:endParaRPr lang="en-US" sz="1000" dirty="0"/>
          </a:p>
        </p:txBody>
      </p:sp>
      <p:sp>
        <p:nvSpPr>
          <p:cNvPr id="30" name="Text 27"/>
          <p:cNvSpPr/>
          <p:nvPr/>
        </p:nvSpPr>
        <p:spPr>
          <a:xfrm>
            <a:off x="10241280" y="2606040"/>
            <a:ext cx="1325880" cy="384048"/>
          </a:xfrm>
          <a:prstGeom prst="rect">
            <a:avLst/>
          </a:prstGeom>
          <a:noFill/>
          <a:ln/>
        </p:spPr>
        <p:txBody>
          <a:bodyPr wrap="square" lIns="0" tIns="0" rIns="0" bIns="0" rtlCol="0" anchor="ctr">
            <a:normAutofit/>
          </a:bodyPr>
          <a:lstStyle/>
          <a:p>
            <a:pPr algn="ctr" indent="0" marL="0">
              <a:buNone/>
            </a:pPr>
            <a:r>
              <a:rPr lang="en-US" sz="1500" b="1" dirty="0">
                <a:solidFill>
                  <a:srgbClr val="123247"/>
                </a:solidFill>
              </a:rPr>
              <a:t>STAGE / TRANSFER</a:t>
            </a:r>
            <a:endParaRPr lang="en-US" sz="1500" dirty="0"/>
          </a:p>
        </p:txBody>
      </p:sp>
      <p:sp>
        <p:nvSpPr>
          <p:cNvPr id="31" name="Text 28"/>
          <p:cNvSpPr/>
          <p:nvPr/>
        </p:nvSpPr>
        <p:spPr>
          <a:xfrm>
            <a:off x="1051560" y="4160520"/>
            <a:ext cx="10058400" cy="548640"/>
          </a:xfrm>
          <a:prstGeom prst="rect">
            <a:avLst/>
          </a:prstGeom>
          <a:noFill/>
          <a:ln/>
        </p:spPr>
        <p:txBody>
          <a:bodyPr wrap="square" lIns="0" tIns="0" rIns="0" bIns="0" rtlCol="0" anchor="ctr"/>
          <a:lstStyle/>
          <a:p>
            <a:pPr algn="ctr" indent="0" marL="0">
              <a:buNone/>
            </a:pPr>
            <a:r>
              <a:rPr lang="en-US" sz="2100" b="1" dirty="0">
                <a:solidFill>
                  <a:srgbClr val="087B76"/>
                </a:solidFill>
              </a:rPr>
              <a:t>Counts, moves, status controls, and audit protect the journey at every stage.</a:t>
            </a:r>
            <a:endParaRPr lang="en-US" sz="21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Receiving: scan → commit → count → expiry</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7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5 min</a:t>
            </a:r>
            <a:endParaRPr lang="en-US" sz="800" dirty="0"/>
          </a:p>
        </p:txBody>
      </p:sp>
      <p:pic>
        <p:nvPicPr>
          <p:cNvPr id="8" name="Image 0" descr="C:\classicitbb\warehouse-wizard\docs\training\assets\receiving-team-scan.png">    </p:cNvPr>
          <p:cNvPicPr>
            <a:picLocks noChangeAspect="1"/>
          </p:cNvPicPr>
          <p:nvPr/>
        </p:nvPicPr>
        <p:blipFill>
          <a:blip r:embed="rId1"/>
          <a:stretch>
            <a:fillRect/>
          </a:stretch>
        </p:blipFill>
        <p:spPr>
          <a:xfrm>
            <a:off x="8028432" y="1234440"/>
            <a:ext cx="3246120" cy="1874520"/>
          </a:xfrm>
          <a:prstGeom prst="rect">
            <a:avLst/>
          </a:prstGeom>
        </p:spPr>
      </p:pic>
      <p:sp>
        <p:nvSpPr>
          <p:cNvPr id="9" name="Shape 5"/>
          <p:cNvSpPr/>
          <p:nvPr/>
        </p:nvSpPr>
        <p:spPr>
          <a:xfrm>
            <a:off x="8028432" y="1234440"/>
            <a:ext cx="3246120" cy="1874520"/>
          </a:xfrm>
          <a:prstGeom prst="roundRect">
            <a:avLst>
              <a:gd name="adj" fmla="val 2439"/>
            </a:avLst>
          </a:prstGeom>
          <a:solidFill>
            <a:srgbClr val="FFFFFF">
              <a:alpha val="0"/>
            </a:srgbClr>
          </a:solidFill>
          <a:ln w="19050">
            <a:solidFill>
              <a:srgbClr val="0F9D96"/>
            </a:solidFill>
            <a:prstDash val="solid"/>
          </a:ln>
        </p:spPr>
      </p:sp>
      <p:sp>
        <p:nvSpPr>
          <p:cNvPr id="10" name="Shape 6"/>
          <p:cNvSpPr/>
          <p:nvPr/>
        </p:nvSpPr>
        <p:spPr>
          <a:xfrm>
            <a:off x="713232" y="1234440"/>
            <a:ext cx="566928" cy="566928"/>
          </a:xfrm>
          <a:prstGeom prst="ellipse">
            <a:avLst/>
          </a:prstGeom>
          <a:solidFill>
            <a:srgbClr val="0F9D96"/>
          </a:solidFill>
          <a:ln w="19050">
            <a:solidFill>
              <a:srgbClr val="FFFFFF"/>
            </a:solidFill>
            <a:prstDash val="solid"/>
          </a:ln>
        </p:spPr>
      </p:sp>
      <p:sp>
        <p:nvSpPr>
          <p:cNvPr id="11" name="Text 7"/>
          <p:cNvSpPr/>
          <p:nvPr/>
        </p:nvSpPr>
        <p:spPr>
          <a:xfrm>
            <a:off x="713232" y="1399032"/>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8"/>
          <p:cNvSpPr/>
          <p:nvPr/>
        </p:nvSpPr>
        <p:spPr>
          <a:xfrm>
            <a:off x="1481328" y="1280160"/>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CONTEXT</a:t>
            </a:r>
            <a:endParaRPr lang="en-US" sz="1400" dirty="0"/>
          </a:p>
        </p:txBody>
      </p:sp>
      <p:sp>
        <p:nvSpPr>
          <p:cNvPr id="13" name="Text 9"/>
          <p:cNvSpPr/>
          <p:nvPr/>
        </p:nvSpPr>
        <p:spPr>
          <a:xfrm>
            <a:off x="3429000" y="1252728"/>
            <a:ext cx="429768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Warehouse · container · PO</a:t>
            </a:r>
            <a:endParaRPr lang="en-US" sz="1800" dirty="0"/>
          </a:p>
        </p:txBody>
      </p:sp>
      <p:sp>
        <p:nvSpPr>
          <p:cNvPr id="14" name="Shape 10"/>
          <p:cNvSpPr/>
          <p:nvPr/>
        </p:nvSpPr>
        <p:spPr>
          <a:xfrm>
            <a:off x="996696" y="1792224"/>
            <a:ext cx="0" cy="283464"/>
          </a:xfrm>
          <a:prstGeom prst="line">
            <a:avLst/>
          </a:prstGeom>
          <a:noFill/>
          <a:ln w="25400">
            <a:solidFill>
              <a:srgbClr val="D7E2E6"/>
            </a:solidFill>
            <a:prstDash val="solid"/>
          </a:ln>
        </p:spPr>
      </p:sp>
      <p:sp>
        <p:nvSpPr>
          <p:cNvPr id="15" name="Shape 11"/>
          <p:cNvSpPr/>
          <p:nvPr/>
        </p:nvSpPr>
        <p:spPr>
          <a:xfrm>
            <a:off x="713232" y="2075688"/>
            <a:ext cx="566928" cy="566928"/>
          </a:xfrm>
          <a:prstGeom prst="ellipse">
            <a:avLst/>
          </a:prstGeom>
          <a:solidFill>
            <a:srgbClr val="0F9D96"/>
          </a:solidFill>
          <a:ln w="19050">
            <a:solidFill>
              <a:srgbClr val="FFFFFF"/>
            </a:solidFill>
            <a:prstDash val="solid"/>
          </a:ln>
        </p:spPr>
      </p:sp>
      <p:sp>
        <p:nvSpPr>
          <p:cNvPr id="16" name="Text 12"/>
          <p:cNvSpPr/>
          <p:nvPr/>
        </p:nvSpPr>
        <p:spPr>
          <a:xfrm>
            <a:off x="713232" y="2240280"/>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3"/>
          <p:cNvSpPr/>
          <p:nvPr/>
        </p:nvSpPr>
        <p:spPr>
          <a:xfrm>
            <a:off x="1481328" y="2121408"/>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PRODUCT</a:t>
            </a:r>
            <a:endParaRPr lang="en-US" sz="1400" dirty="0"/>
          </a:p>
        </p:txBody>
      </p:sp>
      <p:sp>
        <p:nvSpPr>
          <p:cNvPr id="18" name="Text 14"/>
          <p:cNvSpPr/>
          <p:nvPr/>
        </p:nvSpPr>
        <p:spPr>
          <a:xfrm>
            <a:off x="3429000" y="2093976"/>
            <a:ext cx="429768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Scan/search, then press the right-arrow</a:t>
            </a:r>
            <a:endParaRPr lang="en-US" sz="1800" dirty="0"/>
          </a:p>
        </p:txBody>
      </p:sp>
      <p:sp>
        <p:nvSpPr>
          <p:cNvPr id="19" name="Shape 15"/>
          <p:cNvSpPr/>
          <p:nvPr/>
        </p:nvSpPr>
        <p:spPr>
          <a:xfrm>
            <a:off x="996696" y="2633472"/>
            <a:ext cx="0" cy="283464"/>
          </a:xfrm>
          <a:prstGeom prst="line">
            <a:avLst/>
          </a:prstGeom>
          <a:noFill/>
          <a:ln w="25400">
            <a:solidFill>
              <a:srgbClr val="D7E2E6"/>
            </a:solidFill>
            <a:prstDash val="solid"/>
          </a:ln>
        </p:spPr>
      </p:sp>
      <p:sp>
        <p:nvSpPr>
          <p:cNvPr id="20" name="Shape 16"/>
          <p:cNvSpPr/>
          <p:nvPr/>
        </p:nvSpPr>
        <p:spPr>
          <a:xfrm>
            <a:off x="713232" y="2916936"/>
            <a:ext cx="566928" cy="566928"/>
          </a:xfrm>
          <a:prstGeom prst="ellipse">
            <a:avLst/>
          </a:prstGeom>
          <a:solidFill>
            <a:srgbClr val="0F9D96"/>
          </a:solidFill>
          <a:ln w="19050">
            <a:solidFill>
              <a:srgbClr val="FFFFFF"/>
            </a:solidFill>
            <a:prstDash val="solid"/>
          </a:ln>
        </p:spPr>
      </p:sp>
      <p:sp>
        <p:nvSpPr>
          <p:cNvPr id="21" name="Text 17"/>
          <p:cNvSpPr/>
          <p:nvPr/>
        </p:nvSpPr>
        <p:spPr>
          <a:xfrm>
            <a:off x="713232" y="3081528"/>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18"/>
          <p:cNvSpPr/>
          <p:nvPr/>
        </p:nvSpPr>
        <p:spPr>
          <a:xfrm>
            <a:off x="1481328" y="2962656"/>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QUANTITY</a:t>
            </a:r>
            <a:endParaRPr lang="en-US" sz="1400" dirty="0"/>
          </a:p>
        </p:txBody>
      </p:sp>
      <p:sp>
        <p:nvSpPr>
          <p:cNvPr id="23" name="Text 19"/>
          <p:cNvSpPr/>
          <p:nvPr/>
        </p:nvSpPr>
        <p:spPr>
          <a:xfrm>
            <a:off x="3429000" y="2935224"/>
            <a:ext cx="429768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Total → qty/pallet → pallets</a:t>
            </a:r>
            <a:endParaRPr lang="en-US" sz="1800" dirty="0"/>
          </a:p>
        </p:txBody>
      </p:sp>
      <p:sp>
        <p:nvSpPr>
          <p:cNvPr id="24" name="Shape 20"/>
          <p:cNvSpPr/>
          <p:nvPr/>
        </p:nvSpPr>
        <p:spPr>
          <a:xfrm>
            <a:off x="996696" y="3474720"/>
            <a:ext cx="0" cy="283464"/>
          </a:xfrm>
          <a:prstGeom prst="line">
            <a:avLst/>
          </a:prstGeom>
          <a:noFill/>
          <a:ln w="25400">
            <a:solidFill>
              <a:srgbClr val="D7E2E6"/>
            </a:solidFill>
            <a:prstDash val="solid"/>
          </a:ln>
        </p:spPr>
      </p:sp>
      <p:sp>
        <p:nvSpPr>
          <p:cNvPr id="25" name="Shape 21"/>
          <p:cNvSpPr/>
          <p:nvPr/>
        </p:nvSpPr>
        <p:spPr>
          <a:xfrm>
            <a:off x="713232" y="3758184"/>
            <a:ext cx="566928" cy="566928"/>
          </a:xfrm>
          <a:prstGeom prst="ellipse">
            <a:avLst/>
          </a:prstGeom>
          <a:solidFill>
            <a:srgbClr val="0F9D96"/>
          </a:solidFill>
          <a:ln w="19050">
            <a:solidFill>
              <a:srgbClr val="FFFFFF"/>
            </a:solidFill>
            <a:prstDash val="solid"/>
          </a:ln>
        </p:spPr>
      </p:sp>
      <p:sp>
        <p:nvSpPr>
          <p:cNvPr id="26" name="Text 22"/>
          <p:cNvSpPr/>
          <p:nvPr/>
        </p:nvSpPr>
        <p:spPr>
          <a:xfrm>
            <a:off x="713232" y="3922776"/>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3"/>
          <p:cNvSpPr/>
          <p:nvPr/>
        </p:nvSpPr>
        <p:spPr>
          <a:xfrm>
            <a:off x="1481328" y="3803904"/>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TRACE</a:t>
            </a:r>
            <a:endParaRPr lang="en-US" sz="1400" dirty="0"/>
          </a:p>
        </p:txBody>
      </p:sp>
      <p:sp>
        <p:nvSpPr>
          <p:cNvPr id="28" name="Text 24"/>
          <p:cNvSpPr/>
          <p:nvPr/>
        </p:nvSpPr>
        <p:spPr>
          <a:xfrm>
            <a:off x="3429000" y="3776472"/>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Expiry · lot · batch · packaging</a:t>
            </a:r>
            <a:endParaRPr lang="en-US" sz="1800" dirty="0"/>
          </a:p>
        </p:txBody>
      </p:sp>
      <p:sp>
        <p:nvSpPr>
          <p:cNvPr id="29" name="Shape 25"/>
          <p:cNvSpPr/>
          <p:nvPr/>
        </p:nvSpPr>
        <p:spPr>
          <a:xfrm>
            <a:off x="996696" y="4315968"/>
            <a:ext cx="0" cy="283464"/>
          </a:xfrm>
          <a:prstGeom prst="line">
            <a:avLst/>
          </a:prstGeom>
          <a:noFill/>
          <a:ln w="25400">
            <a:solidFill>
              <a:srgbClr val="D7E2E6"/>
            </a:solidFill>
            <a:prstDash val="solid"/>
          </a:ln>
        </p:spPr>
      </p:sp>
      <p:sp>
        <p:nvSpPr>
          <p:cNvPr id="30" name="Shape 26"/>
          <p:cNvSpPr/>
          <p:nvPr/>
        </p:nvSpPr>
        <p:spPr>
          <a:xfrm>
            <a:off x="713232" y="4599432"/>
            <a:ext cx="566928" cy="566928"/>
          </a:xfrm>
          <a:prstGeom prst="ellipse">
            <a:avLst/>
          </a:prstGeom>
          <a:solidFill>
            <a:srgbClr val="F47C20"/>
          </a:solidFill>
          <a:ln w="19050">
            <a:solidFill>
              <a:srgbClr val="FFFFFF"/>
            </a:solidFill>
            <a:prstDash val="solid"/>
          </a:ln>
        </p:spPr>
      </p:sp>
      <p:sp>
        <p:nvSpPr>
          <p:cNvPr id="31" name="Text 27"/>
          <p:cNvSpPr/>
          <p:nvPr/>
        </p:nvSpPr>
        <p:spPr>
          <a:xfrm>
            <a:off x="713232" y="4764024"/>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2" name="Text 28"/>
          <p:cNvSpPr/>
          <p:nvPr/>
        </p:nvSpPr>
        <p:spPr>
          <a:xfrm>
            <a:off x="1481328" y="4645152"/>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RECEIVE</a:t>
            </a:r>
            <a:endParaRPr lang="en-US" sz="1400" dirty="0"/>
          </a:p>
        </p:txBody>
      </p:sp>
      <p:sp>
        <p:nvSpPr>
          <p:cNvPr id="33" name="Text 29"/>
          <p:cNvSpPr/>
          <p:nvPr/>
        </p:nvSpPr>
        <p:spPr>
          <a:xfrm>
            <a:off x="3429000" y="4617720"/>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Verify once · print labels · create Put-Away</a:t>
            </a:r>
            <a:endParaRPr lang="en-US" sz="1800" dirty="0"/>
          </a:p>
        </p:txBody>
      </p:sp>
      <p:sp>
        <p:nvSpPr>
          <p:cNvPr id="34" name="Shape 30"/>
          <p:cNvSpPr/>
          <p:nvPr/>
        </p:nvSpPr>
        <p:spPr>
          <a:xfrm>
            <a:off x="1325880" y="5669280"/>
            <a:ext cx="9646920" cy="502920"/>
          </a:xfrm>
          <a:prstGeom prst="roundRect">
            <a:avLst>
              <a:gd name="adj" fmla="val 7273"/>
            </a:avLst>
          </a:prstGeom>
          <a:solidFill>
            <a:srgbClr val="FFF3DF"/>
          </a:solidFill>
          <a:ln w="12700">
            <a:solidFill>
              <a:srgbClr val="FFC928"/>
            </a:solidFill>
            <a:prstDash val="solid"/>
          </a:ln>
        </p:spPr>
      </p:sp>
      <p:sp>
        <p:nvSpPr>
          <p:cNvPr id="35" name="Text 31"/>
          <p:cNvSpPr/>
          <p:nvPr/>
        </p:nvSpPr>
        <p:spPr>
          <a:xfrm>
            <a:off x="1572768" y="5815584"/>
            <a:ext cx="9144000" cy="201168"/>
          </a:xfrm>
          <a:prstGeom prst="rect">
            <a:avLst/>
          </a:prstGeom>
          <a:noFill/>
          <a:ln/>
        </p:spPr>
        <p:txBody>
          <a:bodyPr wrap="square" lIns="0" tIns="0" rIns="0" bIns="0" rtlCol="0" anchor="ctr">
            <a:normAutofit/>
          </a:bodyPr>
          <a:lstStyle/>
          <a:p>
            <a:pPr algn="ctr" indent="0" marL="0">
              <a:buNone/>
            </a:pPr>
            <a:r>
              <a:rPr lang="en-US" sz="1400" b="1" dirty="0">
                <a:solidFill>
                  <a:srgbClr val="123247"/>
                </a:solidFill>
              </a:rPr>
              <a:t>The physical count always wins. A learned suggestion never replaces the count.</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Put-Away: two scans, every pallet, every time</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8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4 min</a:t>
            </a:r>
            <a:endParaRPr lang="en-US" sz="800" dirty="0"/>
          </a:p>
        </p:txBody>
      </p:sp>
      <p:sp>
        <p:nvSpPr>
          <p:cNvPr id="8" name="Shape 5"/>
          <p:cNvSpPr/>
          <p:nvPr/>
        </p:nvSpPr>
        <p:spPr>
          <a:xfrm>
            <a:off x="914400" y="1417320"/>
            <a:ext cx="4846320" cy="1874520"/>
          </a:xfrm>
          <a:prstGeom prst="roundRect">
            <a:avLst>
              <a:gd name="adj" fmla="val 3902"/>
            </a:avLst>
          </a:prstGeom>
          <a:solidFill>
            <a:srgbClr val="EFF7F7"/>
          </a:solidFill>
          <a:ln w="31750">
            <a:solidFill>
              <a:srgbClr val="0F9D96"/>
            </a:solidFill>
            <a:prstDash val="solid"/>
          </a:ln>
        </p:spPr>
      </p:sp>
      <p:sp>
        <p:nvSpPr>
          <p:cNvPr id="9" name="Text 6"/>
          <p:cNvSpPr/>
          <p:nvPr/>
        </p:nvSpPr>
        <p:spPr>
          <a:xfrm>
            <a:off x="1143000" y="1719072"/>
            <a:ext cx="731520" cy="502920"/>
          </a:xfrm>
          <a:prstGeom prst="rect">
            <a:avLst/>
          </a:prstGeom>
          <a:noFill/>
          <a:ln/>
        </p:spPr>
        <p:txBody>
          <a:bodyPr wrap="square" lIns="0" tIns="0" rIns="0" bIns="0" rtlCol="0" anchor="ctr"/>
          <a:lstStyle/>
          <a:p>
            <a:pPr indent="0" marL="0">
              <a:buNone/>
            </a:pPr>
            <a:r>
              <a:rPr lang="en-US" sz="3100" b="1" dirty="0">
                <a:solidFill>
                  <a:srgbClr val="0F9D96"/>
                </a:solidFill>
              </a:rPr>
              <a:t>01</a:t>
            </a:r>
            <a:endParaRPr lang="en-US" sz="3100" dirty="0"/>
          </a:p>
        </p:txBody>
      </p:sp>
      <p:sp>
        <p:nvSpPr>
          <p:cNvPr id="10" name="Text 7"/>
          <p:cNvSpPr/>
          <p:nvPr/>
        </p:nvSpPr>
        <p:spPr>
          <a:xfrm>
            <a:off x="1965960" y="1700784"/>
            <a:ext cx="3383280" cy="320040"/>
          </a:xfrm>
          <a:prstGeom prst="rect">
            <a:avLst/>
          </a:prstGeom>
          <a:noFill/>
          <a:ln/>
        </p:spPr>
        <p:txBody>
          <a:bodyPr wrap="square" lIns="0" tIns="0" rIns="0" bIns="0" rtlCol="0" anchor="ctr"/>
          <a:lstStyle/>
          <a:p>
            <a:pPr indent="0" marL="0">
              <a:buNone/>
            </a:pPr>
            <a:r>
              <a:rPr lang="en-US" sz="1900" b="1" dirty="0">
                <a:solidFill>
                  <a:srgbClr val="123247"/>
                </a:solidFill>
              </a:rPr>
              <a:t>PALLET</a:t>
            </a:r>
            <a:endParaRPr lang="en-US" sz="1900" dirty="0"/>
          </a:p>
        </p:txBody>
      </p:sp>
      <p:sp>
        <p:nvSpPr>
          <p:cNvPr id="11" name="Text 8"/>
          <p:cNvSpPr/>
          <p:nvPr/>
        </p:nvSpPr>
        <p:spPr>
          <a:xfrm>
            <a:off x="1965960" y="2331720"/>
            <a:ext cx="3383280" cy="365760"/>
          </a:xfrm>
          <a:prstGeom prst="rect">
            <a:avLst/>
          </a:prstGeom>
          <a:noFill/>
          <a:ln/>
        </p:spPr>
        <p:txBody>
          <a:bodyPr wrap="square" lIns="0" tIns="0" rIns="0" bIns="0" rtlCol="0" anchor="ctr"/>
          <a:lstStyle/>
          <a:p>
            <a:pPr indent="0" marL="0">
              <a:buNone/>
            </a:pPr>
            <a:r>
              <a:rPr lang="en-US" sz="1700" dirty="0">
                <a:solidFill>
                  <a:srgbClr val="16303D"/>
                </a:solidFill>
              </a:rPr>
              <a:t>Who/what is moving?</a:t>
            </a:r>
            <a:endParaRPr lang="en-US" sz="1700" dirty="0"/>
          </a:p>
        </p:txBody>
      </p:sp>
      <p:sp>
        <p:nvSpPr>
          <p:cNvPr id="12" name="Shape 9"/>
          <p:cNvSpPr/>
          <p:nvPr/>
        </p:nvSpPr>
        <p:spPr>
          <a:xfrm>
            <a:off x="6446520" y="1417320"/>
            <a:ext cx="4846320" cy="1874520"/>
          </a:xfrm>
          <a:prstGeom prst="roundRect">
            <a:avLst>
              <a:gd name="adj" fmla="val 3902"/>
            </a:avLst>
          </a:prstGeom>
          <a:solidFill>
            <a:srgbClr val="FFF3DF"/>
          </a:solidFill>
          <a:ln w="31750">
            <a:solidFill>
              <a:srgbClr val="F47C20"/>
            </a:solidFill>
            <a:prstDash val="solid"/>
          </a:ln>
        </p:spPr>
      </p:sp>
      <p:sp>
        <p:nvSpPr>
          <p:cNvPr id="13" name="Text 10"/>
          <p:cNvSpPr/>
          <p:nvPr/>
        </p:nvSpPr>
        <p:spPr>
          <a:xfrm>
            <a:off x="6675120" y="1719072"/>
            <a:ext cx="731520" cy="502920"/>
          </a:xfrm>
          <a:prstGeom prst="rect">
            <a:avLst/>
          </a:prstGeom>
          <a:noFill/>
          <a:ln/>
        </p:spPr>
        <p:txBody>
          <a:bodyPr wrap="square" lIns="0" tIns="0" rIns="0" bIns="0" rtlCol="0" anchor="ctr"/>
          <a:lstStyle/>
          <a:p>
            <a:pPr indent="0" marL="0">
              <a:buNone/>
            </a:pPr>
            <a:r>
              <a:rPr lang="en-US" sz="3100" b="1" dirty="0">
                <a:solidFill>
                  <a:srgbClr val="F47C20"/>
                </a:solidFill>
              </a:rPr>
              <a:t>02</a:t>
            </a:r>
            <a:endParaRPr lang="en-US" sz="3100" dirty="0"/>
          </a:p>
        </p:txBody>
      </p:sp>
      <p:sp>
        <p:nvSpPr>
          <p:cNvPr id="14" name="Text 11"/>
          <p:cNvSpPr/>
          <p:nvPr/>
        </p:nvSpPr>
        <p:spPr>
          <a:xfrm>
            <a:off x="7498080" y="1700784"/>
            <a:ext cx="3383280" cy="320040"/>
          </a:xfrm>
          <a:prstGeom prst="rect">
            <a:avLst/>
          </a:prstGeom>
          <a:noFill/>
          <a:ln/>
        </p:spPr>
        <p:txBody>
          <a:bodyPr wrap="square" lIns="0" tIns="0" rIns="0" bIns="0" rtlCol="0" anchor="ctr"/>
          <a:lstStyle/>
          <a:p>
            <a:pPr indent="0" marL="0">
              <a:buNone/>
            </a:pPr>
            <a:r>
              <a:rPr lang="en-US" sz="1900" b="1" dirty="0">
                <a:solidFill>
                  <a:srgbClr val="123247"/>
                </a:solidFill>
              </a:rPr>
              <a:t>EXACT LOCATION</a:t>
            </a:r>
            <a:endParaRPr lang="en-US" sz="1900" dirty="0"/>
          </a:p>
        </p:txBody>
      </p:sp>
      <p:sp>
        <p:nvSpPr>
          <p:cNvPr id="15" name="Text 12"/>
          <p:cNvSpPr/>
          <p:nvPr/>
        </p:nvSpPr>
        <p:spPr>
          <a:xfrm>
            <a:off x="7498080" y="2331720"/>
            <a:ext cx="3383280" cy="365760"/>
          </a:xfrm>
          <a:prstGeom prst="rect">
            <a:avLst/>
          </a:prstGeom>
          <a:noFill/>
          <a:ln/>
        </p:spPr>
        <p:txBody>
          <a:bodyPr wrap="square" lIns="0" tIns="0" rIns="0" bIns="0" rtlCol="0" anchor="ctr"/>
          <a:lstStyle/>
          <a:p>
            <a:pPr indent="0" marL="0">
              <a:buNone/>
            </a:pPr>
            <a:r>
              <a:rPr lang="en-US" sz="1700" dirty="0">
                <a:solidFill>
                  <a:srgbClr val="16303D"/>
                </a:solidFill>
              </a:rPr>
              <a:t>Where did it physically go?</a:t>
            </a:r>
            <a:endParaRPr lang="en-US" sz="1700" dirty="0"/>
          </a:p>
        </p:txBody>
      </p:sp>
      <p:sp>
        <p:nvSpPr>
          <p:cNvPr id="16" name="Text 13"/>
          <p:cNvSpPr/>
          <p:nvPr/>
        </p:nvSpPr>
        <p:spPr>
          <a:xfrm>
            <a:off x="1005840" y="3703320"/>
            <a:ext cx="10149840" cy="141732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16303D"/>
                </a:solidFill>
                <a:latin typeface="Aptos" pitchFamily="34" charset="0"/>
                <a:ea typeface="Aptos" pitchFamily="34" charset="-122"/>
                <a:cs typeface="Aptos" pitchFamily="34" charset="-120"/>
              </a:rPr>
              <a:t>A bay code opens the grid; it is not the final cell</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Check physical capacity, safety, and temperature</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Confirm once, then verify the task cleared</a:t>
            </a:r>
            <a:endParaRPr lang="en-US" sz="1700" dirty="0"/>
          </a:p>
        </p:txBody>
      </p:sp>
      <p:sp>
        <p:nvSpPr>
          <p:cNvPr id="17" name="Text 14"/>
          <p:cNvSpPr/>
          <p:nvPr/>
        </p:nvSpPr>
        <p:spPr>
          <a:xfrm>
            <a:off x="914400" y="5715000"/>
            <a:ext cx="10241280" cy="320040"/>
          </a:xfrm>
          <a:prstGeom prst="rect">
            <a:avLst/>
          </a:prstGeom>
          <a:noFill/>
          <a:ln/>
        </p:spPr>
        <p:txBody>
          <a:bodyPr wrap="square" lIns="0" tIns="0" rIns="0" bIns="0" rtlCol="0" anchor="ctr"/>
          <a:lstStyle/>
          <a:p>
            <a:pPr algn="ctr" indent="0" marL="0">
              <a:buNone/>
            </a:pPr>
            <a:r>
              <a:rPr lang="en-US" sz="1600" b="1" dirty="0">
                <a:solidFill>
                  <a:srgbClr val="C93C3C"/>
                </a:solidFill>
              </a:rPr>
              <a:t>STOP: inactive, full, blocked, unsafe, or temperature-incompatible cell.</a:t>
            </a:r>
            <a:endParaRPr lang="en-US" sz="16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Inventory Search is the truth check</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9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4709160" y="2148840"/>
            <a:ext cx="2788920" cy="1600200"/>
          </a:xfrm>
          <a:prstGeom prst="ellipse">
            <a:avLst/>
          </a:prstGeom>
          <a:solidFill>
            <a:srgbClr val="123247"/>
          </a:solidFill>
          <a:ln w="38100">
            <a:solidFill>
              <a:srgbClr val="0F9D96"/>
            </a:solidFill>
            <a:prstDash val="solid"/>
          </a:ln>
        </p:spPr>
      </p:sp>
      <p:sp>
        <p:nvSpPr>
          <p:cNvPr id="9" name="Text 6"/>
          <p:cNvSpPr/>
          <p:nvPr/>
        </p:nvSpPr>
        <p:spPr>
          <a:xfrm>
            <a:off x="4937760" y="2761488"/>
            <a:ext cx="2331720" cy="274320"/>
          </a:xfrm>
          <a:prstGeom prst="rect">
            <a:avLst/>
          </a:prstGeom>
          <a:noFill/>
          <a:ln/>
        </p:spPr>
        <p:txBody>
          <a:bodyPr wrap="square" lIns="0" tIns="0" rIns="0" bIns="0" rtlCol="0" anchor="ctr"/>
          <a:lstStyle/>
          <a:p>
            <a:pPr algn="ctr" indent="0" marL="0">
              <a:buNone/>
            </a:pPr>
            <a:r>
              <a:rPr lang="en-US" sz="1900" b="1" dirty="0">
                <a:solidFill>
                  <a:srgbClr val="FFFFFF"/>
                </a:solidFill>
              </a:rPr>
              <a:t>PALLET RECORD</a:t>
            </a:r>
            <a:endParaRPr lang="en-US" sz="1900" dirty="0"/>
          </a:p>
        </p:txBody>
      </p:sp>
      <p:sp>
        <p:nvSpPr>
          <p:cNvPr id="10" name="Shape 7"/>
          <p:cNvSpPr/>
          <p:nvPr/>
        </p:nvSpPr>
        <p:spPr>
          <a:xfrm>
            <a:off x="914400" y="1508760"/>
            <a:ext cx="2743200" cy="777240"/>
          </a:xfrm>
          <a:prstGeom prst="roundRect">
            <a:avLst>
              <a:gd name="adj" fmla="val 5882"/>
            </a:avLst>
          </a:prstGeom>
          <a:solidFill>
            <a:srgbClr val="FFFFFF"/>
          </a:solidFill>
          <a:ln w="12700">
            <a:solidFill>
              <a:srgbClr val="D7E2E6"/>
            </a:solidFill>
            <a:prstDash val="solid"/>
          </a:ln>
        </p:spPr>
      </p:sp>
      <p:sp>
        <p:nvSpPr>
          <p:cNvPr id="11" name="Text 8"/>
          <p:cNvSpPr/>
          <p:nvPr/>
        </p:nvSpPr>
        <p:spPr>
          <a:xfrm>
            <a:off x="1024128" y="176479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Quantity</a:t>
            </a:r>
            <a:endParaRPr lang="en-US" sz="1500" dirty="0"/>
          </a:p>
        </p:txBody>
      </p:sp>
      <p:sp>
        <p:nvSpPr>
          <p:cNvPr id="12" name="Shape 9"/>
          <p:cNvSpPr/>
          <p:nvPr/>
        </p:nvSpPr>
        <p:spPr>
          <a:xfrm>
            <a:off x="4526280" y="1234440"/>
            <a:ext cx="2743200" cy="777240"/>
          </a:xfrm>
          <a:prstGeom prst="roundRect">
            <a:avLst>
              <a:gd name="adj" fmla="val 5882"/>
            </a:avLst>
          </a:prstGeom>
          <a:solidFill>
            <a:srgbClr val="EFF7F7"/>
          </a:solidFill>
          <a:ln w="12700">
            <a:solidFill>
              <a:srgbClr val="D7E2E6"/>
            </a:solidFill>
            <a:prstDash val="solid"/>
          </a:ln>
        </p:spPr>
      </p:sp>
      <p:sp>
        <p:nvSpPr>
          <p:cNvPr id="13" name="Text 10"/>
          <p:cNvSpPr/>
          <p:nvPr/>
        </p:nvSpPr>
        <p:spPr>
          <a:xfrm>
            <a:off x="4636008" y="149047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Status</a:t>
            </a:r>
            <a:endParaRPr lang="en-US" sz="1500" dirty="0"/>
          </a:p>
        </p:txBody>
      </p:sp>
      <p:sp>
        <p:nvSpPr>
          <p:cNvPr id="14" name="Shape 11"/>
          <p:cNvSpPr/>
          <p:nvPr/>
        </p:nvSpPr>
        <p:spPr>
          <a:xfrm>
            <a:off x="8549640" y="1508760"/>
            <a:ext cx="2743200" cy="777240"/>
          </a:xfrm>
          <a:prstGeom prst="roundRect">
            <a:avLst>
              <a:gd name="adj" fmla="val 5882"/>
            </a:avLst>
          </a:prstGeom>
          <a:solidFill>
            <a:srgbClr val="FFFFFF"/>
          </a:solidFill>
          <a:ln w="12700">
            <a:solidFill>
              <a:srgbClr val="D7E2E6"/>
            </a:solidFill>
            <a:prstDash val="solid"/>
          </a:ln>
        </p:spPr>
      </p:sp>
      <p:sp>
        <p:nvSpPr>
          <p:cNvPr id="15" name="Text 12"/>
          <p:cNvSpPr/>
          <p:nvPr/>
        </p:nvSpPr>
        <p:spPr>
          <a:xfrm>
            <a:off x="8659368" y="176479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Owner</a:t>
            </a:r>
            <a:endParaRPr lang="en-US" sz="1500" dirty="0"/>
          </a:p>
        </p:txBody>
      </p:sp>
      <p:sp>
        <p:nvSpPr>
          <p:cNvPr id="16" name="Shape 13"/>
          <p:cNvSpPr/>
          <p:nvPr/>
        </p:nvSpPr>
        <p:spPr>
          <a:xfrm>
            <a:off x="914400" y="4160520"/>
            <a:ext cx="2743200" cy="777240"/>
          </a:xfrm>
          <a:prstGeom prst="roundRect">
            <a:avLst>
              <a:gd name="adj" fmla="val 5882"/>
            </a:avLst>
          </a:prstGeom>
          <a:solidFill>
            <a:srgbClr val="EFF7F7"/>
          </a:solidFill>
          <a:ln w="12700">
            <a:solidFill>
              <a:srgbClr val="D7E2E6"/>
            </a:solidFill>
            <a:prstDash val="solid"/>
          </a:ln>
        </p:spPr>
      </p:sp>
      <p:sp>
        <p:nvSpPr>
          <p:cNvPr id="17" name="Text 14"/>
          <p:cNvSpPr/>
          <p:nvPr/>
        </p:nvSpPr>
        <p:spPr>
          <a:xfrm>
            <a:off x="1024128" y="441655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Lot / expiry</a:t>
            </a:r>
            <a:endParaRPr lang="en-US" sz="1500" dirty="0"/>
          </a:p>
        </p:txBody>
      </p:sp>
      <p:sp>
        <p:nvSpPr>
          <p:cNvPr id="18" name="Shape 15"/>
          <p:cNvSpPr/>
          <p:nvPr/>
        </p:nvSpPr>
        <p:spPr>
          <a:xfrm>
            <a:off x="4526280" y="4480560"/>
            <a:ext cx="2743200" cy="777240"/>
          </a:xfrm>
          <a:prstGeom prst="roundRect">
            <a:avLst>
              <a:gd name="adj" fmla="val 5882"/>
            </a:avLst>
          </a:prstGeom>
          <a:solidFill>
            <a:srgbClr val="FFFFFF"/>
          </a:solidFill>
          <a:ln w="12700">
            <a:solidFill>
              <a:srgbClr val="D7E2E6"/>
            </a:solidFill>
            <a:prstDash val="solid"/>
          </a:ln>
        </p:spPr>
      </p:sp>
      <p:sp>
        <p:nvSpPr>
          <p:cNvPr id="19" name="Text 16"/>
          <p:cNvSpPr/>
          <p:nvPr/>
        </p:nvSpPr>
        <p:spPr>
          <a:xfrm>
            <a:off x="4636008" y="473659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Exact location</a:t>
            </a:r>
            <a:endParaRPr lang="en-US" sz="1500" dirty="0"/>
          </a:p>
        </p:txBody>
      </p:sp>
      <p:sp>
        <p:nvSpPr>
          <p:cNvPr id="20" name="Shape 17"/>
          <p:cNvSpPr/>
          <p:nvPr/>
        </p:nvSpPr>
        <p:spPr>
          <a:xfrm>
            <a:off x="8549640" y="4160520"/>
            <a:ext cx="2743200" cy="777240"/>
          </a:xfrm>
          <a:prstGeom prst="roundRect">
            <a:avLst>
              <a:gd name="adj" fmla="val 5882"/>
            </a:avLst>
          </a:prstGeom>
          <a:solidFill>
            <a:srgbClr val="EFF7F7"/>
          </a:solidFill>
          <a:ln w="12700">
            <a:solidFill>
              <a:srgbClr val="D7E2E6"/>
            </a:solidFill>
            <a:prstDash val="solid"/>
          </a:ln>
        </p:spPr>
      </p:sp>
      <p:sp>
        <p:nvSpPr>
          <p:cNvPr id="21" name="Text 18"/>
          <p:cNvSpPr/>
          <p:nvPr/>
        </p:nvSpPr>
        <p:spPr>
          <a:xfrm>
            <a:off x="8659368" y="4416552"/>
            <a:ext cx="2523744" cy="201168"/>
          </a:xfrm>
          <a:prstGeom prst="rect">
            <a:avLst/>
          </a:prstGeom>
          <a:noFill/>
          <a:ln/>
        </p:spPr>
        <p:txBody>
          <a:bodyPr wrap="square" lIns="0" tIns="0" rIns="0" bIns="0" rtlCol="0" anchor="ctr"/>
          <a:lstStyle/>
          <a:p>
            <a:pPr algn="ctr" indent="0" marL="0">
              <a:buNone/>
            </a:pPr>
            <a:r>
              <a:rPr lang="en-US" sz="1500" b="1" dirty="0">
                <a:solidFill>
                  <a:srgbClr val="16303D"/>
                </a:solidFill>
              </a:rPr>
              <a:t>Movement history</a:t>
            </a:r>
            <a:endParaRPr lang="en-US" sz="1500" dirty="0"/>
          </a:p>
        </p:txBody>
      </p:sp>
      <p:sp>
        <p:nvSpPr>
          <p:cNvPr id="22" name="Text 19"/>
          <p:cNvSpPr/>
          <p:nvPr/>
        </p:nvSpPr>
        <p:spPr>
          <a:xfrm>
            <a:off x="914400" y="5806440"/>
            <a:ext cx="10332720" cy="274320"/>
          </a:xfrm>
          <a:prstGeom prst="rect">
            <a:avLst/>
          </a:prstGeom>
          <a:noFill/>
          <a:ln/>
        </p:spPr>
        <p:txBody>
          <a:bodyPr wrap="square" lIns="0" tIns="0" rIns="0" bIns="0" rtlCol="0" anchor="ctr"/>
          <a:lstStyle/>
          <a:p>
            <a:pPr algn="ctr" indent="0" marL="0">
              <a:buNone/>
            </a:pPr>
            <a:r>
              <a:rPr lang="en-US" sz="1400" i="1" dirty="0">
                <a:solidFill>
                  <a:srgbClr val="087B76"/>
                </a:solidFill>
              </a:rPr>
              <a:t>Use it before substitution, correction, status change, transfer, or variance resolution.</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Manager gate: release only work the floor can finish</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10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4 min</a:t>
            </a:r>
            <a:endParaRPr lang="en-US" sz="800" dirty="0"/>
          </a:p>
        </p:txBody>
      </p:sp>
      <p:sp>
        <p:nvSpPr>
          <p:cNvPr id="8" name="Shape 5"/>
          <p:cNvSpPr/>
          <p:nvPr/>
        </p:nvSpPr>
        <p:spPr>
          <a:xfrm>
            <a:off x="502920" y="1508760"/>
            <a:ext cx="1691640" cy="1508760"/>
          </a:xfrm>
          <a:prstGeom prst="hexagon">
            <a:avLst/>
          </a:prstGeom>
          <a:solidFill>
            <a:srgbClr val="FFFFFF"/>
          </a:solidFill>
          <a:ln w="19050">
            <a:solidFill>
              <a:srgbClr val="0F9D96"/>
            </a:solidFill>
            <a:prstDash val="solid"/>
          </a:ln>
        </p:spPr>
      </p:sp>
      <p:sp>
        <p:nvSpPr>
          <p:cNvPr id="9" name="Text 6"/>
          <p:cNvSpPr/>
          <p:nvPr/>
        </p:nvSpPr>
        <p:spPr>
          <a:xfrm>
            <a:off x="704088" y="1965960"/>
            <a:ext cx="128016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Correct warehouse + order</a:t>
            </a:r>
            <a:endParaRPr lang="en-US" sz="1300" dirty="0"/>
          </a:p>
        </p:txBody>
      </p:sp>
      <p:sp>
        <p:nvSpPr>
          <p:cNvPr id="10" name="Shape 7"/>
          <p:cNvSpPr/>
          <p:nvPr/>
        </p:nvSpPr>
        <p:spPr>
          <a:xfrm>
            <a:off x="2496312" y="1508760"/>
            <a:ext cx="1691640" cy="1508760"/>
          </a:xfrm>
          <a:prstGeom prst="hexagon">
            <a:avLst/>
          </a:prstGeom>
          <a:solidFill>
            <a:srgbClr val="EFF7F7"/>
          </a:solidFill>
          <a:ln w="19050">
            <a:solidFill>
              <a:srgbClr val="0F9D96"/>
            </a:solidFill>
            <a:prstDash val="solid"/>
          </a:ln>
        </p:spPr>
      </p:sp>
      <p:sp>
        <p:nvSpPr>
          <p:cNvPr id="11" name="Text 8"/>
          <p:cNvSpPr/>
          <p:nvPr/>
        </p:nvSpPr>
        <p:spPr>
          <a:xfrm>
            <a:off x="2697480" y="1965960"/>
            <a:ext cx="128016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Available eligible stock</a:t>
            </a:r>
            <a:endParaRPr lang="en-US" sz="1300" dirty="0"/>
          </a:p>
        </p:txBody>
      </p:sp>
      <p:sp>
        <p:nvSpPr>
          <p:cNvPr id="12" name="Shape 9"/>
          <p:cNvSpPr/>
          <p:nvPr/>
        </p:nvSpPr>
        <p:spPr>
          <a:xfrm>
            <a:off x="4489704" y="1508760"/>
            <a:ext cx="1691640" cy="1508760"/>
          </a:xfrm>
          <a:prstGeom prst="hexagon">
            <a:avLst/>
          </a:prstGeom>
          <a:solidFill>
            <a:srgbClr val="FFFFFF"/>
          </a:solidFill>
          <a:ln w="19050">
            <a:solidFill>
              <a:srgbClr val="0F9D96"/>
            </a:solidFill>
            <a:prstDash val="solid"/>
          </a:ln>
        </p:spPr>
      </p:sp>
      <p:sp>
        <p:nvSpPr>
          <p:cNvPr id="13" name="Text 10"/>
          <p:cNvSpPr/>
          <p:nvPr/>
        </p:nvSpPr>
        <p:spPr>
          <a:xfrm>
            <a:off x="4690872" y="1965960"/>
            <a:ext cx="128016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Whole-pallet plan</a:t>
            </a:r>
            <a:endParaRPr lang="en-US" sz="1300" dirty="0"/>
          </a:p>
        </p:txBody>
      </p:sp>
      <p:sp>
        <p:nvSpPr>
          <p:cNvPr id="14" name="Shape 11"/>
          <p:cNvSpPr/>
          <p:nvPr/>
        </p:nvSpPr>
        <p:spPr>
          <a:xfrm>
            <a:off x="6483096" y="1508760"/>
            <a:ext cx="1691640" cy="1508760"/>
          </a:xfrm>
          <a:prstGeom prst="hexagon">
            <a:avLst/>
          </a:prstGeom>
          <a:solidFill>
            <a:srgbClr val="EFF7F7"/>
          </a:solidFill>
          <a:ln w="19050">
            <a:solidFill>
              <a:srgbClr val="0F9D96"/>
            </a:solidFill>
            <a:prstDash val="solid"/>
          </a:ln>
        </p:spPr>
      </p:sp>
      <p:sp>
        <p:nvSpPr>
          <p:cNvPr id="15" name="Text 12"/>
          <p:cNvSpPr/>
          <p:nvPr/>
        </p:nvSpPr>
        <p:spPr>
          <a:xfrm>
            <a:off x="6684264" y="1965960"/>
            <a:ext cx="128016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Staging capacity</a:t>
            </a:r>
            <a:endParaRPr lang="en-US" sz="1300" dirty="0"/>
          </a:p>
        </p:txBody>
      </p:sp>
      <p:sp>
        <p:nvSpPr>
          <p:cNvPr id="16" name="Shape 13"/>
          <p:cNvSpPr/>
          <p:nvPr/>
        </p:nvSpPr>
        <p:spPr>
          <a:xfrm>
            <a:off x="8476488" y="1508760"/>
            <a:ext cx="1691640" cy="1508760"/>
          </a:xfrm>
          <a:prstGeom prst="hexagon">
            <a:avLst/>
          </a:prstGeom>
          <a:solidFill>
            <a:srgbClr val="FFFFFF"/>
          </a:solidFill>
          <a:ln w="19050">
            <a:solidFill>
              <a:srgbClr val="0F9D96"/>
            </a:solidFill>
            <a:prstDash val="solid"/>
          </a:ln>
        </p:spPr>
      </p:sp>
      <p:sp>
        <p:nvSpPr>
          <p:cNvPr id="17" name="Text 14"/>
          <p:cNvSpPr/>
          <p:nvPr/>
        </p:nvSpPr>
        <p:spPr>
          <a:xfrm>
            <a:off x="8677656" y="1965960"/>
            <a:ext cx="1280160" cy="50292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Owner + due time</a:t>
            </a:r>
            <a:endParaRPr lang="en-US" sz="1300" dirty="0"/>
          </a:p>
        </p:txBody>
      </p:sp>
      <p:sp>
        <p:nvSpPr>
          <p:cNvPr id="18" name="Shape 15"/>
          <p:cNvSpPr/>
          <p:nvPr/>
        </p:nvSpPr>
        <p:spPr>
          <a:xfrm>
            <a:off x="5321808" y="3337560"/>
            <a:ext cx="1508760" cy="822960"/>
          </a:xfrm>
          <a:prstGeom prst="downArrow">
            <a:avLst/>
          </a:prstGeom>
          <a:solidFill>
            <a:srgbClr val="FFC928"/>
          </a:solidFill>
          <a:ln w="12700">
            <a:solidFill>
              <a:srgbClr val="FFC928"/>
            </a:solidFill>
            <a:prstDash val="solid"/>
          </a:ln>
        </p:spPr>
      </p:sp>
      <p:sp>
        <p:nvSpPr>
          <p:cNvPr id="19" name="Shape 16"/>
          <p:cNvSpPr/>
          <p:nvPr/>
        </p:nvSpPr>
        <p:spPr>
          <a:xfrm>
            <a:off x="3474720" y="4251960"/>
            <a:ext cx="5257800" cy="914400"/>
          </a:xfrm>
          <a:prstGeom prst="roundRect">
            <a:avLst>
              <a:gd name="adj" fmla="val 8000"/>
            </a:avLst>
          </a:prstGeom>
          <a:solidFill>
            <a:srgbClr val="2F8F5B"/>
          </a:solidFill>
          <a:ln w="12700">
            <a:solidFill>
              <a:srgbClr val="2F8F5B"/>
            </a:solidFill>
            <a:prstDash val="solid"/>
          </a:ln>
        </p:spPr>
      </p:sp>
      <p:sp>
        <p:nvSpPr>
          <p:cNvPr id="20" name="Text 17"/>
          <p:cNvSpPr/>
          <p:nvPr/>
        </p:nvSpPr>
        <p:spPr>
          <a:xfrm>
            <a:off x="3749040" y="4553712"/>
            <a:ext cx="4709160" cy="292608"/>
          </a:xfrm>
          <a:prstGeom prst="rect">
            <a:avLst/>
          </a:prstGeom>
          <a:noFill/>
          <a:ln/>
        </p:spPr>
        <p:txBody>
          <a:bodyPr wrap="square" lIns="0" tIns="0" rIns="0" bIns="0" rtlCol="0" anchor="ctr"/>
          <a:lstStyle/>
          <a:p>
            <a:pPr algn="ctr" indent="0" marL="0">
              <a:buNone/>
            </a:pPr>
            <a:r>
              <a:rPr lang="en-US" sz="2200" b="1" dirty="0">
                <a:solidFill>
                  <a:srgbClr val="FFFFFF"/>
                </a:solidFill>
              </a:rPr>
              <a:t>RELEASE PICK LIST</a:t>
            </a:r>
            <a:endParaRPr lang="en-US" sz="2200" dirty="0"/>
          </a:p>
        </p:txBody>
      </p:sp>
      <p:sp>
        <p:nvSpPr>
          <p:cNvPr id="21" name="Text 18"/>
          <p:cNvSpPr/>
          <p:nvPr/>
        </p:nvSpPr>
        <p:spPr>
          <a:xfrm>
            <a:off x="2011680" y="5650992"/>
            <a:ext cx="8183880" cy="320040"/>
          </a:xfrm>
          <a:prstGeom prst="rect">
            <a:avLst/>
          </a:prstGeom>
          <a:noFill/>
          <a:ln/>
        </p:spPr>
        <p:txBody>
          <a:bodyPr wrap="square" lIns="0" tIns="0" rIns="0" bIns="0" rtlCol="0" anchor="ctr"/>
          <a:lstStyle/>
          <a:p>
            <a:pPr algn="ctr" indent="0" marL="0">
              <a:buNone/>
            </a:pPr>
            <a:r>
              <a:rPr lang="en-US" sz="1600" b="1" dirty="0">
                <a:solidFill>
                  <a:srgbClr val="C93C3C"/>
                </a:solidFill>
              </a:rPr>
              <a:t>Shortfall or split required? Replan before release.</a:t>
            </a:r>
            <a:endParaRPr lang="en-US" sz="16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Pick Execution: location first, pallet second</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11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713232" y="1234440"/>
            <a:ext cx="566928" cy="566928"/>
          </a:xfrm>
          <a:prstGeom prst="ellipse">
            <a:avLst/>
          </a:prstGeom>
          <a:solidFill>
            <a:srgbClr val="0F9D96"/>
          </a:solidFill>
          <a:ln w="19050">
            <a:solidFill>
              <a:srgbClr val="FFFFFF"/>
            </a:solidFill>
            <a:prstDash val="solid"/>
          </a:ln>
        </p:spPr>
      </p:sp>
      <p:sp>
        <p:nvSpPr>
          <p:cNvPr id="9" name="Text 6"/>
          <p:cNvSpPr/>
          <p:nvPr/>
        </p:nvSpPr>
        <p:spPr>
          <a:xfrm>
            <a:off x="713232" y="1399032"/>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p:nvPr/>
        </p:nvSpPr>
        <p:spPr>
          <a:xfrm>
            <a:off x="1481328" y="1280160"/>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TRAVEL</a:t>
            </a:r>
            <a:endParaRPr lang="en-US" sz="1400" dirty="0"/>
          </a:p>
        </p:txBody>
      </p:sp>
      <p:sp>
        <p:nvSpPr>
          <p:cNvPr id="11" name="Text 8"/>
          <p:cNvSpPr/>
          <p:nvPr/>
        </p:nvSpPr>
        <p:spPr>
          <a:xfrm>
            <a:off x="3429000" y="1252728"/>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Read rack · aisle · bay · level</a:t>
            </a:r>
            <a:endParaRPr lang="en-US" sz="1800" dirty="0"/>
          </a:p>
        </p:txBody>
      </p:sp>
      <p:sp>
        <p:nvSpPr>
          <p:cNvPr id="12" name="Shape 9"/>
          <p:cNvSpPr/>
          <p:nvPr/>
        </p:nvSpPr>
        <p:spPr>
          <a:xfrm>
            <a:off x="996696" y="1792224"/>
            <a:ext cx="0" cy="283464"/>
          </a:xfrm>
          <a:prstGeom prst="line">
            <a:avLst/>
          </a:prstGeom>
          <a:noFill/>
          <a:ln w="25400">
            <a:solidFill>
              <a:srgbClr val="D7E2E6"/>
            </a:solidFill>
            <a:prstDash val="solid"/>
          </a:ln>
        </p:spPr>
      </p:sp>
      <p:sp>
        <p:nvSpPr>
          <p:cNvPr id="13" name="Shape 10"/>
          <p:cNvSpPr/>
          <p:nvPr/>
        </p:nvSpPr>
        <p:spPr>
          <a:xfrm>
            <a:off x="713232" y="2075688"/>
            <a:ext cx="566928" cy="566928"/>
          </a:xfrm>
          <a:prstGeom prst="ellipse">
            <a:avLst/>
          </a:prstGeom>
          <a:solidFill>
            <a:srgbClr val="0F9D96"/>
          </a:solidFill>
          <a:ln w="19050">
            <a:solidFill>
              <a:srgbClr val="FFFFFF"/>
            </a:solidFill>
            <a:prstDash val="solid"/>
          </a:ln>
        </p:spPr>
      </p:sp>
      <p:sp>
        <p:nvSpPr>
          <p:cNvPr id="14" name="Text 11"/>
          <p:cNvSpPr/>
          <p:nvPr/>
        </p:nvSpPr>
        <p:spPr>
          <a:xfrm>
            <a:off x="713232" y="2240280"/>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2"/>
          <p:cNvSpPr/>
          <p:nvPr/>
        </p:nvSpPr>
        <p:spPr>
          <a:xfrm>
            <a:off x="1481328" y="2121408"/>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LOCATION</a:t>
            </a:r>
            <a:endParaRPr lang="en-US" sz="1400" dirty="0"/>
          </a:p>
        </p:txBody>
      </p:sp>
      <p:sp>
        <p:nvSpPr>
          <p:cNvPr id="16" name="Text 13"/>
          <p:cNvSpPr/>
          <p:nvPr/>
        </p:nvSpPr>
        <p:spPr>
          <a:xfrm>
            <a:off x="3429000" y="2093976"/>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Scan exact cell or select assigned bay cell</a:t>
            </a:r>
            <a:endParaRPr lang="en-US" sz="1800" dirty="0"/>
          </a:p>
        </p:txBody>
      </p:sp>
      <p:sp>
        <p:nvSpPr>
          <p:cNvPr id="17" name="Shape 14"/>
          <p:cNvSpPr/>
          <p:nvPr/>
        </p:nvSpPr>
        <p:spPr>
          <a:xfrm>
            <a:off x="996696" y="2633472"/>
            <a:ext cx="0" cy="283464"/>
          </a:xfrm>
          <a:prstGeom prst="line">
            <a:avLst/>
          </a:prstGeom>
          <a:noFill/>
          <a:ln w="25400">
            <a:solidFill>
              <a:srgbClr val="D7E2E6"/>
            </a:solidFill>
            <a:prstDash val="solid"/>
          </a:ln>
        </p:spPr>
      </p:sp>
      <p:sp>
        <p:nvSpPr>
          <p:cNvPr id="18" name="Shape 15"/>
          <p:cNvSpPr/>
          <p:nvPr/>
        </p:nvSpPr>
        <p:spPr>
          <a:xfrm>
            <a:off x="713232" y="2916936"/>
            <a:ext cx="566928" cy="566928"/>
          </a:xfrm>
          <a:prstGeom prst="ellipse">
            <a:avLst/>
          </a:prstGeom>
          <a:solidFill>
            <a:srgbClr val="0F9D96"/>
          </a:solidFill>
          <a:ln w="19050">
            <a:solidFill>
              <a:srgbClr val="FFFFFF"/>
            </a:solidFill>
            <a:prstDash val="solid"/>
          </a:ln>
        </p:spPr>
      </p:sp>
      <p:sp>
        <p:nvSpPr>
          <p:cNvPr id="19" name="Text 16"/>
          <p:cNvSpPr/>
          <p:nvPr/>
        </p:nvSpPr>
        <p:spPr>
          <a:xfrm>
            <a:off x="713232" y="3081528"/>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p:nvPr/>
        </p:nvSpPr>
        <p:spPr>
          <a:xfrm>
            <a:off x="1481328" y="2962656"/>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PALLET</a:t>
            </a:r>
            <a:endParaRPr lang="en-US" sz="1400" dirty="0"/>
          </a:p>
        </p:txBody>
      </p:sp>
      <p:sp>
        <p:nvSpPr>
          <p:cNvPr id="21" name="Text 18"/>
          <p:cNvSpPr/>
          <p:nvPr/>
        </p:nvSpPr>
        <p:spPr>
          <a:xfrm>
            <a:off x="3429000" y="2935224"/>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Verify condition + whole quantity; scan</a:t>
            </a:r>
            <a:endParaRPr lang="en-US" sz="1800" dirty="0"/>
          </a:p>
        </p:txBody>
      </p:sp>
      <p:sp>
        <p:nvSpPr>
          <p:cNvPr id="22" name="Shape 19"/>
          <p:cNvSpPr/>
          <p:nvPr/>
        </p:nvSpPr>
        <p:spPr>
          <a:xfrm>
            <a:off x="996696" y="3474720"/>
            <a:ext cx="0" cy="283464"/>
          </a:xfrm>
          <a:prstGeom prst="line">
            <a:avLst/>
          </a:prstGeom>
          <a:noFill/>
          <a:ln w="25400">
            <a:solidFill>
              <a:srgbClr val="D7E2E6"/>
            </a:solidFill>
            <a:prstDash val="solid"/>
          </a:ln>
        </p:spPr>
      </p:sp>
      <p:sp>
        <p:nvSpPr>
          <p:cNvPr id="23" name="Shape 20"/>
          <p:cNvSpPr/>
          <p:nvPr/>
        </p:nvSpPr>
        <p:spPr>
          <a:xfrm>
            <a:off x="713232" y="3758184"/>
            <a:ext cx="566928" cy="566928"/>
          </a:xfrm>
          <a:prstGeom prst="ellipse">
            <a:avLst/>
          </a:prstGeom>
          <a:solidFill>
            <a:srgbClr val="0F9D96"/>
          </a:solidFill>
          <a:ln w="19050">
            <a:solidFill>
              <a:srgbClr val="FFFFFF"/>
            </a:solidFill>
            <a:prstDash val="solid"/>
          </a:ln>
        </p:spPr>
      </p:sp>
      <p:sp>
        <p:nvSpPr>
          <p:cNvPr id="24" name="Text 21"/>
          <p:cNvSpPr/>
          <p:nvPr/>
        </p:nvSpPr>
        <p:spPr>
          <a:xfrm>
            <a:off x="713232" y="3922776"/>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2"/>
          <p:cNvSpPr/>
          <p:nvPr/>
        </p:nvSpPr>
        <p:spPr>
          <a:xfrm>
            <a:off x="1481328" y="3803904"/>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CONFIRM</a:t>
            </a:r>
            <a:endParaRPr lang="en-US" sz="1400" dirty="0"/>
          </a:p>
        </p:txBody>
      </p:sp>
      <p:sp>
        <p:nvSpPr>
          <p:cNvPr id="26" name="Text 23"/>
          <p:cNvSpPr/>
          <p:nvPr/>
        </p:nvSpPr>
        <p:spPr>
          <a:xfrm>
            <a:off x="3429000" y="3776472"/>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Use the highlighted Confirm pick</a:t>
            </a:r>
            <a:endParaRPr lang="en-US" sz="1800" dirty="0"/>
          </a:p>
        </p:txBody>
      </p:sp>
      <p:sp>
        <p:nvSpPr>
          <p:cNvPr id="27" name="Shape 24"/>
          <p:cNvSpPr/>
          <p:nvPr/>
        </p:nvSpPr>
        <p:spPr>
          <a:xfrm>
            <a:off x="996696" y="4315968"/>
            <a:ext cx="0" cy="283464"/>
          </a:xfrm>
          <a:prstGeom prst="line">
            <a:avLst/>
          </a:prstGeom>
          <a:noFill/>
          <a:ln w="25400">
            <a:solidFill>
              <a:srgbClr val="D7E2E6"/>
            </a:solidFill>
            <a:prstDash val="solid"/>
          </a:ln>
        </p:spPr>
      </p:sp>
      <p:sp>
        <p:nvSpPr>
          <p:cNvPr id="28" name="Shape 25"/>
          <p:cNvSpPr/>
          <p:nvPr/>
        </p:nvSpPr>
        <p:spPr>
          <a:xfrm>
            <a:off x="713232" y="4599432"/>
            <a:ext cx="566928" cy="566928"/>
          </a:xfrm>
          <a:prstGeom prst="ellipse">
            <a:avLst/>
          </a:prstGeom>
          <a:solidFill>
            <a:srgbClr val="F47C20"/>
          </a:solidFill>
          <a:ln w="19050">
            <a:solidFill>
              <a:srgbClr val="FFFFFF"/>
            </a:solidFill>
            <a:prstDash val="solid"/>
          </a:ln>
        </p:spPr>
      </p:sp>
      <p:sp>
        <p:nvSpPr>
          <p:cNvPr id="29" name="Text 26"/>
          <p:cNvSpPr/>
          <p:nvPr/>
        </p:nvSpPr>
        <p:spPr>
          <a:xfrm>
            <a:off x="713232" y="4764024"/>
            <a:ext cx="566928" cy="18288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7"/>
          <p:cNvSpPr/>
          <p:nvPr/>
        </p:nvSpPr>
        <p:spPr>
          <a:xfrm>
            <a:off x="1481328" y="4645152"/>
            <a:ext cx="1965960" cy="256032"/>
          </a:xfrm>
          <a:prstGeom prst="rect">
            <a:avLst/>
          </a:prstGeom>
          <a:noFill/>
          <a:ln/>
        </p:spPr>
        <p:txBody>
          <a:bodyPr wrap="square" lIns="0" tIns="0" rIns="0" bIns="0" rtlCol="0" anchor="ctr"/>
          <a:lstStyle/>
          <a:p>
            <a:pPr indent="0" marL="0">
              <a:buNone/>
            </a:pPr>
            <a:r>
              <a:rPr lang="en-US" sz="1400" b="1" dirty="0">
                <a:solidFill>
                  <a:srgbClr val="087B76"/>
                </a:solidFill>
              </a:rPr>
              <a:t>STAGE</a:t>
            </a:r>
            <a:endParaRPr lang="en-US" sz="1400" dirty="0"/>
          </a:p>
        </p:txBody>
      </p:sp>
      <p:sp>
        <p:nvSpPr>
          <p:cNvPr id="31" name="Text 28"/>
          <p:cNvSpPr/>
          <p:nvPr/>
        </p:nvSpPr>
        <p:spPr>
          <a:xfrm>
            <a:off x="3429000" y="4617720"/>
            <a:ext cx="7589520" cy="320040"/>
          </a:xfrm>
          <a:prstGeom prst="rect">
            <a:avLst/>
          </a:prstGeom>
          <a:noFill/>
          <a:ln/>
        </p:spPr>
        <p:txBody>
          <a:bodyPr wrap="square" lIns="0" tIns="0" rIns="0" bIns="0" rtlCol="0" anchor="ctr">
            <a:normAutofit/>
          </a:bodyPr>
          <a:lstStyle/>
          <a:p>
            <a:pPr indent="0" marL="0">
              <a:buNone/>
            </a:pPr>
            <a:r>
              <a:rPr lang="en-US" sz="1800" dirty="0">
                <a:solidFill>
                  <a:srgbClr val="16303D"/>
                </a:solidFill>
              </a:rPr>
              <a:t>Move to directed outbound lane</a:t>
            </a:r>
            <a:endParaRPr lang="en-US" sz="1800" dirty="0"/>
          </a:p>
        </p:txBody>
      </p:sp>
      <p:sp>
        <p:nvSpPr>
          <p:cNvPr id="32" name="Shape 29"/>
          <p:cNvSpPr/>
          <p:nvPr/>
        </p:nvSpPr>
        <p:spPr>
          <a:xfrm>
            <a:off x="1325880" y="5669280"/>
            <a:ext cx="9646920" cy="502920"/>
          </a:xfrm>
          <a:prstGeom prst="roundRect">
            <a:avLst>
              <a:gd name="adj" fmla="val 7273"/>
            </a:avLst>
          </a:prstGeom>
          <a:solidFill>
            <a:srgbClr val="FFF3DF"/>
          </a:solidFill>
          <a:ln w="12700">
            <a:solidFill>
              <a:srgbClr val="FFC928"/>
            </a:solidFill>
            <a:prstDash val="solid"/>
          </a:ln>
        </p:spPr>
      </p:sp>
      <p:sp>
        <p:nvSpPr>
          <p:cNvPr id="33" name="Text 30"/>
          <p:cNvSpPr/>
          <p:nvPr/>
        </p:nvSpPr>
        <p:spPr>
          <a:xfrm>
            <a:off x="1572768" y="5815584"/>
            <a:ext cx="9144000" cy="201168"/>
          </a:xfrm>
          <a:prstGeom prst="rect">
            <a:avLst/>
          </a:prstGeom>
          <a:noFill/>
          <a:ln/>
        </p:spPr>
        <p:txBody>
          <a:bodyPr wrap="square" lIns="0" tIns="0" rIns="0" bIns="0" rtlCol="0" anchor="ctr">
            <a:normAutofit/>
          </a:bodyPr>
          <a:lstStyle/>
          <a:p>
            <a:pPr algn="ctr" indent="0" marL="0">
              <a:buNone/>
            </a:pPr>
            <a:r>
              <a:rPr lang="en-US" sz="1400" b="1" dirty="0">
                <a:solidFill>
                  <a:srgbClr val="123247"/>
                </a:solidFill>
              </a:rPr>
              <a:t>One pallet = one task. Confirm the whole assigned pallet or stop.</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434"/>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When something looks wrong, pause before it becomes tomorrow’s problem</a:t>
            </a:r>
            <a:endParaRPr lang="en-US" sz="2400" dirty="0"/>
          </a:p>
        </p:txBody>
      </p:sp>
      <p:sp>
        <p:nvSpPr>
          <p:cNvPr id="5" name="Shape 2"/>
          <p:cNvSpPr/>
          <p:nvPr/>
        </p:nvSpPr>
        <p:spPr>
          <a:xfrm>
            <a:off x="530352" y="950976"/>
            <a:ext cx="10972800" cy="0"/>
          </a:xfrm>
          <a:prstGeom prst="line">
            <a:avLst/>
          </a:prstGeom>
          <a:noFill/>
          <a:ln w="12700">
            <a:solidFill>
              <a:srgbClr val="315064"/>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12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5 min</a:t>
            </a:r>
            <a:endParaRPr lang="en-US" sz="800" dirty="0"/>
          </a:p>
        </p:txBody>
      </p:sp>
      <p:sp>
        <p:nvSpPr>
          <p:cNvPr id="8" name="Shape 5"/>
          <p:cNvSpPr/>
          <p:nvPr/>
        </p:nvSpPr>
        <p:spPr>
          <a:xfrm>
            <a:off x="685800" y="1143000"/>
            <a:ext cx="2057400" cy="347472"/>
          </a:xfrm>
          <a:prstGeom prst="roundRect">
            <a:avLst>
              <a:gd name="adj" fmla="val 21053"/>
            </a:avLst>
          </a:prstGeom>
          <a:solidFill>
            <a:srgbClr val="C93C3C"/>
          </a:solidFill>
          <a:ln w="12700">
            <a:solidFill>
              <a:srgbClr val="C93C3C"/>
            </a:solidFill>
            <a:prstDash val="solid"/>
          </a:ln>
        </p:spPr>
      </p:sp>
      <p:sp>
        <p:nvSpPr>
          <p:cNvPr id="9" name="Text 6"/>
          <p:cNvSpPr/>
          <p:nvPr/>
        </p:nvSpPr>
        <p:spPr>
          <a:xfrm>
            <a:off x="740664" y="1197864"/>
            <a:ext cx="194767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ANDON / STOP THE LINE</a:t>
            </a:r>
            <a:endParaRPr lang="en-US" sz="900" dirty="0"/>
          </a:p>
        </p:txBody>
      </p:sp>
      <p:sp>
        <p:nvSpPr>
          <p:cNvPr id="10" name="Text 7"/>
          <p:cNvSpPr/>
          <p:nvPr/>
        </p:nvSpPr>
        <p:spPr>
          <a:xfrm>
            <a:off x="822960" y="1856232"/>
            <a:ext cx="411480" cy="274320"/>
          </a:xfrm>
          <a:prstGeom prst="rect">
            <a:avLst/>
          </a:prstGeom>
          <a:noFill/>
          <a:ln/>
        </p:spPr>
        <p:txBody>
          <a:bodyPr wrap="square" lIns="0" tIns="0" rIns="0" bIns="0" rtlCol="0" anchor="ctr"/>
          <a:lstStyle/>
          <a:p>
            <a:pPr algn="ctr" indent="0" marL="0">
              <a:buNone/>
            </a:pPr>
            <a:r>
              <a:rPr lang="en-US" sz="1800" b="1" dirty="0">
                <a:solidFill>
                  <a:srgbClr val="FFC928"/>
                </a:solidFill>
              </a:rPr>
              <a:t>1</a:t>
            </a:r>
            <a:endParaRPr lang="en-US" sz="1800" dirty="0"/>
          </a:p>
        </p:txBody>
      </p:sp>
      <p:sp>
        <p:nvSpPr>
          <p:cNvPr id="11" name="Text 8"/>
          <p:cNvSpPr/>
          <p:nvPr/>
        </p:nvSpPr>
        <p:spPr>
          <a:xfrm>
            <a:off x="1371600" y="1783080"/>
            <a:ext cx="4800600"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rPr>
              <a:t>KEEP THE PALLET SAFE</a:t>
            </a:r>
            <a:endParaRPr lang="en-US" sz="1800" dirty="0"/>
          </a:p>
        </p:txBody>
      </p:sp>
      <p:sp>
        <p:nvSpPr>
          <p:cNvPr id="12" name="Text 9"/>
          <p:cNvSpPr/>
          <p:nvPr/>
        </p:nvSpPr>
        <p:spPr>
          <a:xfrm>
            <a:off x="822960" y="2569464"/>
            <a:ext cx="411480" cy="274320"/>
          </a:xfrm>
          <a:prstGeom prst="rect">
            <a:avLst/>
          </a:prstGeom>
          <a:noFill/>
          <a:ln/>
        </p:spPr>
        <p:txBody>
          <a:bodyPr wrap="square" lIns="0" tIns="0" rIns="0" bIns="0" rtlCol="0" anchor="ctr"/>
          <a:lstStyle/>
          <a:p>
            <a:pPr algn="ctr" indent="0" marL="0">
              <a:buNone/>
            </a:pPr>
            <a:r>
              <a:rPr lang="en-US" sz="1800" b="1" dirty="0">
                <a:solidFill>
                  <a:srgbClr val="FFC928"/>
                </a:solidFill>
              </a:rPr>
              <a:t>2</a:t>
            </a:r>
            <a:endParaRPr lang="en-US" sz="1800" dirty="0"/>
          </a:p>
        </p:txBody>
      </p:sp>
      <p:sp>
        <p:nvSpPr>
          <p:cNvPr id="13" name="Text 10"/>
          <p:cNvSpPr/>
          <p:nvPr/>
        </p:nvSpPr>
        <p:spPr>
          <a:xfrm>
            <a:off x="1371600" y="2496312"/>
            <a:ext cx="4800600"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rPr>
              <a:t>CHECK PALLET · LOCATION · TASK</a:t>
            </a:r>
            <a:endParaRPr lang="en-US" sz="1800" dirty="0"/>
          </a:p>
        </p:txBody>
      </p:sp>
      <p:sp>
        <p:nvSpPr>
          <p:cNvPr id="14" name="Text 11"/>
          <p:cNvSpPr/>
          <p:nvPr/>
        </p:nvSpPr>
        <p:spPr>
          <a:xfrm>
            <a:off x="822960" y="3282696"/>
            <a:ext cx="411480" cy="274320"/>
          </a:xfrm>
          <a:prstGeom prst="rect">
            <a:avLst/>
          </a:prstGeom>
          <a:noFill/>
          <a:ln/>
        </p:spPr>
        <p:txBody>
          <a:bodyPr wrap="square" lIns="0" tIns="0" rIns="0" bIns="0" rtlCol="0" anchor="ctr"/>
          <a:lstStyle/>
          <a:p>
            <a:pPr algn="ctr" indent="0" marL="0">
              <a:buNone/>
            </a:pPr>
            <a:r>
              <a:rPr lang="en-US" sz="1800" b="1" dirty="0">
                <a:solidFill>
                  <a:srgbClr val="FFC928"/>
                </a:solidFill>
              </a:rPr>
              <a:t>3</a:t>
            </a:r>
            <a:endParaRPr lang="en-US" sz="1800" dirty="0"/>
          </a:p>
        </p:txBody>
      </p:sp>
      <p:sp>
        <p:nvSpPr>
          <p:cNvPr id="15" name="Text 12"/>
          <p:cNvSpPr/>
          <p:nvPr/>
        </p:nvSpPr>
        <p:spPr>
          <a:xfrm>
            <a:off x="1371600" y="3209544"/>
            <a:ext cx="4800600"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rPr>
              <a:t>LOOK UP THE LIVE RECORD</a:t>
            </a:r>
            <a:endParaRPr lang="en-US" sz="1800" dirty="0"/>
          </a:p>
        </p:txBody>
      </p:sp>
      <p:sp>
        <p:nvSpPr>
          <p:cNvPr id="16" name="Text 13"/>
          <p:cNvSpPr/>
          <p:nvPr/>
        </p:nvSpPr>
        <p:spPr>
          <a:xfrm>
            <a:off x="822960" y="3995928"/>
            <a:ext cx="411480" cy="274320"/>
          </a:xfrm>
          <a:prstGeom prst="rect">
            <a:avLst/>
          </a:prstGeom>
          <a:noFill/>
          <a:ln/>
        </p:spPr>
        <p:txBody>
          <a:bodyPr wrap="square" lIns="0" tIns="0" rIns="0" bIns="0" rtlCol="0" anchor="ctr"/>
          <a:lstStyle/>
          <a:p>
            <a:pPr algn="ctr" indent="0" marL="0">
              <a:buNone/>
            </a:pPr>
            <a:r>
              <a:rPr lang="en-US" sz="1800" b="1" dirty="0">
                <a:solidFill>
                  <a:srgbClr val="FFC928"/>
                </a:solidFill>
              </a:rPr>
              <a:t>4</a:t>
            </a:r>
            <a:endParaRPr lang="en-US" sz="1800" dirty="0"/>
          </a:p>
        </p:txBody>
      </p:sp>
      <p:sp>
        <p:nvSpPr>
          <p:cNvPr id="17" name="Text 14"/>
          <p:cNvSpPr/>
          <p:nvPr/>
        </p:nvSpPr>
        <p:spPr>
          <a:xfrm>
            <a:off x="1371600" y="3922776"/>
            <a:ext cx="4800600"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rPr>
              <a:t>AGREE THE NEXT ACTION</a:t>
            </a:r>
            <a:endParaRPr lang="en-US" sz="1800" dirty="0"/>
          </a:p>
        </p:txBody>
      </p:sp>
      <p:sp>
        <p:nvSpPr>
          <p:cNvPr id="18" name="Text 15"/>
          <p:cNvSpPr/>
          <p:nvPr/>
        </p:nvSpPr>
        <p:spPr>
          <a:xfrm>
            <a:off x="822960" y="4709160"/>
            <a:ext cx="411480" cy="274320"/>
          </a:xfrm>
          <a:prstGeom prst="rect">
            <a:avLst/>
          </a:prstGeom>
          <a:noFill/>
          <a:ln/>
        </p:spPr>
        <p:txBody>
          <a:bodyPr wrap="square" lIns="0" tIns="0" rIns="0" bIns="0" rtlCol="0" anchor="ctr"/>
          <a:lstStyle/>
          <a:p>
            <a:pPr algn="ctr" indent="0" marL="0">
              <a:buNone/>
            </a:pPr>
            <a:r>
              <a:rPr lang="en-US" sz="1800" b="1" dirty="0">
                <a:solidFill>
                  <a:srgbClr val="FFC928"/>
                </a:solidFill>
              </a:rPr>
              <a:t>5</a:t>
            </a:r>
            <a:endParaRPr lang="en-US" sz="1800" dirty="0"/>
          </a:p>
        </p:txBody>
      </p:sp>
      <p:sp>
        <p:nvSpPr>
          <p:cNvPr id="19" name="Text 16"/>
          <p:cNvSpPr/>
          <p:nvPr/>
        </p:nvSpPr>
        <p:spPr>
          <a:xfrm>
            <a:off x="1371600" y="4636008"/>
            <a:ext cx="4800600" cy="384048"/>
          </a:xfrm>
          <a:prstGeom prst="rect">
            <a:avLst/>
          </a:prstGeom>
          <a:noFill/>
          <a:ln/>
        </p:spPr>
        <p:txBody>
          <a:bodyPr wrap="square" lIns="0" tIns="0" rIns="0" bIns="0" rtlCol="0" anchor="ctr">
            <a:normAutofit/>
          </a:bodyPr>
          <a:lstStyle/>
          <a:p>
            <a:pPr indent="0" marL="0">
              <a:buNone/>
            </a:pPr>
            <a:r>
              <a:rPr lang="en-US" sz="1800" b="1" dirty="0">
                <a:solidFill>
                  <a:srgbClr val="FFFFFF"/>
                </a:solidFill>
              </a:rPr>
              <a:t>CONTINUE ONCE THE STORY MATCHES</a:t>
            </a:r>
            <a:endParaRPr lang="en-US" sz="1800" dirty="0"/>
          </a:p>
        </p:txBody>
      </p:sp>
      <p:sp>
        <p:nvSpPr>
          <p:cNvPr id="20" name="Shape 17"/>
          <p:cNvSpPr/>
          <p:nvPr/>
        </p:nvSpPr>
        <p:spPr>
          <a:xfrm>
            <a:off x="6720840" y="1325880"/>
            <a:ext cx="4663440" cy="4526280"/>
          </a:xfrm>
          <a:prstGeom prst="roundRect">
            <a:avLst>
              <a:gd name="adj" fmla="val 1616"/>
            </a:avLst>
          </a:prstGeom>
          <a:solidFill>
            <a:srgbClr val="17384A"/>
          </a:solidFill>
          <a:ln w="12700">
            <a:solidFill>
              <a:srgbClr val="315064"/>
            </a:solidFill>
            <a:prstDash val="solid"/>
          </a:ln>
        </p:spPr>
      </p:sp>
      <p:sp>
        <p:nvSpPr>
          <p:cNvPr id="21" name="Text 18"/>
          <p:cNvSpPr/>
          <p:nvPr/>
        </p:nvSpPr>
        <p:spPr>
          <a:xfrm>
            <a:off x="7059168" y="1691640"/>
            <a:ext cx="3977640" cy="320040"/>
          </a:xfrm>
          <a:prstGeom prst="rect">
            <a:avLst/>
          </a:prstGeom>
          <a:noFill/>
          <a:ln/>
        </p:spPr>
        <p:txBody>
          <a:bodyPr wrap="square" lIns="0" tIns="0" rIns="0" bIns="0" rtlCol="0" anchor="ctr"/>
          <a:lstStyle/>
          <a:p>
            <a:pPr indent="0" marL="0">
              <a:buNone/>
            </a:pPr>
            <a:r>
              <a:rPr lang="en-US" sz="1500" b="1" spc="140" kern="0" dirty="0">
                <a:solidFill>
                  <a:srgbClr val="F47C20"/>
                </a:solidFill>
              </a:rPr>
              <a:t>TRIGGERS</a:t>
            </a:r>
            <a:endParaRPr lang="en-US" sz="1500" dirty="0"/>
          </a:p>
        </p:txBody>
      </p:sp>
      <p:sp>
        <p:nvSpPr>
          <p:cNvPr id="22" name="Text 19"/>
          <p:cNvSpPr/>
          <p:nvPr/>
        </p:nvSpPr>
        <p:spPr>
          <a:xfrm>
            <a:off x="7086600" y="2148840"/>
            <a:ext cx="3794760" cy="320040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FFFFFF"/>
                </a:solidFill>
                <a:latin typeface="Aptos" pitchFamily="34" charset="0"/>
                <a:ea typeface="Aptos" pitchFamily="34" charset="-122"/>
                <a:cs typeface="Aptos" pitchFamily="34" charset="-120"/>
              </a:rPr>
              <a:t>Short quantity</a:t>
            </a:r>
            <a:endParaRPr lang="en-US" sz="1700" dirty="0"/>
          </a:p>
          <a:p>
            <a:pPr marL="215900" indent="-215900">
              <a:buSzPct val="100000"/>
              <a:buChar char="•"/>
            </a:pPr>
            <a:r>
              <a:rPr lang="en-US" sz="1700" dirty="0">
                <a:solidFill>
                  <a:srgbClr val="FFFFFF"/>
                </a:solidFill>
                <a:latin typeface="Aptos" pitchFamily="34" charset="0"/>
                <a:ea typeface="Aptos" pitchFamily="34" charset="-122"/>
                <a:cs typeface="Aptos" pitchFamily="34" charset="-120"/>
              </a:rPr>
              <a:t>Missing pallet</a:t>
            </a:r>
            <a:endParaRPr lang="en-US" sz="1700" dirty="0"/>
          </a:p>
          <a:p>
            <a:pPr marL="215900" indent="-215900">
              <a:buSzPct val="100000"/>
              <a:buChar char="•"/>
            </a:pPr>
            <a:r>
              <a:rPr lang="en-US" sz="1700" dirty="0">
                <a:solidFill>
                  <a:srgbClr val="FFFFFF"/>
                </a:solidFill>
                <a:latin typeface="Aptos" pitchFamily="34" charset="0"/>
                <a:ea typeface="Aptos" pitchFamily="34" charset="-122"/>
                <a:cs typeface="Aptos" pitchFamily="34" charset="-120"/>
              </a:rPr>
              <a:t>Damage / contamination</a:t>
            </a:r>
            <a:endParaRPr lang="en-US" sz="1700" dirty="0"/>
          </a:p>
          <a:p>
            <a:pPr marL="215900" indent="-215900">
              <a:buSzPct val="100000"/>
              <a:buChar char="•"/>
            </a:pPr>
            <a:r>
              <a:rPr lang="en-US" sz="1700" dirty="0">
                <a:solidFill>
                  <a:srgbClr val="FFFFFF"/>
                </a:solidFill>
                <a:latin typeface="Aptos" pitchFamily="34" charset="0"/>
                <a:ea typeface="Aptos" pitchFamily="34" charset="-122"/>
                <a:cs typeface="Aptos" pitchFamily="34" charset="-120"/>
              </a:rPr>
              <a:t>Unknown barcode</a:t>
            </a:r>
            <a:endParaRPr lang="en-US" sz="1700" dirty="0"/>
          </a:p>
          <a:p>
            <a:pPr marL="215900" indent="-215900">
              <a:buSzPct val="100000"/>
              <a:buChar char="•"/>
            </a:pPr>
            <a:r>
              <a:rPr lang="en-US" sz="1700" dirty="0">
                <a:solidFill>
                  <a:srgbClr val="FFFFFF"/>
                </a:solidFill>
                <a:latin typeface="Aptos" pitchFamily="34" charset="0"/>
                <a:ea typeface="Aptos" pitchFamily="34" charset="-122"/>
                <a:cs typeface="Aptos" pitchFamily="34" charset="-120"/>
              </a:rPr>
              <a:t>Full or blocked cell</a:t>
            </a:r>
            <a:endParaRPr lang="en-US" sz="1700" dirty="0"/>
          </a:p>
          <a:p>
            <a:pPr marL="215900" indent="-215900">
              <a:buSzPct val="100000"/>
              <a:buChar char="•"/>
            </a:pPr>
            <a:r>
              <a:rPr lang="en-US" sz="1700" dirty="0">
                <a:solidFill>
                  <a:srgbClr val="FFFFFF"/>
                </a:solidFill>
                <a:latin typeface="Aptos" pitchFamily="34" charset="0"/>
                <a:ea typeface="Aptos" pitchFamily="34" charset="-122"/>
                <a:cs typeface="Aptos" pitchFamily="34" charset="-120"/>
              </a:rPr>
              <a:t>Offline device</a:t>
            </a:r>
            <a:endParaRPr lang="en-US" sz="17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Move or Transfer? Let the warehouse boundary decide</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13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594360" y="1298448"/>
            <a:ext cx="5257800" cy="4251960"/>
          </a:xfrm>
          <a:prstGeom prst="roundRect">
            <a:avLst>
              <a:gd name="adj" fmla="val 1720"/>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9" name="Shape 6"/>
          <p:cNvSpPr/>
          <p:nvPr/>
        </p:nvSpPr>
        <p:spPr>
          <a:xfrm>
            <a:off x="594360" y="1298448"/>
            <a:ext cx="73152" cy="4251960"/>
          </a:xfrm>
          <a:prstGeom prst="rect">
            <a:avLst/>
          </a:prstGeom>
          <a:solidFill>
            <a:srgbClr val="0F9D96"/>
          </a:solidFill>
          <a:ln w="12700">
            <a:solidFill>
              <a:srgbClr val="0F9D96"/>
            </a:solidFill>
            <a:prstDash val="solid"/>
          </a:ln>
        </p:spPr>
      </p:sp>
      <p:sp>
        <p:nvSpPr>
          <p:cNvPr id="10" name="Text 7"/>
          <p:cNvSpPr/>
          <p:nvPr/>
        </p:nvSpPr>
        <p:spPr>
          <a:xfrm>
            <a:off x="822960" y="1499616"/>
            <a:ext cx="484632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LOCATION MOVE</a:t>
            </a:r>
            <a:endParaRPr lang="en-US" sz="1300" dirty="0"/>
          </a:p>
        </p:txBody>
      </p:sp>
      <p:sp>
        <p:nvSpPr>
          <p:cNvPr id="11" name="Text 8"/>
          <p:cNvSpPr/>
          <p:nvPr/>
        </p:nvSpPr>
        <p:spPr>
          <a:xfrm>
            <a:off x="822960" y="1938528"/>
            <a:ext cx="4846320" cy="3429000"/>
          </a:xfrm>
          <a:prstGeom prst="rect">
            <a:avLst/>
          </a:prstGeom>
          <a:noFill/>
          <a:ln/>
        </p:spPr>
        <p:txBody>
          <a:bodyPr wrap="square" lIns="0" tIns="0" rIns="0" bIns="0" rtlCol="0" anchor="ctr">
            <a:normAutofit/>
          </a:bodyPr>
          <a:lstStyle/>
          <a:p>
            <a:pPr indent="0" marL="0">
              <a:buNone/>
            </a:pPr>
            <a:endParaRPr lang="en-US" sz="1700" dirty="0"/>
          </a:p>
        </p:txBody>
      </p:sp>
      <p:sp>
        <p:nvSpPr>
          <p:cNvPr id="12" name="Shape 9"/>
          <p:cNvSpPr/>
          <p:nvPr/>
        </p:nvSpPr>
        <p:spPr>
          <a:xfrm>
            <a:off x="6327648" y="1298448"/>
            <a:ext cx="5257800" cy="4251960"/>
          </a:xfrm>
          <a:prstGeom prst="roundRect">
            <a:avLst>
              <a:gd name="adj" fmla="val 1720"/>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3" name="Shape 10"/>
          <p:cNvSpPr/>
          <p:nvPr/>
        </p:nvSpPr>
        <p:spPr>
          <a:xfrm>
            <a:off x="6327648" y="1298448"/>
            <a:ext cx="73152" cy="4251960"/>
          </a:xfrm>
          <a:prstGeom prst="rect">
            <a:avLst/>
          </a:prstGeom>
          <a:solidFill>
            <a:srgbClr val="F47C20"/>
          </a:solidFill>
          <a:ln w="12700">
            <a:solidFill>
              <a:srgbClr val="F47C20"/>
            </a:solidFill>
            <a:prstDash val="solid"/>
          </a:ln>
        </p:spPr>
      </p:sp>
      <p:sp>
        <p:nvSpPr>
          <p:cNvPr id="14" name="Text 11"/>
          <p:cNvSpPr/>
          <p:nvPr/>
        </p:nvSpPr>
        <p:spPr>
          <a:xfrm>
            <a:off x="6556248" y="1499616"/>
            <a:ext cx="484632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TRANSFER</a:t>
            </a:r>
            <a:endParaRPr lang="en-US" sz="1300" dirty="0"/>
          </a:p>
        </p:txBody>
      </p:sp>
      <p:sp>
        <p:nvSpPr>
          <p:cNvPr id="15" name="Text 12"/>
          <p:cNvSpPr/>
          <p:nvPr/>
        </p:nvSpPr>
        <p:spPr>
          <a:xfrm>
            <a:off x="6556248" y="1938528"/>
            <a:ext cx="4846320" cy="3429000"/>
          </a:xfrm>
          <a:prstGeom prst="rect">
            <a:avLst/>
          </a:prstGeom>
          <a:noFill/>
          <a:ln/>
        </p:spPr>
        <p:txBody>
          <a:bodyPr wrap="square" lIns="0" tIns="0" rIns="0" bIns="0" rtlCol="0" anchor="ctr">
            <a:normAutofit/>
          </a:bodyPr>
          <a:lstStyle/>
          <a:p>
            <a:pPr indent="0" marL="0">
              <a:buNone/>
            </a:pPr>
            <a:endParaRPr lang="en-US" sz="1700" dirty="0"/>
          </a:p>
        </p:txBody>
      </p:sp>
      <p:sp>
        <p:nvSpPr>
          <p:cNvPr id="16" name="Text 13"/>
          <p:cNvSpPr/>
          <p:nvPr/>
        </p:nvSpPr>
        <p:spPr>
          <a:xfrm>
            <a:off x="941832" y="2057400"/>
            <a:ext cx="4526280" cy="288036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16303D"/>
                </a:solidFill>
                <a:latin typeface="Aptos" pitchFamily="34" charset="0"/>
                <a:ea typeface="Aptos" pitchFamily="34" charset="-122"/>
                <a:cs typeface="Aptos" pitchFamily="34" charset="-120"/>
              </a:rPr>
              <a:t>Same warehouse</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Scan pallet + exact destination</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Preserves identity + movement history</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Cancel queued/in-progress move if plan changes</a:t>
            </a:r>
            <a:endParaRPr lang="en-US" sz="1700" dirty="0"/>
          </a:p>
        </p:txBody>
      </p:sp>
      <p:sp>
        <p:nvSpPr>
          <p:cNvPr id="17" name="Text 14"/>
          <p:cNvSpPr/>
          <p:nvPr/>
        </p:nvSpPr>
        <p:spPr>
          <a:xfrm>
            <a:off x="6675120" y="2057400"/>
            <a:ext cx="4526280" cy="2880360"/>
          </a:xfrm>
          <a:prstGeom prst="rect">
            <a:avLst/>
          </a:prstGeom>
          <a:noFill/>
          <a:ln/>
        </p:spPr>
        <p:txBody>
          <a:bodyPr wrap="square" lIns="1016" tIns="1016" rIns="1016" bIns="1016" rtlCol="0" anchor="ctr">
            <a:normAutofit/>
          </a:bodyPr>
          <a:lstStyle/>
          <a:p>
            <a:pPr marL="215900" indent="-215900">
              <a:buSzPct val="100000"/>
              <a:buChar char="•"/>
            </a:pPr>
            <a:r>
              <a:rPr lang="en-US" sz="1700" dirty="0">
                <a:solidFill>
                  <a:srgbClr val="16303D"/>
                </a:solidFill>
                <a:latin typeface="Aptos" pitchFamily="34" charset="0"/>
                <a:ea typeface="Aptos" pitchFamily="34" charset="-122"/>
                <a:cs typeface="Aptos" pitchFamily="34" charset="-120"/>
              </a:rPr>
              <a:t>Different warehouse</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Create → stage → driver sign-off</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In-transit → destination receive</a:t>
            </a:r>
            <a:endParaRPr lang="en-US" sz="1700" dirty="0"/>
          </a:p>
          <a:p>
            <a:pPr marL="215900" indent="-215900">
              <a:buSzPct val="100000"/>
              <a:buChar char="•"/>
            </a:pPr>
            <a:r>
              <a:rPr lang="en-US" sz="1700" dirty="0">
                <a:solidFill>
                  <a:srgbClr val="16303D"/>
                </a:solidFill>
                <a:latin typeface="Aptos" pitchFamily="34" charset="0"/>
                <a:ea typeface="Aptos" pitchFamily="34" charset="-122"/>
                <a:cs typeface="Aptos" pitchFamily="34" charset="-120"/>
              </a:rPr>
              <a:t>Immediate directed Put-Away</a:t>
            </a:r>
            <a:endParaRPr lang="en-US" sz="1700" dirty="0"/>
          </a:p>
        </p:txBody>
      </p:sp>
      <p:sp>
        <p:nvSpPr>
          <p:cNvPr id="18" name="Shape 15"/>
          <p:cNvSpPr/>
          <p:nvPr/>
        </p:nvSpPr>
        <p:spPr>
          <a:xfrm>
            <a:off x="1005840" y="5641848"/>
            <a:ext cx="10149840" cy="530352"/>
          </a:xfrm>
          <a:prstGeom prst="roundRect">
            <a:avLst>
              <a:gd name="adj" fmla="val 6897"/>
            </a:avLst>
          </a:prstGeom>
          <a:solidFill>
            <a:srgbClr val="FFF3DF"/>
          </a:solidFill>
          <a:ln w="12700">
            <a:solidFill>
              <a:srgbClr val="FFC928"/>
            </a:solidFill>
            <a:prstDash val="solid"/>
          </a:ln>
        </p:spPr>
      </p:sp>
      <p:sp>
        <p:nvSpPr>
          <p:cNvPr id="19" name="Text 16"/>
          <p:cNvSpPr/>
          <p:nvPr/>
        </p:nvSpPr>
        <p:spPr>
          <a:xfrm>
            <a:off x="1207008" y="5806440"/>
            <a:ext cx="9738360" cy="182880"/>
          </a:xfrm>
          <a:prstGeom prst="rect">
            <a:avLst/>
          </a:prstGeom>
          <a:noFill/>
          <a:ln/>
        </p:spPr>
        <p:txBody>
          <a:bodyPr wrap="square" lIns="0" tIns="0" rIns="0" bIns="0" rtlCol="0" anchor="ctr">
            <a:normAutofit/>
          </a:bodyPr>
          <a:lstStyle/>
          <a:p>
            <a:pPr algn="ctr" indent="0" marL="0">
              <a:buNone/>
            </a:pPr>
            <a:r>
              <a:rPr lang="en-US" sz="1300" b="1" dirty="0">
                <a:solidFill>
                  <a:srgbClr val="123247"/>
                </a:solidFill>
              </a:rPr>
              <a:t>Never strand transferred stock in a receiving lane while the system implies it is stored.</a:t>
            </a:r>
            <a:endParaRPr lang="en-US" sz="13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Cycle Counts: count what you see, then learn from the variance</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14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2 min</a:t>
            </a:r>
            <a:endParaRPr lang="en-US" sz="800" dirty="0"/>
          </a:p>
        </p:txBody>
      </p:sp>
      <p:sp>
        <p:nvSpPr>
          <p:cNvPr id="8" name="Shape 5"/>
          <p:cNvSpPr/>
          <p:nvPr/>
        </p:nvSpPr>
        <p:spPr>
          <a:xfrm>
            <a:off x="4754880" y="1170432"/>
            <a:ext cx="2286000" cy="768096"/>
          </a:xfrm>
          <a:prstGeom prst="roundRect">
            <a:avLst>
              <a:gd name="adj" fmla="val 4762"/>
            </a:avLst>
          </a:prstGeom>
          <a:solidFill>
            <a:srgbClr val="EFF7F7"/>
          </a:solidFill>
          <a:ln w="19050">
            <a:solidFill>
              <a:srgbClr val="0F9D96"/>
            </a:solidFill>
            <a:prstDash val="solid"/>
          </a:ln>
        </p:spPr>
      </p:sp>
      <p:sp>
        <p:nvSpPr>
          <p:cNvPr id="9" name="Text 6"/>
          <p:cNvSpPr/>
          <p:nvPr/>
        </p:nvSpPr>
        <p:spPr>
          <a:xfrm>
            <a:off x="4910328" y="1444752"/>
            <a:ext cx="1975104" cy="219456"/>
          </a:xfrm>
          <a:prstGeom prst="rect">
            <a:avLst/>
          </a:prstGeom>
          <a:noFill/>
          <a:ln/>
        </p:spPr>
        <p:txBody>
          <a:bodyPr wrap="square" lIns="0" tIns="0" rIns="0" bIns="0" rtlCol="0" anchor="ctr">
            <a:normAutofit/>
          </a:bodyPr>
          <a:lstStyle/>
          <a:p>
            <a:pPr algn="ctr" indent="0" marL="0">
              <a:buNone/>
            </a:pPr>
            <a:r>
              <a:rPr lang="en-US" sz="1200" b="1" dirty="0">
                <a:solidFill>
                  <a:srgbClr val="123247"/>
                </a:solidFill>
              </a:rPr>
              <a:t>PLAN SCOPE</a:t>
            </a:r>
            <a:endParaRPr lang="en-US" sz="1200" dirty="0"/>
          </a:p>
        </p:txBody>
      </p:sp>
      <p:sp>
        <p:nvSpPr>
          <p:cNvPr id="10" name="Shape 7"/>
          <p:cNvSpPr/>
          <p:nvPr/>
        </p:nvSpPr>
        <p:spPr>
          <a:xfrm>
            <a:off x="8146500" y="2434102"/>
            <a:ext cx="2286000" cy="768096"/>
          </a:xfrm>
          <a:prstGeom prst="roundRect">
            <a:avLst>
              <a:gd name="adj" fmla="val 4762"/>
            </a:avLst>
          </a:prstGeom>
          <a:solidFill>
            <a:srgbClr val="EFF7F7"/>
          </a:solidFill>
          <a:ln w="19050">
            <a:solidFill>
              <a:srgbClr val="0F9D96"/>
            </a:solidFill>
            <a:prstDash val="solid"/>
          </a:ln>
        </p:spPr>
      </p:sp>
      <p:sp>
        <p:nvSpPr>
          <p:cNvPr id="11" name="Text 8"/>
          <p:cNvSpPr/>
          <p:nvPr/>
        </p:nvSpPr>
        <p:spPr>
          <a:xfrm>
            <a:off x="8301948" y="2708422"/>
            <a:ext cx="1975104" cy="219456"/>
          </a:xfrm>
          <a:prstGeom prst="rect">
            <a:avLst/>
          </a:prstGeom>
          <a:noFill/>
          <a:ln/>
        </p:spPr>
        <p:txBody>
          <a:bodyPr wrap="square" lIns="0" tIns="0" rIns="0" bIns="0" rtlCol="0" anchor="ctr">
            <a:normAutofit/>
          </a:bodyPr>
          <a:lstStyle/>
          <a:p>
            <a:pPr algn="ctr" indent="0" marL="0">
              <a:buNone/>
            </a:pPr>
            <a:r>
              <a:rPr lang="en-US" sz="1200" b="1" dirty="0">
                <a:solidFill>
                  <a:srgbClr val="123247"/>
                </a:solidFill>
              </a:rPr>
              <a:t>BLIND PHYSICAL COUNT</a:t>
            </a:r>
            <a:endParaRPr lang="en-US" sz="1200" dirty="0"/>
          </a:p>
        </p:txBody>
      </p:sp>
      <p:sp>
        <p:nvSpPr>
          <p:cNvPr id="12" name="Shape 9"/>
          <p:cNvSpPr/>
          <p:nvPr/>
        </p:nvSpPr>
        <p:spPr>
          <a:xfrm>
            <a:off x="6851016" y="4478762"/>
            <a:ext cx="2286000" cy="768096"/>
          </a:xfrm>
          <a:prstGeom prst="roundRect">
            <a:avLst>
              <a:gd name="adj" fmla="val 4762"/>
            </a:avLst>
          </a:prstGeom>
          <a:solidFill>
            <a:srgbClr val="EFF7F7"/>
          </a:solidFill>
          <a:ln w="19050">
            <a:solidFill>
              <a:srgbClr val="0F9D96"/>
            </a:solidFill>
            <a:prstDash val="solid"/>
          </a:ln>
        </p:spPr>
      </p:sp>
      <p:sp>
        <p:nvSpPr>
          <p:cNvPr id="13" name="Text 10"/>
          <p:cNvSpPr/>
          <p:nvPr/>
        </p:nvSpPr>
        <p:spPr>
          <a:xfrm>
            <a:off x="7006464" y="4753082"/>
            <a:ext cx="1975104" cy="219456"/>
          </a:xfrm>
          <a:prstGeom prst="rect">
            <a:avLst/>
          </a:prstGeom>
          <a:noFill/>
          <a:ln/>
        </p:spPr>
        <p:txBody>
          <a:bodyPr wrap="square" lIns="0" tIns="0" rIns="0" bIns="0" rtlCol="0" anchor="ctr">
            <a:normAutofit/>
          </a:bodyPr>
          <a:lstStyle/>
          <a:p>
            <a:pPr algn="ctr" indent="0" marL="0">
              <a:buNone/>
            </a:pPr>
            <a:r>
              <a:rPr lang="en-US" sz="1200" b="1" dirty="0">
                <a:solidFill>
                  <a:srgbClr val="123247"/>
                </a:solidFill>
              </a:rPr>
              <a:t>SUBMIT ONLINE</a:t>
            </a:r>
            <a:endParaRPr lang="en-US" sz="1200" dirty="0"/>
          </a:p>
        </p:txBody>
      </p:sp>
      <p:sp>
        <p:nvSpPr>
          <p:cNvPr id="14" name="Shape 11"/>
          <p:cNvSpPr/>
          <p:nvPr/>
        </p:nvSpPr>
        <p:spPr>
          <a:xfrm>
            <a:off x="2658744" y="4478762"/>
            <a:ext cx="2286000" cy="768096"/>
          </a:xfrm>
          <a:prstGeom prst="roundRect">
            <a:avLst>
              <a:gd name="adj" fmla="val 4762"/>
            </a:avLst>
          </a:prstGeom>
          <a:solidFill>
            <a:srgbClr val="FFF3DF"/>
          </a:solidFill>
          <a:ln w="19050">
            <a:solidFill>
              <a:srgbClr val="F47C20"/>
            </a:solidFill>
            <a:prstDash val="solid"/>
          </a:ln>
        </p:spPr>
      </p:sp>
      <p:sp>
        <p:nvSpPr>
          <p:cNvPr id="15" name="Text 12"/>
          <p:cNvSpPr/>
          <p:nvPr/>
        </p:nvSpPr>
        <p:spPr>
          <a:xfrm>
            <a:off x="2814192" y="4753082"/>
            <a:ext cx="1975104" cy="219456"/>
          </a:xfrm>
          <a:prstGeom prst="rect">
            <a:avLst/>
          </a:prstGeom>
          <a:noFill/>
          <a:ln/>
        </p:spPr>
        <p:txBody>
          <a:bodyPr wrap="square" lIns="0" tIns="0" rIns="0" bIns="0" rtlCol="0" anchor="ctr">
            <a:normAutofit/>
          </a:bodyPr>
          <a:lstStyle/>
          <a:p>
            <a:pPr algn="ctr" indent="0" marL="0">
              <a:buNone/>
            </a:pPr>
            <a:r>
              <a:rPr lang="en-US" sz="1200" b="1" dirty="0">
                <a:solidFill>
                  <a:srgbClr val="123247"/>
                </a:solidFill>
              </a:rPr>
              <a:t>SUPERVISOR REVIEW</a:t>
            </a:r>
            <a:endParaRPr lang="en-US" sz="1200" dirty="0"/>
          </a:p>
        </p:txBody>
      </p:sp>
      <p:sp>
        <p:nvSpPr>
          <p:cNvPr id="16" name="Shape 13"/>
          <p:cNvSpPr/>
          <p:nvPr/>
        </p:nvSpPr>
        <p:spPr>
          <a:xfrm>
            <a:off x="1363260" y="2434102"/>
            <a:ext cx="2286000" cy="768096"/>
          </a:xfrm>
          <a:prstGeom prst="roundRect">
            <a:avLst>
              <a:gd name="adj" fmla="val 4762"/>
            </a:avLst>
          </a:prstGeom>
          <a:solidFill>
            <a:srgbClr val="EFF7F7"/>
          </a:solidFill>
          <a:ln w="19050">
            <a:solidFill>
              <a:srgbClr val="0F9D96"/>
            </a:solidFill>
            <a:prstDash val="solid"/>
          </a:ln>
        </p:spPr>
      </p:sp>
      <p:sp>
        <p:nvSpPr>
          <p:cNvPr id="17" name="Text 14"/>
          <p:cNvSpPr/>
          <p:nvPr/>
        </p:nvSpPr>
        <p:spPr>
          <a:xfrm>
            <a:off x="1518708" y="2708422"/>
            <a:ext cx="1975104" cy="219456"/>
          </a:xfrm>
          <a:prstGeom prst="rect">
            <a:avLst/>
          </a:prstGeom>
          <a:noFill/>
          <a:ln/>
        </p:spPr>
        <p:txBody>
          <a:bodyPr wrap="square" lIns="0" tIns="0" rIns="0" bIns="0" rtlCol="0" anchor="ctr">
            <a:normAutofit/>
          </a:bodyPr>
          <a:lstStyle/>
          <a:p>
            <a:pPr algn="ctr" indent="0" marL="0">
              <a:buNone/>
            </a:pPr>
            <a:r>
              <a:rPr lang="en-US" sz="1200" b="1" dirty="0">
                <a:solidFill>
                  <a:srgbClr val="123247"/>
                </a:solidFill>
              </a:rPr>
              <a:t>ROOT CAUSE + CONTROL</a:t>
            </a:r>
            <a:endParaRPr lang="en-US" sz="1200" dirty="0"/>
          </a:p>
        </p:txBody>
      </p:sp>
      <p:sp>
        <p:nvSpPr>
          <p:cNvPr id="18" name="Shape 15"/>
          <p:cNvSpPr/>
          <p:nvPr/>
        </p:nvSpPr>
        <p:spPr>
          <a:xfrm>
            <a:off x="4800600" y="2697480"/>
            <a:ext cx="2194560" cy="1371600"/>
          </a:xfrm>
          <a:prstGeom prst="ellipse">
            <a:avLst/>
          </a:prstGeom>
          <a:solidFill>
            <a:srgbClr val="123247"/>
          </a:solidFill>
          <a:ln w="25400">
            <a:solidFill>
              <a:srgbClr val="FFC928"/>
            </a:solidFill>
            <a:prstDash val="solid"/>
          </a:ln>
        </p:spPr>
      </p:sp>
      <p:sp>
        <p:nvSpPr>
          <p:cNvPr id="19" name="Text 16"/>
          <p:cNvSpPr/>
          <p:nvPr/>
        </p:nvSpPr>
        <p:spPr>
          <a:xfrm>
            <a:off x="5010912" y="3072384"/>
            <a:ext cx="1773936" cy="50292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rPr>
              <a:t>VARIANCE =</a:t>
            </a:r>
            <a:endParaRPr lang="en-US" sz="1500" dirty="0"/>
          </a:p>
          <a:p>
            <a:pPr algn="ctr" indent="0" marL="0">
              <a:buNone/>
            </a:pPr>
            <a:r>
              <a:rPr lang="en-US" sz="1500" b="1" dirty="0">
                <a:solidFill>
                  <a:srgbClr val="FFFFFF"/>
                </a:solidFill>
              </a:rPr>
              <a:t>UPSTREAM SIGNAL</a:t>
            </a:r>
            <a:endParaRPr lang="en-US" sz="1500" dirty="0"/>
          </a:p>
        </p:txBody>
      </p:sp>
      <p:sp>
        <p:nvSpPr>
          <p:cNvPr id="20" name="Text 17"/>
          <p:cNvSpPr/>
          <p:nvPr/>
        </p:nvSpPr>
        <p:spPr>
          <a:xfrm>
            <a:off x="914400" y="5779008"/>
            <a:ext cx="10332720" cy="274320"/>
          </a:xfrm>
          <a:prstGeom prst="rect">
            <a:avLst/>
          </a:prstGeom>
          <a:noFill/>
          <a:ln/>
        </p:spPr>
        <p:txBody>
          <a:bodyPr wrap="square" lIns="0" tIns="0" rIns="0" bIns="0" rtlCol="0" anchor="ctr"/>
          <a:lstStyle/>
          <a:p>
            <a:pPr algn="ctr" indent="0" marL="0">
              <a:buNone/>
            </a:pPr>
            <a:r>
              <a:rPr lang="en-US" sz="1400" i="1" dirty="0">
                <a:solidFill>
                  <a:srgbClr val="087B76"/>
                </a:solidFill>
              </a:rPr>
              <a:t>A variance points upstream: receiving, put-away, movement, pick, transfer, label, or status.</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Offline means freeze the commit — not invent a workaround</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15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4 min</a:t>
            </a:r>
            <a:endParaRPr lang="en-US" sz="800" dirty="0"/>
          </a:p>
        </p:txBody>
      </p:sp>
      <p:sp>
        <p:nvSpPr>
          <p:cNvPr id="8" name="Shape 5"/>
          <p:cNvSpPr/>
          <p:nvPr/>
        </p:nvSpPr>
        <p:spPr>
          <a:xfrm>
            <a:off x="868680" y="1207008"/>
            <a:ext cx="10378440" cy="713232"/>
          </a:xfrm>
          <a:prstGeom prst="roundRect">
            <a:avLst>
              <a:gd name="adj" fmla="val 5128"/>
            </a:avLst>
          </a:prstGeom>
          <a:solidFill>
            <a:srgbClr val="FFF3DF"/>
          </a:solidFill>
          <a:ln w="16510">
            <a:solidFill>
              <a:srgbClr val="F47C20"/>
            </a:solidFill>
            <a:prstDash val="solid"/>
          </a:ln>
        </p:spPr>
      </p:sp>
      <p:sp>
        <p:nvSpPr>
          <p:cNvPr id="9" name="Text 6"/>
          <p:cNvSpPr/>
          <p:nvPr/>
        </p:nvSpPr>
        <p:spPr>
          <a:xfrm>
            <a:off x="1097280" y="1408176"/>
            <a:ext cx="411480" cy="228600"/>
          </a:xfrm>
          <a:prstGeom prst="rect">
            <a:avLst/>
          </a:prstGeom>
          <a:noFill/>
          <a:ln/>
        </p:spPr>
        <p:txBody>
          <a:bodyPr wrap="square" lIns="0" tIns="0" rIns="0" bIns="0" rtlCol="0" anchor="ctr"/>
          <a:lstStyle/>
          <a:p>
            <a:pPr algn="ctr" indent="0" marL="0">
              <a:buNone/>
            </a:pPr>
            <a:r>
              <a:rPr lang="en-US" sz="1500" b="1" dirty="0">
                <a:solidFill>
                  <a:srgbClr val="F47C20"/>
                </a:solidFill>
              </a:rPr>
              <a:t>1</a:t>
            </a:r>
            <a:endParaRPr lang="en-US" sz="1500" dirty="0"/>
          </a:p>
        </p:txBody>
      </p:sp>
      <p:sp>
        <p:nvSpPr>
          <p:cNvPr id="10" name="Text 7"/>
          <p:cNvSpPr/>
          <p:nvPr/>
        </p:nvSpPr>
        <p:spPr>
          <a:xfrm>
            <a:off x="1691640" y="1371600"/>
            <a:ext cx="2057400" cy="228600"/>
          </a:xfrm>
          <a:prstGeom prst="rect">
            <a:avLst/>
          </a:prstGeom>
          <a:noFill/>
          <a:ln/>
        </p:spPr>
        <p:txBody>
          <a:bodyPr wrap="square" lIns="0" tIns="0" rIns="0" bIns="0" rtlCol="0" anchor="ctr"/>
          <a:lstStyle/>
          <a:p>
            <a:pPr indent="0" marL="0">
              <a:buNone/>
            </a:pPr>
            <a:r>
              <a:rPr lang="en-US" sz="1400" b="1" dirty="0">
                <a:solidFill>
                  <a:srgbClr val="123247"/>
                </a:solidFill>
              </a:rPr>
              <a:t>SIGNAL LOST</a:t>
            </a:r>
            <a:endParaRPr lang="en-US" sz="1400" dirty="0"/>
          </a:p>
        </p:txBody>
      </p:sp>
      <p:sp>
        <p:nvSpPr>
          <p:cNvPr id="11" name="Text 8"/>
          <p:cNvSpPr/>
          <p:nvPr/>
        </p:nvSpPr>
        <p:spPr>
          <a:xfrm>
            <a:off x="3840480" y="1353312"/>
            <a:ext cx="6903720" cy="274320"/>
          </a:xfrm>
          <a:prstGeom prst="rect">
            <a:avLst/>
          </a:prstGeom>
          <a:noFill/>
          <a:ln/>
        </p:spPr>
        <p:txBody>
          <a:bodyPr wrap="square" lIns="0" tIns="0" rIns="0" bIns="0" rtlCol="0" anchor="ctr">
            <a:normAutofit/>
          </a:bodyPr>
          <a:lstStyle/>
          <a:p>
            <a:pPr indent="0" marL="0">
              <a:buNone/>
            </a:pPr>
            <a:r>
              <a:rPr lang="en-US" sz="1600" dirty="0">
                <a:solidFill>
                  <a:srgbClr val="16303D"/>
                </a:solidFill>
              </a:rPr>
              <a:t>Keep the pallet in its current safe state</a:t>
            </a:r>
            <a:endParaRPr lang="en-US" sz="1600" dirty="0"/>
          </a:p>
        </p:txBody>
      </p:sp>
      <p:sp>
        <p:nvSpPr>
          <p:cNvPr id="12" name="Shape 9"/>
          <p:cNvSpPr/>
          <p:nvPr/>
        </p:nvSpPr>
        <p:spPr>
          <a:xfrm>
            <a:off x="868680" y="2157984"/>
            <a:ext cx="10378440" cy="713232"/>
          </a:xfrm>
          <a:prstGeom prst="roundRect">
            <a:avLst>
              <a:gd name="adj" fmla="val 5128"/>
            </a:avLst>
          </a:prstGeom>
          <a:solidFill>
            <a:srgbClr val="FFF3DF"/>
          </a:solidFill>
          <a:ln w="16510">
            <a:solidFill>
              <a:srgbClr val="F47C20"/>
            </a:solidFill>
            <a:prstDash val="solid"/>
          </a:ln>
        </p:spPr>
      </p:sp>
      <p:sp>
        <p:nvSpPr>
          <p:cNvPr id="13" name="Text 10"/>
          <p:cNvSpPr/>
          <p:nvPr/>
        </p:nvSpPr>
        <p:spPr>
          <a:xfrm>
            <a:off x="1097280" y="2359152"/>
            <a:ext cx="411480" cy="228600"/>
          </a:xfrm>
          <a:prstGeom prst="rect">
            <a:avLst/>
          </a:prstGeom>
          <a:noFill/>
          <a:ln/>
        </p:spPr>
        <p:txBody>
          <a:bodyPr wrap="square" lIns="0" tIns="0" rIns="0" bIns="0" rtlCol="0" anchor="ctr"/>
          <a:lstStyle/>
          <a:p>
            <a:pPr algn="ctr" indent="0" marL="0">
              <a:buNone/>
            </a:pPr>
            <a:r>
              <a:rPr lang="en-US" sz="1500" b="1" dirty="0">
                <a:solidFill>
                  <a:srgbClr val="F47C20"/>
                </a:solidFill>
              </a:rPr>
              <a:t>2</a:t>
            </a:r>
            <a:endParaRPr lang="en-US" sz="1500" dirty="0"/>
          </a:p>
        </p:txBody>
      </p:sp>
      <p:sp>
        <p:nvSpPr>
          <p:cNvPr id="14" name="Text 11"/>
          <p:cNvSpPr/>
          <p:nvPr/>
        </p:nvSpPr>
        <p:spPr>
          <a:xfrm>
            <a:off x="1691640" y="2322576"/>
            <a:ext cx="2057400" cy="228600"/>
          </a:xfrm>
          <a:prstGeom prst="rect">
            <a:avLst/>
          </a:prstGeom>
          <a:noFill/>
          <a:ln/>
        </p:spPr>
        <p:txBody>
          <a:bodyPr wrap="square" lIns="0" tIns="0" rIns="0" bIns="0" rtlCol="0" anchor="ctr"/>
          <a:lstStyle/>
          <a:p>
            <a:pPr indent="0" marL="0">
              <a:buNone/>
            </a:pPr>
            <a:r>
              <a:rPr lang="en-US" sz="1400" b="1" dirty="0">
                <a:solidFill>
                  <a:srgbClr val="123247"/>
                </a:solidFill>
              </a:rPr>
              <a:t>DO NOT REPEAT</a:t>
            </a:r>
            <a:endParaRPr lang="en-US" sz="1400" dirty="0"/>
          </a:p>
        </p:txBody>
      </p:sp>
      <p:sp>
        <p:nvSpPr>
          <p:cNvPr id="15" name="Text 12"/>
          <p:cNvSpPr/>
          <p:nvPr/>
        </p:nvSpPr>
        <p:spPr>
          <a:xfrm>
            <a:off x="3840480" y="2304288"/>
            <a:ext cx="6903720" cy="274320"/>
          </a:xfrm>
          <a:prstGeom prst="rect">
            <a:avLst/>
          </a:prstGeom>
          <a:noFill/>
          <a:ln/>
        </p:spPr>
        <p:txBody>
          <a:bodyPr wrap="square" lIns="0" tIns="0" rIns="0" bIns="0" rtlCol="0" anchor="ctr">
            <a:normAutofit/>
          </a:bodyPr>
          <a:lstStyle/>
          <a:p>
            <a:pPr indent="0" marL="0">
              <a:buNone/>
            </a:pPr>
            <a:r>
              <a:rPr lang="en-US" sz="1600" dirty="0">
                <a:solidFill>
                  <a:srgbClr val="16303D"/>
                </a:solidFill>
              </a:rPr>
              <a:t>No forced save, receive, move, pick, or approval</a:t>
            </a:r>
            <a:endParaRPr lang="en-US" sz="1600" dirty="0"/>
          </a:p>
        </p:txBody>
      </p:sp>
      <p:sp>
        <p:nvSpPr>
          <p:cNvPr id="16" name="Shape 13"/>
          <p:cNvSpPr/>
          <p:nvPr/>
        </p:nvSpPr>
        <p:spPr>
          <a:xfrm>
            <a:off x="868680" y="3108960"/>
            <a:ext cx="10378440" cy="713232"/>
          </a:xfrm>
          <a:prstGeom prst="roundRect">
            <a:avLst>
              <a:gd name="adj" fmla="val 5128"/>
            </a:avLst>
          </a:prstGeom>
          <a:solidFill>
            <a:srgbClr val="EFF7F7"/>
          </a:solidFill>
          <a:ln w="16510">
            <a:solidFill>
              <a:srgbClr val="0F9D96"/>
            </a:solidFill>
            <a:prstDash val="solid"/>
          </a:ln>
        </p:spPr>
      </p:sp>
      <p:sp>
        <p:nvSpPr>
          <p:cNvPr id="17" name="Text 14"/>
          <p:cNvSpPr/>
          <p:nvPr/>
        </p:nvSpPr>
        <p:spPr>
          <a:xfrm>
            <a:off x="1097280" y="3310128"/>
            <a:ext cx="411480" cy="228600"/>
          </a:xfrm>
          <a:prstGeom prst="rect">
            <a:avLst/>
          </a:prstGeom>
          <a:noFill/>
          <a:ln/>
        </p:spPr>
        <p:txBody>
          <a:bodyPr wrap="square" lIns="0" tIns="0" rIns="0" bIns="0" rtlCol="0" anchor="ctr"/>
          <a:lstStyle/>
          <a:p>
            <a:pPr algn="ctr" indent="0" marL="0">
              <a:buNone/>
            </a:pPr>
            <a:r>
              <a:rPr lang="en-US" sz="1500" b="1" dirty="0">
                <a:solidFill>
                  <a:srgbClr val="0F9D96"/>
                </a:solidFill>
              </a:rPr>
              <a:t>3</a:t>
            </a:r>
            <a:endParaRPr lang="en-US" sz="1500" dirty="0"/>
          </a:p>
        </p:txBody>
      </p:sp>
      <p:sp>
        <p:nvSpPr>
          <p:cNvPr id="18" name="Text 15"/>
          <p:cNvSpPr/>
          <p:nvPr/>
        </p:nvSpPr>
        <p:spPr>
          <a:xfrm>
            <a:off x="1691640" y="3273552"/>
            <a:ext cx="2057400" cy="228600"/>
          </a:xfrm>
          <a:prstGeom prst="rect">
            <a:avLst/>
          </a:prstGeom>
          <a:noFill/>
          <a:ln/>
        </p:spPr>
        <p:txBody>
          <a:bodyPr wrap="square" lIns="0" tIns="0" rIns="0" bIns="0" rtlCol="0" anchor="ctr"/>
          <a:lstStyle/>
          <a:p>
            <a:pPr indent="0" marL="0">
              <a:buNone/>
            </a:pPr>
            <a:r>
              <a:rPr lang="en-US" sz="1400" b="1" dirty="0">
                <a:solidFill>
                  <a:srgbClr val="123247"/>
                </a:solidFill>
              </a:rPr>
              <a:t>RECONNECT</a:t>
            </a:r>
            <a:endParaRPr lang="en-US" sz="1400" dirty="0"/>
          </a:p>
        </p:txBody>
      </p:sp>
      <p:sp>
        <p:nvSpPr>
          <p:cNvPr id="19" name="Text 16"/>
          <p:cNvSpPr/>
          <p:nvPr/>
        </p:nvSpPr>
        <p:spPr>
          <a:xfrm>
            <a:off x="3840480" y="3255264"/>
            <a:ext cx="6903720" cy="274320"/>
          </a:xfrm>
          <a:prstGeom prst="rect">
            <a:avLst/>
          </a:prstGeom>
          <a:noFill/>
          <a:ln/>
        </p:spPr>
        <p:txBody>
          <a:bodyPr wrap="square" lIns="0" tIns="0" rIns="0" bIns="0" rtlCol="0" anchor="ctr">
            <a:normAutofit/>
          </a:bodyPr>
          <a:lstStyle/>
          <a:p>
            <a:pPr indent="0" marL="0">
              <a:buNone/>
            </a:pPr>
            <a:r>
              <a:rPr lang="en-US" sz="1600" dirty="0">
                <a:solidFill>
                  <a:srgbClr val="16303D"/>
                </a:solidFill>
              </a:rPr>
              <a:t>Confirm backend connection is restored</a:t>
            </a:r>
            <a:endParaRPr lang="en-US" sz="1600" dirty="0"/>
          </a:p>
        </p:txBody>
      </p:sp>
      <p:sp>
        <p:nvSpPr>
          <p:cNvPr id="20" name="Shape 17"/>
          <p:cNvSpPr/>
          <p:nvPr/>
        </p:nvSpPr>
        <p:spPr>
          <a:xfrm>
            <a:off x="868680" y="4059936"/>
            <a:ext cx="10378440" cy="713232"/>
          </a:xfrm>
          <a:prstGeom prst="roundRect">
            <a:avLst>
              <a:gd name="adj" fmla="val 5128"/>
            </a:avLst>
          </a:prstGeom>
          <a:solidFill>
            <a:srgbClr val="EFF7F7"/>
          </a:solidFill>
          <a:ln w="16510">
            <a:solidFill>
              <a:srgbClr val="0F9D96"/>
            </a:solidFill>
            <a:prstDash val="solid"/>
          </a:ln>
        </p:spPr>
      </p:sp>
      <p:sp>
        <p:nvSpPr>
          <p:cNvPr id="21" name="Text 18"/>
          <p:cNvSpPr/>
          <p:nvPr/>
        </p:nvSpPr>
        <p:spPr>
          <a:xfrm>
            <a:off x="1097280" y="4261104"/>
            <a:ext cx="411480" cy="228600"/>
          </a:xfrm>
          <a:prstGeom prst="rect">
            <a:avLst/>
          </a:prstGeom>
          <a:noFill/>
          <a:ln/>
        </p:spPr>
        <p:txBody>
          <a:bodyPr wrap="square" lIns="0" tIns="0" rIns="0" bIns="0" rtlCol="0" anchor="ctr"/>
          <a:lstStyle/>
          <a:p>
            <a:pPr algn="ctr" indent="0" marL="0">
              <a:buNone/>
            </a:pPr>
            <a:r>
              <a:rPr lang="en-US" sz="1500" b="1" dirty="0">
                <a:solidFill>
                  <a:srgbClr val="0F9D96"/>
                </a:solidFill>
              </a:rPr>
              <a:t>4</a:t>
            </a:r>
            <a:endParaRPr lang="en-US" sz="1500" dirty="0"/>
          </a:p>
        </p:txBody>
      </p:sp>
      <p:sp>
        <p:nvSpPr>
          <p:cNvPr id="22" name="Text 19"/>
          <p:cNvSpPr/>
          <p:nvPr/>
        </p:nvSpPr>
        <p:spPr>
          <a:xfrm>
            <a:off x="1691640" y="4224528"/>
            <a:ext cx="2057400" cy="228600"/>
          </a:xfrm>
          <a:prstGeom prst="rect">
            <a:avLst/>
          </a:prstGeom>
          <a:noFill/>
          <a:ln/>
        </p:spPr>
        <p:txBody>
          <a:bodyPr wrap="square" lIns="0" tIns="0" rIns="0" bIns="0" rtlCol="0" anchor="ctr"/>
          <a:lstStyle/>
          <a:p>
            <a:pPr indent="0" marL="0">
              <a:buNone/>
            </a:pPr>
            <a:r>
              <a:rPr lang="en-US" sz="1400" b="1" dirty="0">
                <a:solidFill>
                  <a:srgbClr val="123247"/>
                </a:solidFill>
              </a:rPr>
              <a:t>REFRESH + RECHECK</a:t>
            </a:r>
            <a:endParaRPr lang="en-US" sz="1400" dirty="0"/>
          </a:p>
        </p:txBody>
      </p:sp>
      <p:sp>
        <p:nvSpPr>
          <p:cNvPr id="23" name="Text 20"/>
          <p:cNvSpPr/>
          <p:nvPr/>
        </p:nvSpPr>
        <p:spPr>
          <a:xfrm>
            <a:off x="3840480" y="4206240"/>
            <a:ext cx="6903720" cy="274320"/>
          </a:xfrm>
          <a:prstGeom prst="rect">
            <a:avLst/>
          </a:prstGeom>
          <a:noFill/>
          <a:ln/>
        </p:spPr>
        <p:txBody>
          <a:bodyPr wrap="square" lIns="0" tIns="0" rIns="0" bIns="0" rtlCol="0" anchor="ctr">
            <a:normAutofit/>
          </a:bodyPr>
          <a:lstStyle/>
          <a:p>
            <a:pPr indent="0" marL="0">
              <a:buNone/>
            </a:pPr>
            <a:r>
              <a:rPr lang="en-US" sz="1600" dirty="0">
                <a:solidFill>
                  <a:srgbClr val="16303D"/>
                </a:solidFill>
              </a:rPr>
              <a:t>Task · pallet · location · quantity · status</a:t>
            </a:r>
            <a:endParaRPr lang="en-US" sz="1600" dirty="0"/>
          </a:p>
        </p:txBody>
      </p:sp>
      <p:sp>
        <p:nvSpPr>
          <p:cNvPr id="24" name="Shape 21"/>
          <p:cNvSpPr/>
          <p:nvPr/>
        </p:nvSpPr>
        <p:spPr>
          <a:xfrm>
            <a:off x="868680" y="5010912"/>
            <a:ext cx="10378440" cy="713232"/>
          </a:xfrm>
          <a:prstGeom prst="roundRect">
            <a:avLst>
              <a:gd name="adj" fmla="val 5128"/>
            </a:avLst>
          </a:prstGeom>
          <a:solidFill>
            <a:srgbClr val="EFF7F7"/>
          </a:solidFill>
          <a:ln w="16510">
            <a:solidFill>
              <a:srgbClr val="0F9D96"/>
            </a:solidFill>
            <a:prstDash val="solid"/>
          </a:ln>
        </p:spPr>
      </p:sp>
      <p:sp>
        <p:nvSpPr>
          <p:cNvPr id="25" name="Text 22"/>
          <p:cNvSpPr/>
          <p:nvPr/>
        </p:nvSpPr>
        <p:spPr>
          <a:xfrm>
            <a:off x="1097280" y="5212080"/>
            <a:ext cx="411480" cy="228600"/>
          </a:xfrm>
          <a:prstGeom prst="rect">
            <a:avLst/>
          </a:prstGeom>
          <a:noFill/>
          <a:ln/>
        </p:spPr>
        <p:txBody>
          <a:bodyPr wrap="square" lIns="0" tIns="0" rIns="0" bIns="0" rtlCol="0" anchor="ctr"/>
          <a:lstStyle/>
          <a:p>
            <a:pPr algn="ctr" indent="0" marL="0">
              <a:buNone/>
            </a:pPr>
            <a:r>
              <a:rPr lang="en-US" sz="1500" b="1" dirty="0">
                <a:solidFill>
                  <a:srgbClr val="0F9D96"/>
                </a:solidFill>
              </a:rPr>
              <a:t>5</a:t>
            </a:r>
            <a:endParaRPr lang="en-US" sz="1500" dirty="0"/>
          </a:p>
        </p:txBody>
      </p:sp>
      <p:sp>
        <p:nvSpPr>
          <p:cNvPr id="26" name="Text 23"/>
          <p:cNvSpPr/>
          <p:nvPr/>
        </p:nvSpPr>
        <p:spPr>
          <a:xfrm>
            <a:off x="1691640" y="5175504"/>
            <a:ext cx="2057400" cy="228600"/>
          </a:xfrm>
          <a:prstGeom prst="rect">
            <a:avLst/>
          </a:prstGeom>
          <a:noFill/>
          <a:ln/>
        </p:spPr>
        <p:txBody>
          <a:bodyPr wrap="square" lIns="0" tIns="0" rIns="0" bIns="0" rtlCol="0" anchor="ctr"/>
          <a:lstStyle/>
          <a:p>
            <a:pPr indent="0" marL="0">
              <a:buNone/>
            </a:pPr>
            <a:r>
              <a:rPr lang="en-US" sz="1400" b="1" dirty="0">
                <a:solidFill>
                  <a:srgbClr val="123247"/>
                </a:solidFill>
              </a:rPr>
              <a:t>POST ONCE</a:t>
            </a:r>
            <a:endParaRPr lang="en-US" sz="1400" dirty="0"/>
          </a:p>
        </p:txBody>
      </p:sp>
      <p:sp>
        <p:nvSpPr>
          <p:cNvPr id="27" name="Text 24"/>
          <p:cNvSpPr/>
          <p:nvPr/>
        </p:nvSpPr>
        <p:spPr>
          <a:xfrm>
            <a:off x="3840480" y="5157216"/>
            <a:ext cx="6903720" cy="274320"/>
          </a:xfrm>
          <a:prstGeom prst="rect">
            <a:avLst/>
          </a:prstGeom>
          <a:noFill/>
          <a:ln/>
        </p:spPr>
        <p:txBody>
          <a:bodyPr wrap="square" lIns="0" tIns="0" rIns="0" bIns="0" rtlCol="0" anchor="ctr">
            <a:normAutofit/>
          </a:bodyPr>
          <a:lstStyle/>
          <a:p>
            <a:pPr indent="0" marL="0">
              <a:buNone/>
            </a:pPr>
            <a:r>
              <a:rPr lang="en-US" sz="1600" dirty="0">
                <a:solidFill>
                  <a:srgbClr val="16303D"/>
                </a:solidFill>
              </a:rPr>
              <a:t>Verify completion from live state</a:t>
            </a:r>
            <a:endParaRPr lang="en-US" sz="16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Controlled status makes restricted stock visible</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16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868680" y="1234440"/>
            <a:ext cx="2103120" cy="566928"/>
          </a:xfrm>
          <a:prstGeom prst="roundRect">
            <a:avLst>
              <a:gd name="adj" fmla="val 8065"/>
            </a:avLst>
          </a:prstGeom>
          <a:solidFill>
            <a:srgbClr val="FFC928"/>
          </a:solidFill>
          <a:ln w="12700">
            <a:solidFill>
              <a:srgbClr val="FFC928"/>
            </a:solidFill>
            <a:prstDash val="solid"/>
          </a:ln>
        </p:spPr>
      </p:sp>
      <p:sp>
        <p:nvSpPr>
          <p:cNvPr id="9" name="Text 6"/>
          <p:cNvSpPr/>
          <p:nvPr/>
        </p:nvSpPr>
        <p:spPr>
          <a:xfrm>
            <a:off x="1005840" y="1408176"/>
            <a:ext cx="1828800" cy="201168"/>
          </a:xfrm>
          <a:prstGeom prst="rect">
            <a:avLst/>
          </a:prstGeom>
          <a:noFill/>
          <a:ln/>
        </p:spPr>
        <p:txBody>
          <a:bodyPr wrap="square" lIns="0" tIns="0" rIns="0" bIns="0" rtlCol="0" anchor="ctr"/>
          <a:lstStyle/>
          <a:p>
            <a:pPr algn="ctr" indent="0" marL="0">
              <a:buNone/>
            </a:pPr>
            <a:r>
              <a:rPr lang="en-US" sz="1300" b="1" dirty="0">
                <a:solidFill>
                  <a:srgbClr val="123247"/>
                </a:solidFill>
              </a:rPr>
              <a:t>HOLD</a:t>
            </a:r>
            <a:endParaRPr lang="en-US" sz="1300" dirty="0"/>
          </a:p>
        </p:txBody>
      </p:sp>
      <p:sp>
        <p:nvSpPr>
          <p:cNvPr id="10" name="Text 7"/>
          <p:cNvSpPr/>
          <p:nvPr/>
        </p:nvSpPr>
        <p:spPr>
          <a:xfrm>
            <a:off x="3337560" y="1362456"/>
            <a:ext cx="7315200" cy="274320"/>
          </a:xfrm>
          <a:prstGeom prst="rect">
            <a:avLst/>
          </a:prstGeom>
          <a:noFill/>
          <a:ln/>
        </p:spPr>
        <p:txBody>
          <a:bodyPr wrap="square" lIns="0" tIns="0" rIns="0" bIns="0" rtlCol="0" anchor="ctr"/>
          <a:lstStyle/>
          <a:p>
            <a:pPr indent="0" marL="0">
              <a:buNone/>
            </a:pPr>
            <a:r>
              <a:rPr lang="en-US" sz="1800" dirty="0">
                <a:solidFill>
                  <a:srgbClr val="16303D"/>
                </a:solidFill>
              </a:rPr>
              <a:t>Review needed; disposition unknown</a:t>
            </a:r>
            <a:endParaRPr lang="en-US" sz="1800" dirty="0"/>
          </a:p>
        </p:txBody>
      </p:sp>
      <p:sp>
        <p:nvSpPr>
          <p:cNvPr id="11" name="Shape 8"/>
          <p:cNvSpPr/>
          <p:nvPr/>
        </p:nvSpPr>
        <p:spPr>
          <a:xfrm>
            <a:off x="868680" y="2121408"/>
            <a:ext cx="2103120" cy="566928"/>
          </a:xfrm>
          <a:prstGeom prst="roundRect">
            <a:avLst>
              <a:gd name="adj" fmla="val 8065"/>
            </a:avLst>
          </a:prstGeom>
          <a:solidFill>
            <a:srgbClr val="F47C20"/>
          </a:solidFill>
          <a:ln w="12700">
            <a:solidFill>
              <a:srgbClr val="F47C20"/>
            </a:solidFill>
            <a:prstDash val="solid"/>
          </a:ln>
        </p:spPr>
      </p:sp>
      <p:sp>
        <p:nvSpPr>
          <p:cNvPr id="12" name="Text 9"/>
          <p:cNvSpPr/>
          <p:nvPr/>
        </p:nvSpPr>
        <p:spPr>
          <a:xfrm>
            <a:off x="1005840" y="2295144"/>
            <a:ext cx="1828800" cy="201168"/>
          </a:xfrm>
          <a:prstGeom prst="rect">
            <a:avLst/>
          </a:prstGeom>
          <a:noFill/>
          <a:ln/>
        </p:spPr>
        <p:txBody>
          <a:bodyPr wrap="square" lIns="0" tIns="0" rIns="0" bIns="0" rtlCol="0" anchor="ctr"/>
          <a:lstStyle/>
          <a:p>
            <a:pPr algn="ctr" indent="0" marL="0">
              <a:buNone/>
            </a:pPr>
            <a:r>
              <a:rPr lang="en-US" sz="1300" b="1" dirty="0">
                <a:solidFill>
                  <a:srgbClr val="FFFFFF"/>
                </a:solidFill>
              </a:rPr>
              <a:t>QUARANTINE</a:t>
            </a:r>
            <a:endParaRPr lang="en-US" sz="1300" dirty="0"/>
          </a:p>
        </p:txBody>
      </p:sp>
      <p:sp>
        <p:nvSpPr>
          <p:cNvPr id="13" name="Text 10"/>
          <p:cNvSpPr/>
          <p:nvPr/>
        </p:nvSpPr>
        <p:spPr>
          <a:xfrm>
            <a:off x="3337560" y="2249424"/>
            <a:ext cx="7315200" cy="274320"/>
          </a:xfrm>
          <a:prstGeom prst="rect">
            <a:avLst/>
          </a:prstGeom>
          <a:noFill/>
          <a:ln/>
        </p:spPr>
        <p:txBody>
          <a:bodyPr wrap="square" lIns="0" tIns="0" rIns="0" bIns="0" rtlCol="0" anchor="ctr"/>
          <a:lstStyle/>
          <a:p>
            <a:pPr indent="0" marL="0">
              <a:buNone/>
            </a:pPr>
            <a:r>
              <a:rPr lang="en-US" sz="1800" dirty="0">
                <a:solidFill>
                  <a:srgbClr val="16303D"/>
                </a:solidFill>
              </a:rPr>
              <a:t>Quality / expiry / contamination / temperature</a:t>
            </a:r>
            <a:endParaRPr lang="en-US" sz="1800" dirty="0"/>
          </a:p>
        </p:txBody>
      </p:sp>
      <p:sp>
        <p:nvSpPr>
          <p:cNvPr id="14" name="Shape 11"/>
          <p:cNvSpPr/>
          <p:nvPr/>
        </p:nvSpPr>
        <p:spPr>
          <a:xfrm>
            <a:off x="868680" y="3008376"/>
            <a:ext cx="2103120" cy="566928"/>
          </a:xfrm>
          <a:prstGeom prst="roundRect">
            <a:avLst>
              <a:gd name="adj" fmla="val 8065"/>
            </a:avLst>
          </a:prstGeom>
          <a:solidFill>
            <a:srgbClr val="C93C3C"/>
          </a:solidFill>
          <a:ln w="12700">
            <a:solidFill>
              <a:srgbClr val="C93C3C"/>
            </a:solidFill>
            <a:prstDash val="solid"/>
          </a:ln>
        </p:spPr>
      </p:sp>
      <p:sp>
        <p:nvSpPr>
          <p:cNvPr id="15" name="Text 12"/>
          <p:cNvSpPr/>
          <p:nvPr/>
        </p:nvSpPr>
        <p:spPr>
          <a:xfrm>
            <a:off x="1005840" y="3182112"/>
            <a:ext cx="1828800" cy="201168"/>
          </a:xfrm>
          <a:prstGeom prst="rect">
            <a:avLst/>
          </a:prstGeom>
          <a:noFill/>
          <a:ln/>
        </p:spPr>
        <p:txBody>
          <a:bodyPr wrap="square" lIns="0" tIns="0" rIns="0" bIns="0" rtlCol="0" anchor="ctr"/>
          <a:lstStyle/>
          <a:p>
            <a:pPr algn="ctr" indent="0" marL="0">
              <a:buNone/>
            </a:pPr>
            <a:r>
              <a:rPr lang="en-US" sz="1300" b="1" dirty="0">
                <a:solidFill>
                  <a:srgbClr val="FFFFFF"/>
                </a:solidFill>
              </a:rPr>
              <a:t>DAMAGED</a:t>
            </a:r>
            <a:endParaRPr lang="en-US" sz="1300" dirty="0"/>
          </a:p>
        </p:txBody>
      </p:sp>
      <p:sp>
        <p:nvSpPr>
          <p:cNvPr id="16" name="Text 13"/>
          <p:cNvSpPr/>
          <p:nvPr/>
        </p:nvSpPr>
        <p:spPr>
          <a:xfrm>
            <a:off x="3337560" y="3136392"/>
            <a:ext cx="7315200" cy="274320"/>
          </a:xfrm>
          <a:prstGeom prst="rect">
            <a:avLst/>
          </a:prstGeom>
          <a:noFill/>
          <a:ln/>
        </p:spPr>
        <p:txBody>
          <a:bodyPr wrap="square" lIns="0" tIns="0" rIns="0" bIns="0" rtlCol="0" anchor="ctr"/>
          <a:lstStyle/>
          <a:p>
            <a:pPr indent="0" marL="0">
              <a:buNone/>
            </a:pPr>
            <a:r>
              <a:rPr lang="en-US" sz="1800" dirty="0">
                <a:solidFill>
                  <a:srgbClr val="16303D"/>
                </a:solidFill>
              </a:rPr>
              <a:t>Verified physical damage</a:t>
            </a:r>
            <a:endParaRPr lang="en-US" sz="1800" dirty="0"/>
          </a:p>
        </p:txBody>
      </p:sp>
      <p:sp>
        <p:nvSpPr>
          <p:cNvPr id="17" name="Shape 14"/>
          <p:cNvSpPr/>
          <p:nvPr/>
        </p:nvSpPr>
        <p:spPr>
          <a:xfrm>
            <a:off x="868680" y="3895344"/>
            <a:ext cx="2103120" cy="566928"/>
          </a:xfrm>
          <a:prstGeom prst="roundRect">
            <a:avLst>
              <a:gd name="adj" fmla="val 8065"/>
            </a:avLst>
          </a:prstGeom>
          <a:solidFill>
            <a:srgbClr val="123247"/>
          </a:solidFill>
          <a:ln w="12700">
            <a:solidFill>
              <a:srgbClr val="123247"/>
            </a:solidFill>
            <a:prstDash val="solid"/>
          </a:ln>
        </p:spPr>
      </p:sp>
      <p:sp>
        <p:nvSpPr>
          <p:cNvPr id="18" name="Text 15"/>
          <p:cNvSpPr/>
          <p:nvPr/>
        </p:nvSpPr>
        <p:spPr>
          <a:xfrm>
            <a:off x="1005840" y="4069080"/>
            <a:ext cx="1828800" cy="201168"/>
          </a:xfrm>
          <a:prstGeom prst="rect">
            <a:avLst/>
          </a:prstGeom>
          <a:noFill/>
          <a:ln/>
        </p:spPr>
        <p:txBody>
          <a:bodyPr wrap="square" lIns="0" tIns="0" rIns="0" bIns="0" rtlCol="0" anchor="ctr"/>
          <a:lstStyle/>
          <a:p>
            <a:pPr algn="ctr" indent="0" marL="0">
              <a:buNone/>
            </a:pPr>
            <a:r>
              <a:rPr lang="en-US" sz="1300" b="1" dirty="0">
                <a:solidFill>
                  <a:srgbClr val="FFFFFF"/>
                </a:solidFill>
              </a:rPr>
              <a:t>MISSING</a:t>
            </a:r>
            <a:endParaRPr lang="en-US" sz="1300" dirty="0"/>
          </a:p>
        </p:txBody>
      </p:sp>
      <p:sp>
        <p:nvSpPr>
          <p:cNvPr id="19" name="Text 16"/>
          <p:cNvSpPr/>
          <p:nvPr/>
        </p:nvSpPr>
        <p:spPr>
          <a:xfrm>
            <a:off x="3337560" y="4023360"/>
            <a:ext cx="7315200" cy="274320"/>
          </a:xfrm>
          <a:prstGeom prst="rect">
            <a:avLst/>
          </a:prstGeom>
          <a:noFill/>
          <a:ln/>
        </p:spPr>
        <p:txBody>
          <a:bodyPr wrap="square" lIns="0" tIns="0" rIns="0" bIns="0" rtlCol="0" anchor="ctr"/>
          <a:lstStyle/>
          <a:p>
            <a:pPr indent="0" marL="0">
              <a:buNone/>
            </a:pPr>
            <a:r>
              <a:rPr lang="en-US" sz="1800" dirty="0">
                <a:solidFill>
                  <a:srgbClr val="16303D"/>
                </a:solidFill>
              </a:rPr>
              <a:t>Verified search/count supports it</a:t>
            </a:r>
            <a:endParaRPr lang="en-US" sz="1800" dirty="0"/>
          </a:p>
        </p:txBody>
      </p:sp>
      <p:sp>
        <p:nvSpPr>
          <p:cNvPr id="20" name="Shape 17"/>
          <p:cNvSpPr/>
          <p:nvPr/>
        </p:nvSpPr>
        <p:spPr>
          <a:xfrm>
            <a:off x="868680" y="4782312"/>
            <a:ext cx="2103120" cy="566928"/>
          </a:xfrm>
          <a:prstGeom prst="roundRect">
            <a:avLst>
              <a:gd name="adj" fmla="val 8065"/>
            </a:avLst>
          </a:prstGeom>
          <a:solidFill>
            <a:srgbClr val="2F8F5B"/>
          </a:solidFill>
          <a:ln w="12700">
            <a:solidFill>
              <a:srgbClr val="2F8F5B"/>
            </a:solidFill>
            <a:prstDash val="solid"/>
          </a:ln>
        </p:spPr>
      </p:sp>
      <p:sp>
        <p:nvSpPr>
          <p:cNvPr id="21" name="Text 18"/>
          <p:cNvSpPr/>
          <p:nvPr/>
        </p:nvSpPr>
        <p:spPr>
          <a:xfrm>
            <a:off x="1005840" y="4956048"/>
            <a:ext cx="1828800" cy="201168"/>
          </a:xfrm>
          <a:prstGeom prst="rect">
            <a:avLst/>
          </a:prstGeom>
          <a:noFill/>
          <a:ln/>
        </p:spPr>
        <p:txBody>
          <a:bodyPr wrap="square" lIns="0" tIns="0" rIns="0" bIns="0" rtlCol="0" anchor="ctr"/>
          <a:lstStyle/>
          <a:p>
            <a:pPr algn="ctr" indent="0" marL="0">
              <a:buNone/>
            </a:pPr>
            <a:r>
              <a:rPr lang="en-US" sz="1300" b="1" dirty="0">
                <a:solidFill>
                  <a:srgbClr val="FFFFFF"/>
                </a:solidFill>
              </a:rPr>
              <a:t>AVAILABLE</a:t>
            </a:r>
            <a:endParaRPr lang="en-US" sz="1300" dirty="0"/>
          </a:p>
        </p:txBody>
      </p:sp>
      <p:sp>
        <p:nvSpPr>
          <p:cNvPr id="22" name="Text 19"/>
          <p:cNvSpPr/>
          <p:nvPr/>
        </p:nvSpPr>
        <p:spPr>
          <a:xfrm>
            <a:off x="3337560" y="4910328"/>
            <a:ext cx="7315200" cy="274320"/>
          </a:xfrm>
          <a:prstGeom prst="rect">
            <a:avLst/>
          </a:prstGeom>
          <a:noFill/>
          <a:ln/>
        </p:spPr>
        <p:txBody>
          <a:bodyPr wrap="square" lIns="0" tIns="0" rIns="0" bIns="0" rtlCol="0" anchor="ctr"/>
          <a:lstStyle/>
          <a:p>
            <a:pPr indent="0" marL="0">
              <a:buNone/>
            </a:pPr>
            <a:r>
              <a:rPr lang="en-US" sz="1800" dirty="0">
                <a:solidFill>
                  <a:srgbClr val="16303D"/>
                </a:solidFill>
              </a:rPr>
              <a:t>Authorized and verified for normal work</a:t>
            </a:r>
            <a:endParaRPr lang="en-US" sz="1800" dirty="0"/>
          </a:p>
        </p:txBody>
      </p:sp>
      <p:sp>
        <p:nvSpPr>
          <p:cNvPr id="23" name="Text 20"/>
          <p:cNvSpPr/>
          <p:nvPr/>
        </p:nvSpPr>
        <p:spPr>
          <a:xfrm>
            <a:off x="914400" y="5806440"/>
            <a:ext cx="10332720" cy="274320"/>
          </a:xfrm>
          <a:prstGeom prst="rect">
            <a:avLst/>
          </a:prstGeom>
          <a:noFill/>
          <a:ln/>
        </p:spPr>
        <p:txBody>
          <a:bodyPr wrap="square" lIns="0" tIns="0" rIns="0" bIns="0" rtlCol="0" anchor="ctr"/>
          <a:lstStyle/>
          <a:p>
            <a:pPr algn="ctr" indent="0" marL="0">
              <a:buNone/>
            </a:pPr>
            <a:r>
              <a:rPr lang="en-US" sz="1400" i="1" dirty="0">
                <a:solidFill>
                  <a:srgbClr val="087B76"/>
                </a:solidFill>
              </a:rPr>
              <a:t>Every change needs a reason. Add a System Log owner when follow-up is required.</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The dashboard backs up the walk-around—it does not replace it</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17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3 min</a:t>
            </a:r>
            <a:endParaRPr lang="en-US" sz="800" dirty="0"/>
          </a:p>
        </p:txBody>
      </p:sp>
      <p:sp>
        <p:nvSpPr>
          <p:cNvPr id="8" name="Shape 5"/>
          <p:cNvSpPr/>
          <p:nvPr/>
        </p:nvSpPr>
        <p:spPr>
          <a:xfrm>
            <a:off x="594360" y="1325880"/>
            <a:ext cx="3429000" cy="2057400"/>
          </a:xfrm>
          <a:prstGeom prst="roundRect">
            <a:avLst>
              <a:gd name="adj" fmla="val 3556"/>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9" name="Shape 6"/>
          <p:cNvSpPr/>
          <p:nvPr/>
        </p:nvSpPr>
        <p:spPr>
          <a:xfrm>
            <a:off x="594360" y="1325880"/>
            <a:ext cx="73152" cy="2057400"/>
          </a:xfrm>
          <a:prstGeom prst="rect">
            <a:avLst/>
          </a:prstGeom>
          <a:solidFill>
            <a:srgbClr val="0F9D96"/>
          </a:solidFill>
          <a:ln w="12700">
            <a:solidFill>
              <a:srgbClr val="0F9D96"/>
            </a:solidFill>
            <a:prstDash val="solid"/>
          </a:ln>
        </p:spPr>
      </p:sp>
      <p:sp>
        <p:nvSpPr>
          <p:cNvPr id="10" name="Text 7"/>
          <p:cNvSpPr/>
          <p:nvPr/>
        </p:nvSpPr>
        <p:spPr>
          <a:xfrm>
            <a:off x="822960" y="1527048"/>
            <a:ext cx="301752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START</a:t>
            </a:r>
            <a:endParaRPr lang="en-US" sz="1300" dirty="0"/>
          </a:p>
        </p:txBody>
      </p:sp>
      <p:sp>
        <p:nvSpPr>
          <p:cNvPr id="11" name="Text 8"/>
          <p:cNvSpPr/>
          <p:nvPr/>
        </p:nvSpPr>
        <p:spPr>
          <a:xfrm>
            <a:off x="822960" y="1965960"/>
            <a:ext cx="3017520" cy="12344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Open work · people · space · RF</a:t>
            </a:r>
            <a:endParaRPr lang="en-US" sz="1700" dirty="0"/>
          </a:p>
        </p:txBody>
      </p:sp>
      <p:sp>
        <p:nvSpPr>
          <p:cNvPr id="12" name="Shape 9"/>
          <p:cNvSpPr/>
          <p:nvPr/>
        </p:nvSpPr>
        <p:spPr>
          <a:xfrm>
            <a:off x="4434840" y="1325880"/>
            <a:ext cx="3429000" cy="2057400"/>
          </a:xfrm>
          <a:prstGeom prst="roundRect">
            <a:avLst>
              <a:gd name="adj" fmla="val 3556"/>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3" name="Shape 10"/>
          <p:cNvSpPr/>
          <p:nvPr/>
        </p:nvSpPr>
        <p:spPr>
          <a:xfrm>
            <a:off x="4434840" y="1325880"/>
            <a:ext cx="73152" cy="2057400"/>
          </a:xfrm>
          <a:prstGeom prst="rect">
            <a:avLst/>
          </a:prstGeom>
          <a:solidFill>
            <a:srgbClr val="F47C20"/>
          </a:solidFill>
          <a:ln w="12700">
            <a:solidFill>
              <a:srgbClr val="F47C20"/>
            </a:solidFill>
            <a:prstDash val="solid"/>
          </a:ln>
        </p:spPr>
      </p:sp>
      <p:sp>
        <p:nvSpPr>
          <p:cNvPr id="14" name="Text 11"/>
          <p:cNvSpPr/>
          <p:nvPr/>
        </p:nvSpPr>
        <p:spPr>
          <a:xfrm>
            <a:off x="4663440" y="1527048"/>
            <a:ext cx="301752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MID-SHIFT</a:t>
            </a:r>
            <a:endParaRPr lang="en-US" sz="1300" dirty="0"/>
          </a:p>
        </p:txBody>
      </p:sp>
      <p:sp>
        <p:nvSpPr>
          <p:cNvPr id="15" name="Text 12"/>
          <p:cNvSpPr/>
          <p:nvPr/>
        </p:nvSpPr>
        <p:spPr>
          <a:xfrm>
            <a:off x="4663440" y="1965960"/>
            <a:ext cx="3017520" cy="123444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Backlog · staging · holds · expiry</a:t>
            </a:r>
            <a:endParaRPr lang="en-US" sz="1700" dirty="0"/>
          </a:p>
        </p:txBody>
      </p:sp>
      <p:pic>
        <p:nvPicPr>
          <p:cNvPr id="16" name="Image 0" descr="C:\classicitbb\warehouse-wizard\docs\training\assets\manager-floor-conversation.png">    </p:cNvPr>
          <p:cNvPicPr>
            <a:picLocks noChangeAspect="1"/>
          </p:cNvPicPr>
          <p:nvPr/>
        </p:nvPicPr>
        <p:blipFill>
          <a:blip r:embed="rId1"/>
          <a:stretch>
            <a:fillRect/>
          </a:stretch>
        </p:blipFill>
        <p:spPr>
          <a:xfrm>
            <a:off x="8275320" y="1325880"/>
            <a:ext cx="3429000" cy="2057400"/>
          </a:xfrm>
          <a:prstGeom prst="rect">
            <a:avLst/>
          </a:prstGeom>
        </p:spPr>
      </p:pic>
      <p:sp>
        <p:nvSpPr>
          <p:cNvPr id="17" name="Shape 13"/>
          <p:cNvSpPr/>
          <p:nvPr/>
        </p:nvSpPr>
        <p:spPr>
          <a:xfrm>
            <a:off x="8275320" y="1325880"/>
            <a:ext cx="3429000" cy="2057400"/>
          </a:xfrm>
          <a:prstGeom prst="roundRect">
            <a:avLst>
              <a:gd name="adj" fmla="val 2667"/>
            </a:avLst>
          </a:prstGeom>
          <a:solidFill>
            <a:srgbClr val="123247">
              <a:alpha val="58000"/>
            </a:srgbClr>
          </a:solidFill>
          <a:ln w="15240">
            <a:solidFill>
              <a:srgbClr val="123247"/>
            </a:solidFill>
            <a:prstDash val="solid"/>
          </a:ln>
        </p:spPr>
      </p:sp>
      <p:sp>
        <p:nvSpPr>
          <p:cNvPr id="18" name="Text 14"/>
          <p:cNvSpPr/>
          <p:nvPr/>
        </p:nvSpPr>
        <p:spPr>
          <a:xfrm>
            <a:off x="8503920" y="1536192"/>
            <a:ext cx="2971800" cy="256032"/>
          </a:xfrm>
          <a:prstGeom prst="rect">
            <a:avLst/>
          </a:prstGeom>
          <a:noFill/>
          <a:ln/>
        </p:spPr>
        <p:txBody>
          <a:bodyPr wrap="square" lIns="0" tIns="0" rIns="0" bIns="0" rtlCol="0" anchor="ctr"/>
          <a:lstStyle/>
          <a:p>
            <a:pPr indent="0" marL="0">
              <a:buNone/>
            </a:pPr>
            <a:r>
              <a:rPr lang="en-US" sz="1300" b="1" dirty="0">
                <a:solidFill>
                  <a:srgbClr val="FFC928"/>
                </a:solidFill>
              </a:rPr>
              <a:t>END</a:t>
            </a:r>
            <a:endParaRPr lang="en-US" sz="1300" dirty="0"/>
          </a:p>
        </p:txBody>
      </p:sp>
      <p:sp>
        <p:nvSpPr>
          <p:cNvPr id="19" name="Text 15"/>
          <p:cNvSpPr/>
          <p:nvPr/>
        </p:nvSpPr>
        <p:spPr>
          <a:xfrm>
            <a:off x="8503920" y="2148840"/>
            <a:ext cx="2971800" cy="731520"/>
          </a:xfrm>
          <a:prstGeom prst="rect">
            <a:avLst/>
          </a:prstGeom>
          <a:noFill/>
          <a:ln/>
        </p:spPr>
        <p:txBody>
          <a:bodyPr wrap="square" lIns="0" tIns="0" rIns="0" bIns="0" rtlCol="0" anchor="ctr">
            <a:normAutofit/>
          </a:bodyPr>
          <a:lstStyle/>
          <a:p>
            <a:pPr indent="0" marL="0">
              <a:buNone/>
            </a:pPr>
            <a:r>
              <a:rPr lang="en-US" sz="1700" b="1" dirty="0">
                <a:solidFill>
                  <a:srgbClr val="FFFFFF"/>
                </a:solidFill>
              </a:rPr>
              <a:t>Floor vs queues · owners · safe handoff</a:t>
            </a:r>
            <a:endParaRPr lang="en-US" sz="1700" dirty="0"/>
          </a:p>
        </p:txBody>
      </p:sp>
      <p:sp>
        <p:nvSpPr>
          <p:cNvPr id="20" name="Text 16"/>
          <p:cNvSpPr/>
          <p:nvPr/>
        </p:nvSpPr>
        <p:spPr>
          <a:xfrm>
            <a:off x="777240" y="3886200"/>
            <a:ext cx="2148840" cy="274320"/>
          </a:xfrm>
          <a:prstGeom prst="rect">
            <a:avLst/>
          </a:prstGeom>
          <a:noFill/>
          <a:ln/>
        </p:spPr>
        <p:txBody>
          <a:bodyPr wrap="square" lIns="0" tIns="0" rIns="0" bIns="0" rtlCol="0" anchor="ctr"/>
          <a:lstStyle/>
          <a:p>
            <a:pPr indent="0" marL="0">
              <a:buNone/>
            </a:pPr>
            <a:r>
              <a:rPr lang="en-US" sz="1300" b="1" spc="100" kern="0" dirty="0">
                <a:solidFill>
                  <a:srgbClr val="087B76"/>
                </a:solidFill>
              </a:rPr>
              <a:t>THE FOUR QUESTIONS</a:t>
            </a:r>
            <a:endParaRPr lang="en-US" sz="1300" dirty="0"/>
          </a:p>
        </p:txBody>
      </p:sp>
      <p:sp>
        <p:nvSpPr>
          <p:cNvPr id="21" name="Shape 17"/>
          <p:cNvSpPr/>
          <p:nvPr/>
        </p:nvSpPr>
        <p:spPr>
          <a:xfrm>
            <a:off x="777240" y="4434840"/>
            <a:ext cx="4983480" cy="347472"/>
          </a:xfrm>
          <a:prstGeom prst="roundRect">
            <a:avLst>
              <a:gd name="adj" fmla="val 21053"/>
            </a:avLst>
          </a:prstGeom>
          <a:solidFill>
            <a:srgbClr val="123247"/>
          </a:solidFill>
          <a:ln w="12700">
            <a:solidFill>
              <a:srgbClr val="123247"/>
            </a:solidFill>
            <a:prstDash val="solid"/>
          </a:ln>
        </p:spPr>
      </p:sp>
      <p:sp>
        <p:nvSpPr>
          <p:cNvPr id="22" name="Text 18"/>
          <p:cNvSpPr/>
          <p:nvPr/>
        </p:nvSpPr>
        <p:spPr>
          <a:xfrm>
            <a:off x="832104" y="4489704"/>
            <a:ext cx="48737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WHERE IS WORK ACCUMULATING?</a:t>
            </a:r>
            <a:endParaRPr lang="en-US" sz="900" dirty="0"/>
          </a:p>
        </p:txBody>
      </p:sp>
      <p:sp>
        <p:nvSpPr>
          <p:cNvPr id="23" name="Shape 19"/>
          <p:cNvSpPr/>
          <p:nvPr/>
        </p:nvSpPr>
        <p:spPr>
          <a:xfrm>
            <a:off x="6263640" y="4434840"/>
            <a:ext cx="4983480" cy="347472"/>
          </a:xfrm>
          <a:prstGeom prst="roundRect">
            <a:avLst>
              <a:gd name="adj" fmla="val 21053"/>
            </a:avLst>
          </a:prstGeom>
          <a:solidFill>
            <a:srgbClr val="123247"/>
          </a:solidFill>
          <a:ln w="12700">
            <a:solidFill>
              <a:srgbClr val="123247"/>
            </a:solidFill>
            <a:prstDash val="solid"/>
          </a:ln>
        </p:spPr>
      </p:sp>
      <p:sp>
        <p:nvSpPr>
          <p:cNvPr id="24" name="Text 20"/>
          <p:cNvSpPr/>
          <p:nvPr/>
        </p:nvSpPr>
        <p:spPr>
          <a:xfrm>
            <a:off x="6318504" y="4489704"/>
            <a:ext cx="48737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WHAT IS BLOCKED?</a:t>
            </a:r>
            <a:endParaRPr lang="en-US" sz="900" dirty="0"/>
          </a:p>
        </p:txBody>
      </p:sp>
      <p:sp>
        <p:nvSpPr>
          <p:cNvPr id="25" name="Shape 21"/>
          <p:cNvSpPr/>
          <p:nvPr/>
        </p:nvSpPr>
        <p:spPr>
          <a:xfrm>
            <a:off x="777240" y="5184648"/>
            <a:ext cx="4983480" cy="347472"/>
          </a:xfrm>
          <a:prstGeom prst="roundRect">
            <a:avLst>
              <a:gd name="adj" fmla="val 21053"/>
            </a:avLst>
          </a:prstGeom>
          <a:solidFill>
            <a:srgbClr val="F47C20"/>
          </a:solidFill>
          <a:ln w="12700">
            <a:solidFill>
              <a:srgbClr val="F47C20"/>
            </a:solidFill>
            <a:prstDash val="solid"/>
          </a:ln>
        </p:spPr>
      </p:sp>
      <p:sp>
        <p:nvSpPr>
          <p:cNvPr id="26" name="Text 22"/>
          <p:cNvSpPr/>
          <p:nvPr/>
        </p:nvSpPr>
        <p:spPr>
          <a:xfrm>
            <a:off x="832104" y="5239512"/>
            <a:ext cx="48737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WHO OWNS IT?</a:t>
            </a:r>
            <a:endParaRPr lang="en-US" sz="900" dirty="0"/>
          </a:p>
        </p:txBody>
      </p:sp>
      <p:sp>
        <p:nvSpPr>
          <p:cNvPr id="27" name="Shape 23"/>
          <p:cNvSpPr/>
          <p:nvPr/>
        </p:nvSpPr>
        <p:spPr>
          <a:xfrm>
            <a:off x="6263640" y="5184648"/>
            <a:ext cx="4983480" cy="347472"/>
          </a:xfrm>
          <a:prstGeom prst="roundRect">
            <a:avLst>
              <a:gd name="adj" fmla="val 21053"/>
            </a:avLst>
          </a:prstGeom>
          <a:solidFill>
            <a:srgbClr val="123247"/>
          </a:solidFill>
          <a:ln w="12700">
            <a:solidFill>
              <a:srgbClr val="123247"/>
            </a:solidFill>
            <a:prstDash val="solid"/>
          </a:ln>
        </p:spPr>
      </p:sp>
      <p:sp>
        <p:nvSpPr>
          <p:cNvPr id="28" name="Text 24"/>
          <p:cNvSpPr/>
          <p:nvPr/>
        </p:nvSpPr>
        <p:spPr>
          <a:xfrm>
            <a:off x="6318504" y="5239512"/>
            <a:ext cx="48737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WHEN IS IT DUE?</a:t>
            </a:r>
            <a:endParaRPr lang="en-US" sz="9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434"/>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Tabletop: the pallet is short and the device just reconnected</a:t>
            </a:r>
            <a:endParaRPr lang="en-US" sz="2400" dirty="0"/>
          </a:p>
        </p:txBody>
      </p:sp>
      <p:sp>
        <p:nvSpPr>
          <p:cNvPr id="5" name="Shape 2"/>
          <p:cNvSpPr/>
          <p:nvPr/>
        </p:nvSpPr>
        <p:spPr>
          <a:xfrm>
            <a:off x="530352" y="950976"/>
            <a:ext cx="10972800" cy="0"/>
          </a:xfrm>
          <a:prstGeom prst="line">
            <a:avLst/>
          </a:prstGeom>
          <a:noFill/>
          <a:ln w="12700">
            <a:solidFill>
              <a:srgbClr val="315064"/>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18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4 min</a:t>
            </a:r>
            <a:endParaRPr lang="en-US" sz="800" dirty="0"/>
          </a:p>
        </p:txBody>
      </p:sp>
      <p:sp>
        <p:nvSpPr>
          <p:cNvPr id="8" name="Shape 5"/>
          <p:cNvSpPr/>
          <p:nvPr/>
        </p:nvSpPr>
        <p:spPr>
          <a:xfrm>
            <a:off x="777240" y="1234440"/>
            <a:ext cx="10652760" cy="1143000"/>
          </a:xfrm>
          <a:prstGeom prst="roundRect">
            <a:avLst>
              <a:gd name="adj" fmla="val 4800"/>
            </a:avLst>
          </a:prstGeom>
          <a:solidFill>
            <a:srgbClr val="17384A"/>
          </a:solidFill>
          <a:ln w="19050">
            <a:solidFill>
              <a:srgbClr val="0F9D96"/>
            </a:solidFill>
            <a:prstDash val="solid"/>
          </a:ln>
        </p:spPr>
      </p:sp>
      <p:sp>
        <p:nvSpPr>
          <p:cNvPr id="9" name="Text 6"/>
          <p:cNvSpPr/>
          <p:nvPr/>
        </p:nvSpPr>
        <p:spPr>
          <a:xfrm>
            <a:off x="1078992" y="1591056"/>
            <a:ext cx="10058400" cy="438912"/>
          </a:xfrm>
          <a:prstGeom prst="rect">
            <a:avLst/>
          </a:prstGeom>
          <a:noFill/>
          <a:ln/>
        </p:spPr>
        <p:txBody>
          <a:bodyPr wrap="square" lIns="0" tIns="0" rIns="0" bIns="0" rtlCol="0" anchor="ctr">
            <a:normAutofit/>
          </a:bodyPr>
          <a:lstStyle/>
          <a:p>
            <a:pPr algn="ctr" indent="0" marL="0">
              <a:buNone/>
            </a:pPr>
            <a:r>
              <a:rPr lang="en-US" sz="2100" b="1" dirty="0">
                <a:solidFill>
                  <a:srgbClr val="FFFFFF"/>
                </a:solidFill>
              </a:rPr>
              <a:t>Pick task expects 100. The pallet has 80. The operator scanned before RF dropped; the screen now reconnects.</a:t>
            </a:r>
            <a:endParaRPr lang="en-US" sz="2100" dirty="0"/>
          </a:p>
        </p:txBody>
      </p:sp>
      <p:sp>
        <p:nvSpPr>
          <p:cNvPr id="10" name="Shape 7"/>
          <p:cNvSpPr/>
          <p:nvPr/>
        </p:nvSpPr>
        <p:spPr>
          <a:xfrm>
            <a:off x="822960" y="2788920"/>
            <a:ext cx="5074920" cy="1024128"/>
          </a:xfrm>
          <a:prstGeom prst="roundRect">
            <a:avLst>
              <a:gd name="adj" fmla="val 714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1" name="Shape 8"/>
          <p:cNvSpPr/>
          <p:nvPr/>
        </p:nvSpPr>
        <p:spPr>
          <a:xfrm>
            <a:off x="822960" y="2788920"/>
            <a:ext cx="73152" cy="1024128"/>
          </a:xfrm>
          <a:prstGeom prst="rect">
            <a:avLst/>
          </a:prstGeom>
          <a:solidFill>
            <a:srgbClr val="0F9D96"/>
          </a:solidFill>
          <a:ln w="12700">
            <a:solidFill>
              <a:srgbClr val="0F9D96"/>
            </a:solidFill>
            <a:prstDash val="solid"/>
          </a:ln>
        </p:spPr>
      </p:sp>
      <p:sp>
        <p:nvSpPr>
          <p:cNvPr id="12" name="Text 9"/>
          <p:cNvSpPr/>
          <p:nvPr/>
        </p:nvSpPr>
        <p:spPr>
          <a:xfrm>
            <a:off x="1051560" y="2990088"/>
            <a:ext cx="466344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QUESTION 1</a:t>
            </a:r>
            <a:endParaRPr lang="en-US" sz="1300" dirty="0"/>
          </a:p>
        </p:txBody>
      </p:sp>
      <p:sp>
        <p:nvSpPr>
          <p:cNvPr id="13" name="Text 10"/>
          <p:cNvSpPr/>
          <p:nvPr/>
        </p:nvSpPr>
        <p:spPr>
          <a:xfrm>
            <a:off x="1051560" y="3429000"/>
            <a:ext cx="4663440" cy="201168"/>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What must the operator NOT do?</a:t>
            </a:r>
            <a:endParaRPr lang="en-US" sz="1700" dirty="0"/>
          </a:p>
        </p:txBody>
      </p:sp>
      <p:sp>
        <p:nvSpPr>
          <p:cNvPr id="14" name="Shape 11"/>
          <p:cNvSpPr/>
          <p:nvPr/>
        </p:nvSpPr>
        <p:spPr>
          <a:xfrm>
            <a:off x="6355080" y="2788920"/>
            <a:ext cx="5074920" cy="1024128"/>
          </a:xfrm>
          <a:prstGeom prst="roundRect">
            <a:avLst>
              <a:gd name="adj" fmla="val 714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5" name="Shape 12"/>
          <p:cNvSpPr/>
          <p:nvPr/>
        </p:nvSpPr>
        <p:spPr>
          <a:xfrm>
            <a:off x="6355080" y="2788920"/>
            <a:ext cx="73152" cy="1024128"/>
          </a:xfrm>
          <a:prstGeom prst="rect">
            <a:avLst/>
          </a:prstGeom>
          <a:solidFill>
            <a:srgbClr val="0F9D96"/>
          </a:solidFill>
          <a:ln w="12700">
            <a:solidFill>
              <a:srgbClr val="0F9D96"/>
            </a:solidFill>
            <a:prstDash val="solid"/>
          </a:ln>
        </p:spPr>
      </p:sp>
      <p:sp>
        <p:nvSpPr>
          <p:cNvPr id="16" name="Text 13"/>
          <p:cNvSpPr/>
          <p:nvPr/>
        </p:nvSpPr>
        <p:spPr>
          <a:xfrm>
            <a:off x="6583680" y="2990088"/>
            <a:ext cx="466344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QUESTION 2</a:t>
            </a:r>
            <a:endParaRPr lang="en-US" sz="1300" dirty="0"/>
          </a:p>
        </p:txBody>
      </p:sp>
      <p:sp>
        <p:nvSpPr>
          <p:cNvPr id="17" name="Text 14"/>
          <p:cNvSpPr/>
          <p:nvPr/>
        </p:nvSpPr>
        <p:spPr>
          <a:xfrm>
            <a:off x="6583680" y="3429000"/>
            <a:ext cx="4663440" cy="201168"/>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What live facts must be refreshed?</a:t>
            </a:r>
            <a:endParaRPr lang="en-US" sz="1700" dirty="0"/>
          </a:p>
        </p:txBody>
      </p:sp>
      <p:sp>
        <p:nvSpPr>
          <p:cNvPr id="18" name="Shape 15"/>
          <p:cNvSpPr/>
          <p:nvPr/>
        </p:nvSpPr>
        <p:spPr>
          <a:xfrm>
            <a:off x="822960" y="4160520"/>
            <a:ext cx="5074920" cy="1024128"/>
          </a:xfrm>
          <a:prstGeom prst="roundRect">
            <a:avLst>
              <a:gd name="adj" fmla="val 714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9" name="Shape 16"/>
          <p:cNvSpPr/>
          <p:nvPr/>
        </p:nvSpPr>
        <p:spPr>
          <a:xfrm>
            <a:off x="822960" y="4160520"/>
            <a:ext cx="73152" cy="1024128"/>
          </a:xfrm>
          <a:prstGeom prst="rect">
            <a:avLst/>
          </a:prstGeom>
          <a:solidFill>
            <a:srgbClr val="F47C20"/>
          </a:solidFill>
          <a:ln w="12700">
            <a:solidFill>
              <a:srgbClr val="F47C20"/>
            </a:solidFill>
            <a:prstDash val="solid"/>
          </a:ln>
        </p:spPr>
      </p:sp>
      <p:sp>
        <p:nvSpPr>
          <p:cNvPr id="20" name="Text 17"/>
          <p:cNvSpPr/>
          <p:nvPr/>
        </p:nvSpPr>
        <p:spPr>
          <a:xfrm>
            <a:off x="1051560" y="4361688"/>
            <a:ext cx="466344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QUESTION 3</a:t>
            </a:r>
            <a:endParaRPr lang="en-US" sz="1300" dirty="0"/>
          </a:p>
        </p:txBody>
      </p:sp>
      <p:sp>
        <p:nvSpPr>
          <p:cNvPr id="21" name="Text 18"/>
          <p:cNvSpPr/>
          <p:nvPr/>
        </p:nvSpPr>
        <p:spPr>
          <a:xfrm>
            <a:off x="1051560" y="4800600"/>
            <a:ext cx="4663440" cy="201168"/>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What status is justified now?</a:t>
            </a:r>
            <a:endParaRPr lang="en-US" sz="1700" dirty="0"/>
          </a:p>
        </p:txBody>
      </p:sp>
      <p:sp>
        <p:nvSpPr>
          <p:cNvPr id="22" name="Shape 19"/>
          <p:cNvSpPr/>
          <p:nvPr/>
        </p:nvSpPr>
        <p:spPr>
          <a:xfrm>
            <a:off x="6355080" y="4160520"/>
            <a:ext cx="5074920" cy="1024128"/>
          </a:xfrm>
          <a:prstGeom prst="roundRect">
            <a:avLst>
              <a:gd name="adj" fmla="val 714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23" name="Shape 20"/>
          <p:cNvSpPr/>
          <p:nvPr/>
        </p:nvSpPr>
        <p:spPr>
          <a:xfrm>
            <a:off x="6355080" y="4160520"/>
            <a:ext cx="73152" cy="1024128"/>
          </a:xfrm>
          <a:prstGeom prst="rect">
            <a:avLst/>
          </a:prstGeom>
          <a:solidFill>
            <a:srgbClr val="0F9D96"/>
          </a:solidFill>
          <a:ln w="12700">
            <a:solidFill>
              <a:srgbClr val="0F9D96"/>
            </a:solidFill>
            <a:prstDash val="solid"/>
          </a:ln>
        </p:spPr>
      </p:sp>
      <p:sp>
        <p:nvSpPr>
          <p:cNvPr id="24" name="Text 21"/>
          <p:cNvSpPr/>
          <p:nvPr/>
        </p:nvSpPr>
        <p:spPr>
          <a:xfrm>
            <a:off x="6583680" y="4361688"/>
            <a:ext cx="466344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QUESTION 4</a:t>
            </a:r>
            <a:endParaRPr lang="en-US" sz="1300" dirty="0"/>
          </a:p>
        </p:txBody>
      </p:sp>
      <p:sp>
        <p:nvSpPr>
          <p:cNvPr id="25" name="Text 22"/>
          <p:cNvSpPr/>
          <p:nvPr/>
        </p:nvSpPr>
        <p:spPr>
          <a:xfrm>
            <a:off x="6583680" y="4800600"/>
            <a:ext cx="4663440" cy="201168"/>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Who owns correction and replanning?</a:t>
            </a:r>
            <a:endParaRPr lang="en-US" sz="1700" dirty="0"/>
          </a:p>
        </p:txBody>
      </p:sp>
      <p:sp>
        <p:nvSpPr>
          <p:cNvPr id="26" name="Text 23"/>
          <p:cNvSpPr/>
          <p:nvPr/>
        </p:nvSpPr>
        <p:spPr>
          <a:xfrm>
            <a:off x="914400" y="5806440"/>
            <a:ext cx="10332720" cy="274320"/>
          </a:xfrm>
          <a:prstGeom prst="rect">
            <a:avLst/>
          </a:prstGeom>
          <a:noFill/>
          <a:ln/>
        </p:spPr>
        <p:txBody>
          <a:bodyPr wrap="square" lIns="0" tIns="0" rIns="0" bIns="0" rtlCol="0" anchor="ctr">
            <a:normAutofit/>
          </a:bodyPr>
          <a:lstStyle/>
          <a:p>
            <a:pPr algn="ctr" indent="0" marL="0">
              <a:buNone/>
            </a:pPr>
            <a:r>
              <a:rPr lang="en-US" sz="1300" b="1" dirty="0">
                <a:solidFill>
                  <a:srgbClr val="FFC928"/>
                </a:solidFill>
              </a:rPr>
              <a:t>Stop → refresh live pick + pallet → recount/verify → Hold if disposition unknown → log + supervisor → correct stock → replan.</a:t>
            </a:r>
            <a:endParaRPr lang="en-US" sz="13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123247"/>
                </a:solidFill>
                <a:latin typeface="Aptos Display" pitchFamily="34" charset="0"/>
                <a:ea typeface="Aptos Display" pitchFamily="34" charset="-122"/>
                <a:cs typeface="Aptos Display" pitchFamily="34" charset="-120"/>
              </a:rPr>
              <a:t>Confidence comes from doing it once with your own examples</a:t>
            </a:r>
            <a:endParaRPr lang="en-US" sz="2400" dirty="0"/>
          </a:p>
        </p:txBody>
      </p:sp>
      <p:sp>
        <p:nvSpPr>
          <p:cNvPr id="5" name="Shape 2"/>
          <p:cNvSpPr/>
          <p:nvPr/>
        </p:nvSpPr>
        <p:spPr>
          <a:xfrm>
            <a:off x="530352" y="950976"/>
            <a:ext cx="10972800" cy="0"/>
          </a:xfrm>
          <a:prstGeom prst="line">
            <a:avLst/>
          </a:prstGeom>
          <a:noFill/>
          <a:ln w="12700">
            <a:solidFill>
              <a:srgbClr val="D7E2E6"/>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19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2 min</a:t>
            </a:r>
            <a:endParaRPr lang="en-US" sz="800" dirty="0"/>
          </a:p>
        </p:txBody>
      </p:sp>
      <p:sp>
        <p:nvSpPr>
          <p:cNvPr id="8" name="Shape 5"/>
          <p:cNvSpPr/>
          <p:nvPr/>
        </p:nvSpPr>
        <p:spPr>
          <a:xfrm>
            <a:off x="594360" y="1325880"/>
            <a:ext cx="3429000" cy="4251960"/>
          </a:xfrm>
          <a:prstGeom prst="roundRect">
            <a:avLst>
              <a:gd name="adj" fmla="val 213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9" name="Shape 6"/>
          <p:cNvSpPr/>
          <p:nvPr/>
        </p:nvSpPr>
        <p:spPr>
          <a:xfrm>
            <a:off x="594360" y="1325880"/>
            <a:ext cx="73152" cy="4251960"/>
          </a:xfrm>
          <a:prstGeom prst="rect">
            <a:avLst/>
          </a:prstGeom>
          <a:solidFill>
            <a:srgbClr val="0F9D96"/>
          </a:solidFill>
          <a:ln w="12700">
            <a:solidFill>
              <a:srgbClr val="0F9D96"/>
            </a:solidFill>
            <a:prstDash val="solid"/>
          </a:ln>
        </p:spPr>
      </p:sp>
      <p:sp>
        <p:nvSpPr>
          <p:cNvPr id="10" name="Text 7"/>
          <p:cNvSpPr/>
          <p:nvPr/>
        </p:nvSpPr>
        <p:spPr>
          <a:xfrm>
            <a:off x="822960" y="1527048"/>
            <a:ext cx="3017520" cy="256032"/>
          </a:xfrm>
          <a:prstGeom prst="rect">
            <a:avLst/>
          </a:prstGeom>
          <a:noFill/>
          <a:ln/>
        </p:spPr>
        <p:txBody>
          <a:bodyPr wrap="square" lIns="0" tIns="0" rIns="0" bIns="0" rtlCol="0" anchor="ctr"/>
          <a:lstStyle/>
          <a:p>
            <a:pPr indent="0" marL="0">
              <a:buNone/>
            </a:pPr>
            <a:r>
              <a:rPr lang="en-US" sz="1300" b="1" spc="80" kern="0" dirty="0">
                <a:solidFill>
                  <a:srgbClr val="0F9D96"/>
                </a:solidFill>
                <a:latin typeface="Aptos" pitchFamily="34" charset="0"/>
                <a:ea typeface="Aptos" pitchFamily="34" charset="-122"/>
                <a:cs typeface="Aptos" pitchFamily="34" charset="-120"/>
              </a:rPr>
              <a:t>OPERATOR</a:t>
            </a:r>
            <a:endParaRPr lang="en-US" sz="1300" dirty="0"/>
          </a:p>
        </p:txBody>
      </p:sp>
      <p:sp>
        <p:nvSpPr>
          <p:cNvPr id="11" name="Text 8"/>
          <p:cNvSpPr/>
          <p:nvPr/>
        </p:nvSpPr>
        <p:spPr>
          <a:xfrm>
            <a:off x="822960" y="1965960"/>
            <a:ext cx="3017520" cy="342900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Sign-in + warehouse</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Put-Away · Pick · Move · Count</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Stop rule + offline recovery</a:t>
            </a:r>
            <a:endParaRPr lang="en-US" sz="1700" dirty="0"/>
          </a:p>
        </p:txBody>
      </p:sp>
      <p:sp>
        <p:nvSpPr>
          <p:cNvPr id="12" name="Shape 9"/>
          <p:cNvSpPr/>
          <p:nvPr/>
        </p:nvSpPr>
        <p:spPr>
          <a:xfrm>
            <a:off x="4434840" y="1325880"/>
            <a:ext cx="3429000" cy="4251960"/>
          </a:xfrm>
          <a:prstGeom prst="roundRect">
            <a:avLst>
              <a:gd name="adj" fmla="val 213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3" name="Shape 10"/>
          <p:cNvSpPr/>
          <p:nvPr/>
        </p:nvSpPr>
        <p:spPr>
          <a:xfrm>
            <a:off x="4434840" y="1325880"/>
            <a:ext cx="73152" cy="4251960"/>
          </a:xfrm>
          <a:prstGeom prst="rect">
            <a:avLst/>
          </a:prstGeom>
          <a:solidFill>
            <a:srgbClr val="F47C20"/>
          </a:solidFill>
          <a:ln w="12700">
            <a:solidFill>
              <a:srgbClr val="F47C20"/>
            </a:solidFill>
            <a:prstDash val="solid"/>
          </a:ln>
        </p:spPr>
      </p:sp>
      <p:sp>
        <p:nvSpPr>
          <p:cNvPr id="14" name="Text 11"/>
          <p:cNvSpPr/>
          <p:nvPr/>
        </p:nvSpPr>
        <p:spPr>
          <a:xfrm>
            <a:off x="4663440" y="1527048"/>
            <a:ext cx="3017520" cy="256032"/>
          </a:xfrm>
          <a:prstGeom prst="rect">
            <a:avLst/>
          </a:prstGeom>
          <a:noFill/>
          <a:ln/>
        </p:spPr>
        <p:txBody>
          <a:bodyPr wrap="square" lIns="0" tIns="0" rIns="0" bIns="0" rtlCol="0" anchor="ctr"/>
          <a:lstStyle/>
          <a:p>
            <a:pPr indent="0" marL="0">
              <a:buNone/>
            </a:pPr>
            <a:r>
              <a:rPr lang="en-US" sz="1300" b="1" spc="80" kern="0" dirty="0">
                <a:solidFill>
                  <a:srgbClr val="F47C20"/>
                </a:solidFill>
                <a:latin typeface="Aptos" pitchFamily="34" charset="0"/>
                <a:ea typeface="Aptos" pitchFamily="34" charset="-122"/>
                <a:cs typeface="Aptos" pitchFamily="34" charset="-120"/>
              </a:rPr>
              <a:t>CLERK</a:t>
            </a:r>
            <a:endParaRPr lang="en-US" sz="1300" dirty="0"/>
          </a:p>
        </p:txBody>
      </p:sp>
      <p:sp>
        <p:nvSpPr>
          <p:cNvPr id="15" name="Text 12"/>
          <p:cNvSpPr/>
          <p:nvPr/>
        </p:nvSpPr>
        <p:spPr>
          <a:xfrm>
            <a:off x="4663440" y="1965960"/>
            <a:ext cx="3017520" cy="342900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Receipt + labels</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Master-data correction</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Status with reason</a:t>
            </a:r>
            <a:endParaRPr lang="en-US" sz="1700" dirty="0"/>
          </a:p>
        </p:txBody>
      </p:sp>
      <p:sp>
        <p:nvSpPr>
          <p:cNvPr id="16" name="Shape 13"/>
          <p:cNvSpPr/>
          <p:nvPr/>
        </p:nvSpPr>
        <p:spPr>
          <a:xfrm>
            <a:off x="8275320" y="1325880"/>
            <a:ext cx="3429000" cy="4251960"/>
          </a:xfrm>
          <a:prstGeom prst="roundRect">
            <a:avLst>
              <a:gd name="adj" fmla="val 2133"/>
            </a:avLst>
          </a:prstGeom>
          <a:solidFill>
            <a:srgbClr val="FFFFFF"/>
          </a:solidFill>
          <a:ln w="15240">
            <a:solidFill>
              <a:srgbClr val="D7E2E6"/>
            </a:solidFill>
            <a:prstDash val="solid"/>
          </a:ln>
          <a:effectLst>
            <a:outerShdw sx="100000" sy="100000" kx="0" ky="0" algn="bl" rotWithShape="0" blurRad="12700" dist="50800" dir="2700000">
              <a:srgbClr val="9DAFB7">
                <a:alpha val="14000"/>
              </a:srgbClr>
            </a:outerShdw>
          </a:effectLst>
        </p:spPr>
      </p:sp>
      <p:sp>
        <p:nvSpPr>
          <p:cNvPr id="17" name="Shape 14"/>
          <p:cNvSpPr/>
          <p:nvPr/>
        </p:nvSpPr>
        <p:spPr>
          <a:xfrm>
            <a:off x="8275320" y="1325880"/>
            <a:ext cx="73152" cy="4251960"/>
          </a:xfrm>
          <a:prstGeom prst="rect">
            <a:avLst/>
          </a:prstGeom>
          <a:solidFill>
            <a:srgbClr val="123247"/>
          </a:solidFill>
          <a:ln w="12700">
            <a:solidFill>
              <a:srgbClr val="123247"/>
            </a:solidFill>
            <a:prstDash val="solid"/>
          </a:ln>
        </p:spPr>
      </p:sp>
      <p:sp>
        <p:nvSpPr>
          <p:cNvPr id="18" name="Text 15"/>
          <p:cNvSpPr/>
          <p:nvPr/>
        </p:nvSpPr>
        <p:spPr>
          <a:xfrm>
            <a:off x="8503920" y="1527048"/>
            <a:ext cx="3017520" cy="256032"/>
          </a:xfrm>
          <a:prstGeom prst="rect">
            <a:avLst/>
          </a:prstGeom>
          <a:noFill/>
          <a:ln/>
        </p:spPr>
        <p:txBody>
          <a:bodyPr wrap="square" lIns="0" tIns="0" rIns="0" bIns="0" rtlCol="0" anchor="ctr"/>
          <a:lstStyle/>
          <a:p>
            <a:pPr indent="0" marL="0">
              <a:buNone/>
            </a:pPr>
            <a:r>
              <a:rPr lang="en-US" sz="1300" b="1" spc="80" kern="0" dirty="0">
                <a:solidFill>
                  <a:srgbClr val="123247"/>
                </a:solidFill>
                <a:latin typeface="Aptos" pitchFamily="34" charset="0"/>
                <a:ea typeface="Aptos" pitchFamily="34" charset="-122"/>
                <a:cs typeface="Aptos" pitchFamily="34" charset="-120"/>
              </a:rPr>
              <a:t>MANAGER</a:t>
            </a:r>
            <a:endParaRPr lang="en-US" sz="1300" dirty="0"/>
          </a:p>
        </p:txBody>
      </p:sp>
      <p:sp>
        <p:nvSpPr>
          <p:cNvPr id="19" name="Text 16"/>
          <p:cNvSpPr/>
          <p:nvPr/>
        </p:nvSpPr>
        <p:spPr>
          <a:xfrm>
            <a:off x="8503920" y="1965960"/>
            <a:ext cx="3017520" cy="3429000"/>
          </a:xfrm>
          <a:prstGeom prst="rect">
            <a:avLst/>
          </a:prstGeom>
          <a:noFill/>
          <a:ln/>
        </p:spPr>
        <p:txBody>
          <a:bodyPr wrap="square" lIns="0" tIns="0" rIns="0" bIns="0" rtlCol="0" anchor="ctr">
            <a:normAutofit/>
          </a:bodyPr>
          <a:lstStyle/>
          <a:p>
            <a:pPr indent="0" marL="0">
              <a:buNone/>
            </a:pPr>
            <a:r>
              <a:rPr lang="en-US" sz="1700" b="1" dirty="0">
                <a:solidFill>
                  <a:srgbClr val="16303D"/>
                </a:solidFill>
                <a:latin typeface="Aptos" pitchFamily="34" charset="0"/>
                <a:ea typeface="Aptos" pitchFamily="34" charset="-122"/>
                <a:cs typeface="Aptos" pitchFamily="34" charset="-120"/>
              </a:rPr>
              <a:t>Shift control</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Executable release</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Exception + count review</a:t>
            </a:r>
            <a:endParaRPr lang="en-US" sz="1700" dirty="0"/>
          </a:p>
          <a:p>
            <a:pPr indent="0" marL="0">
              <a:buNone/>
            </a:pPr>
            <a:r>
              <a:rPr lang="en-US" sz="1700" b="1" dirty="0">
                <a:solidFill>
                  <a:srgbClr val="16303D"/>
                </a:solidFill>
                <a:latin typeface="Aptos" pitchFamily="34" charset="0"/>
                <a:ea typeface="Aptos" pitchFamily="34" charset="-122"/>
                <a:cs typeface="Aptos" pitchFamily="34" charset="-120"/>
              </a:rPr>
              <a:t>Safe handoff</a:t>
            </a:r>
            <a:endParaRPr lang="en-US" sz="1700" dirty="0"/>
          </a:p>
        </p:txBody>
      </p:sp>
      <p:sp>
        <p:nvSpPr>
          <p:cNvPr id="20" name="Text 17"/>
          <p:cNvSpPr/>
          <p:nvPr/>
        </p:nvSpPr>
        <p:spPr>
          <a:xfrm>
            <a:off x="822960" y="5806440"/>
            <a:ext cx="10515600" cy="274320"/>
          </a:xfrm>
          <a:prstGeom prst="rect">
            <a:avLst/>
          </a:prstGeom>
          <a:noFill/>
          <a:ln/>
        </p:spPr>
        <p:txBody>
          <a:bodyPr wrap="square" lIns="0" tIns="0" rIns="0" bIns="0" rtlCol="0" anchor="ctr"/>
          <a:lstStyle/>
          <a:p>
            <a:pPr algn="ctr" indent="0" marL="0">
              <a:buNone/>
            </a:pPr>
            <a:r>
              <a:rPr lang="en-US" sz="1400" b="1" dirty="0">
                <a:solidFill>
                  <a:srgbClr val="087B76"/>
                </a:solidFill>
              </a:rPr>
              <a:t>Attendance is not competency — each person demonstrates normal work and at least one exception.</a:t>
            </a:r>
            <a:endParaRPr lang="en-US" sz="14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434"/>
        </a:solidFill>
      </p:bgPr>
    </p:bg>
    <p:spTree>
      <p:nvGrpSpPr>
        <p:cNvPr id="1" name=""/>
        <p:cNvGrpSpPr/>
        <p:nvPr/>
      </p:nvGrpSpPr>
      <p:grpSpPr>
        <a:xfrm>
          <a:off x="0" y="0"/>
          <a:ext cx="0" cy="0"/>
          <a:chOff x="0" y="0"/>
          <a:chExt cx="0" cy="0"/>
        </a:xfrm>
      </p:grpSpPr>
      <p:sp>
        <p:nvSpPr>
          <p:cNvPr id="3" name="Shape 0"/>
          <p:cNvSpPr/>
          <p:nvPr/>
        </p:nvSpPr>
        <p:spPr>
          <a:xfrm>
            <a:off x="0" y="0"/>
            <a:ext cx="128016" cy="6858000"/>
          </a:xfrm>
          <a:prstGeom prst="rect">
            <a:avLst/>
          </a:prstGeom>
          <a:solidFill>
            <a:srgbClr val="0F9D96"/>
          </a:solidFill>
          <a:ln w="12700">
            <a:solidFill>
              <a:srgbClr val="0F9D96"/>
            </a:solidFill>
            <a:prstDash val="solid"/>
          </a:ln>
        </p:spPr>
      </p:sp>
      <p:sp>
        <p:nvSpPr>
          <p:cNvPr id="4" name="Text 1"/>
          <p:cNvSpPr/>
          <p:nvPr/>
        </p:nvSpPr>
        <p:spPr>
          <a:xfrm>
            <a:off x="530352" y="347472"/>
            <a:ext cx="10652760" cy="502920"/>
          </a:xfrm>
          <a:prstGeom prst="rect">
            <a:avLst/>
          </a:prstGeom>
          <a:noFill/>
          <a:ln/>
        </p:spPr>
        <p:txBody>
          <a:bodyPr wrap="square" lIns="0" tIns="0" rIns="0" bIns="0" rtlCol="0" anchor="ct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Your reference set after today</a:t>
            </a:r>
            <a:endParaRPr lang="en-US" sz="2400" dirty="0"/>
          </a:p>
        </p:txBody>
      </p:sp>
      <p:sp>
        <p:nvSpPr>
          <p:cNvPr id="5" name="Shape 2"/>
          <p:cNvSpPr/>
          <p:nvPr/>
        </p:nvSpPr>
        <p:spPr>
          <a:xfrm>
            <a:off x="530352" y="950976"/>
            <a:ext cx="10972800" cy="0"/>
          </a:xfrm>
          <a:prstGeom prst="line">
            <a:avLst/>
          </a:prstGeom>
          <a:noFill/>
          <a:ln w="12700">
            <a:solidFill>
              <a:srgbClr val="315064"/>
            </a:solidFill>
            <a:prstDash val="solid"/>
          </a:ln>
        </p:spPr>
      </p:sp>
      <p:sp>
        <p:nvSpPr>
          <p:cNvPr id="6" name="Text 3"/>
          <p:cNvSpPr/>
          <p:nvPr/>
        </p:nvSpPr>
        <p:spPr>
          <a:xfrm>
            <a:off x="10698480" y="6473952"/>
            <a:ext cx="1051560" cy="182880"/>
          </a:xfrm>
          <a:prstGeom prst="rect">
            <a:avLst/>
          </a:prstGeom>
          <a:noFill/>
          <a:ln/>
        </p:spPr>
        <p:txBody>
          <a:bodyPr wrap="square" lIns="0" tIns="0" rIns="0" bIns="0" rtlCol="0" anchor="ctr"/>
          <a:lstStyle/>
          <a:p>
            <a:pPr algn="r" indent="0" marL="0">
              <a:buNone/>
            </a:pPr>
            <a:r>
              <a:rPr lang="en-US" sz="800" dirty="0">
                <a:solidFill>
                  <a:srgbClr val="667985"/>
                </a:solidFill>
                <a:latin typeface="Aptos" pitchFamily="34" charset="0"/>
                <a:ea typeface="Aptos" pitchFamily="34" charset="-122"/>
                <a:cs typeface="Aptos" pitchFamily="34" charset="-120"/>
              </a:rPr>
              <a:t>20 / 20</a:t>
            </a:r>
            <a:endParaRPr lang="en-US" sz="800" dirty="0"/>
          </a:p>
        </p:txBody>
      </p:sp>
      <p:sp>
        <p:nvSpPr>
          <p:cNvPr id="7" name="Text 4"/>
          <p:cNvSpPr/>
          <p:nvPr/>
        </p:nvSpPr>
        <p:spPr>
          <a:xfrm>
            <a:off x="438912" y="6473952"/>
            <a:ext cx="640080" cy="182880"/>
          </a:xfrm>
          <a:prstGeom prst="rect">
            <a:avLst/>
          </a:prstGeom>
          <a:noFill/>
          <a:ln/>
        </p:spPr>
        <p:txBody>
          <a:bodyPr wrap="square" lIns="0" tIns="0" rIns="0" bIns="0" rtlCol="0" anchor="ctr"/>
          <a:lstStyle/>
          <a:p>
            <a:pPr indent="0" marL="0">
              <a:buNone/>
            </a:pPr>
            <a:r>
              <a:rPr lang="en-US" sz="800" dirty="0">
                <a:solidFill>
                  <a:srgbClr val="667985"/>
                </a:solidFill>
                <a:latin typeface="Aptos" pitchFamily="34" charset="0"/>
                <a:ea typeface="Aptos" pitchFamily="34" charset="-122"/>
                <a:cs typeface="Aptos" pitchFamily="34" charset="-120"/>
              </a:rPr>
              <a:t>1 min</a:t>
            </a:r>
            <a:endParaRPr lang="en-US" sz="800" dirty="0"/>
          </a:p>
        </p:txBody>
      </p:sp>
      <p:sp>
        <p:nvSpPr>
          <p:cNvPr id="8" name="Shape 5"/>
          <p:cNvSpPr/>
          <p:nvPr/>
        </p:nvSpPr>
        <p:spPr>
          <a:xfrm>
            <a:off x="731520" y="1188720"/>
            <a:ext cx="1325880" cy="347472"/>
          </a:xfrm>
          <a:prstGeom prst="roundRect">
            <a:avLst>
              <a:gd name="adj" fmla="val 21053"/>
            </a:avLst>
          </a:prstGeom>
          <a:solidFill>
            <a:srgbClr val="F47C20"/>
          </a:solidFill>
          <a:ln w="12700">
            <a:solidFill>
              <a:srgbClr val="F47C20"/>
            </a:solidFill>
            <a:prstDash val="solid"/>
          </a:ln>
        </p:spPr>
      </p:sp>
      <p:sp>
        <p:nvSpPr>
          <p:cNvPr id="9" name="Text 6"/>
          <p:cNvSpPr/>
          <p:nvPr/>
        </p:nvSpPr>
        <p:spPr>
          <a:xfrm>
            <a:off x="786384" y="1243584"/>
            <a:ext cx="1216152" cy="164592"/>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Aptos" pitchFamily="34" charset="0"/>
                <a:ea typeface="Aptos" pitchFamily="34" charset="-122"/>
                <a:cs typeface="Aptos" pitchFamily="34" charset="-120"/>
              </a:rPr>
              <a:t>TAKE-AWAY</a:t>
            </a:r>
            <a:endParaRPr lang="en-US" sz="900" dirty="0"/>
          </a:p>
        </p:txBody>
      </p:sp>
      <p:sp>
        <p:nvSpPr>
          <p:cNvPr id="10" name="Shape 7"/>
          <p:cNvSpPr/>
          <p:nvPr/>
        </p:nvSpPr>
        <p:spPr>
          <a:xfrm>
            <a:off x="914400" y="1828800"/>
            <a:ext cx="457200" cy="457200"/>
          </a:xfrm>
          <a:prstGeom prst="ellipse">
            <a:avLst/>
          </a:prstGeom>
          <a:solidFill>
            <a:srgbClr val="0F9D96"/>
          </a:solidFill>
          <a:ln w="12700">
            <a:solidFill>
              <a:srgbClr val="0F9D96"/>
            </a:solidFill>
            <a:prstDash val="solid"/>
          </a:ln>
        </p:spPr>
      </p:sp>
      <p:sp>
        <p:nvSpPr>
          <p:cNvPr id="11" name="Text 8"/>
          <p:cNvSpPr/>
          <p:nvPr/>
        </p:nvSpPr>
        <p:spPr>
          <a:xfrm>
            <a:off x="914400" y="1920240"/>
            <a:ext cx="457200" cy="20116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2" name="Text 9"/>
          <p:cNvSpPr/>
          <p:nvPr/>
        </p:nvSpPr>
        <p:spPr>
          <a:xfrm>
            <a:off x="1600200" y="1901952"/>
            <a:ext cx="9144000" cy="274320"/>
          </a:xfrm>
          <a:prstGeom prst="rect">
            <a:avLst/>
          </a:prstGeom>
          <a:noFill/>
          <a:ln/>
        </p:spPr>
        <p:txBody>
          <a:bodyPr wrap="square" lIns="0" tIns="0" rIns="0" bIns="0" rtlCol="0" anchor="ctr"/>
          <a:lstStyle/>
          <a:p>
            <a:pPr indent="0" marL="0">
              <a:buNone/>
            </a:pPr>
            <a:r>
              <a:rPr lang="en-US" sz="2000" dirty="0">
                <a:solidFill>
                  <a:srgbClr val="FFFFFF"/>
                </a:solidFill>
              </a:rPr>
              <a:t>In-app contextual Help + searchable Help Center</a:t>
            </a:r>
            <a:endParaRPr lang="en-US" sz="2000" dirty="0"/>
          </a:p>
        </p:txBody>
      </p:sp>
      <p:sp>
        <p:nvSpPr>
          <p:cNvPr id="13" name="Shape 10"/>
          <p:cNvSpPr/>
          <p:nvPr/>
        </p:nvSpPr>
        <p:spPr>
          <a:xfrm>
            <a:off x="914400" y="2615184"/>
            <a:ext cx="457200" cy="457200"/>
          </a:xfrm>
          <a:prstGeom prst="ellipse">
            <a:avLst/>
          </a:prstGeom>
          <a:solidFill>
            <a:srgbClr val="0F9D96"/>
          </a:solidFill>
          <a:ln w="12700">
            <a:solidFill>
              <a:srgbClr val="0F9D96"/>
            </a:solidFill>
            <a:prstDash val="solid"/>
          </a:ln>
        </p:spPr>
      </p:sp>
      <p:sp>
        <p:nvSpPr>
          <p:cNvPr id="14" name="Text 11"/>
          <p:cNvSpPr/>
          <p:nvPr/>
        </p:nvSpPr>
        <p:spPr>
          <a:xfrm>
            <a:off x="914400" y="2706624"/>
            <a:ext cx="457200" cy="20116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Text 12"/>
          <p:cNvSpPr/>
          <p:nvPr/>
        </p:nvSpPr>
        <p:spPr>
          <a:xfrm>
            <a:off x="1600200" y="2688336"/>
            <a:ext cx="9144000" cy="274320"/>
          </a:xfrm>
          <a:prstGeom prst="rect">
            <a:avLst/>
          </a:prstGeom>
          <a:noFill/>
          <a:ln/>
        </p:spPr>
        <p:txBody>
          <a:bodyPr wrap="square" lIns="0" tIns="0" rIns="0" bIns="0" rtlCol="0" anchor="ctr"/>
          <a:lstStyle/>
          <a:p>
            <a:pPr indent="0" marL="0">
              <a:buNone/>
            </a:pPr>
            <a:r>
              <a:rPr lang="en-US" sz="2000" dirty="0">
                <a:solidFill>
                  <a:srgbClr val="FFFFFF"/>
                </a:solidFill>
              </a:rPr>
              <a:t>WW-UM-001 User Manual (PDF, DOCX, Markdown)</a:t>
            </a:r>
            <a:endParaRPr lang="en-US" sz="2000" dirty="0"/>
          </a:p>
        </p:txBody>
      </p:sp>
      <p:sp>
        <p:nvSpPr>
          <p:cNvPr id="16" name="Shape 13"/>
          <p:cNvSpPr/>
          <p:nvPr/>
        </p:nvSpPr>
        <p:spPr>
          <a:xfrm>
            <a:off x="914400" y="3401568"/>
            <a:ext cx="457200" cy="457200"/>
          </a:xfrm>
          <a:prstGeom prst="ellipse">
            <a:avLst/>
          </a:prstGeom>
          <a:solidFill>
            <a:srgbClr val="0F9D96"/>
          </a:solidFill>
          <a:ln w="12700">
            <a:solidFill>
              <a:srgbClr val="0F9D96"/>
            </a:solidFill>
            <a:prstDash val="solid"/>
          </a:ln>
        </p:spPr>
      </p:sp>
      <p:sp>
        <p:nvSpPr>
          <p:cNvPr id="17" name="Text 14"/>
          <p:cNvSpPr/>
          <p:nvPr/>
        </p:nvSpPr>
        <p:spPr>
          <a:xfrm>
            <a:off x="914400" y="3493008"/>
            <a:ext cx="457200" cy="20116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5"/>
          <p:cNvSpPr/>
          <p:nvPr/>
        </p:nvSpPr>
        <p:spPr>
          <a:xfrm>
            <a:off x="1600200" y="3474720"/>
            <a:ext cx="9144000" cy="274320"/>
          </a:xfrm>
          <a:prstGeom prst="rect">
            <a:avLst/>
          </a:prstGeom>
          <a:noFill/>
          <a:ln/>
        </p:spPr>
        <p:txBody>
          <a:bodyPr wrap="square" lIns="0" tIns="0" rIns="0" bIns="0" rtlCol="0" anchor="ctr"/>
          <a:lstStyle/>
          <a:p>
            <a:pPr indent="0" marL="0">
              <a:buNone/>
            </a:pPr>
            <a:r>
              <a:rPr lang="en-US" sz="2000" dirty="0">
                <a:solidFill>
                  <a:srgbClr val="FFFFFF"/>
                </a:solidFill>
              </a:rPr>
              <a:t>Role-based Standard Work Cards</a:t>
            </a:r>
            <a:endParaRPr lang="en-US" sz="2000" dirty="0"/>
          </a:p>
        </p:txBody>
      </p:sp>
      <p:sp>
        <p:nvSpPr>
          <p:cNvPr id="19" name="Shape 16"/>
          <p:cNvSpPr/>
          <p:nvPr/>
        </p:nvSpPr>
        <p:spPr>
          <a:xfrm>
            <a:off x="914400" y="4187952"/>
            <a:ext cx="457200" cy="457200"/>
          </a:xfrm>
          <a:prstGeom prst="ellipse">
            <a:avLst/>
          </a:prstGeom>
          <a:solidFill>
            <a:srgbClr val="0F9D96"/>
          </a:solidFill>
          <a:ln w="12700">
            <a:solidFill>
              <a:srgbClr val="0F9D96"/>
            </a:solidFill>
            <a:prstDash val="solid"/>
          </a:ln>
        </p:spPr>
      </p:sp>
      <p:sp>
        <p:nvSpPr>
          <p:cNvPr id="20" name="Text 17"/>
          <p:cNvSpPr/>
          <p:nvPr/>
        </p:nvSpPr>
        <p:spPr>
          <a:xfrm>
            <a:off x="914400" y="4279392"/>
            <a:ext cx="457200" cy="20116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1" name="Text 18"/>
          <p:cNvSpPr/>
          <p:nvPr/>
        </p:nvSpPr>
        <p:spPr>
          <a:xfrm>
            <a:off x="1600200" y="4261104"/>
            <a:ext cx="9144000" cy="274320"/>
          </a:xfrm>
          <a:prstGeom prst="rect">
            <a:avLst/>
          </a:prstGeom>
          <a:noFill/>
          <a:ln/>
        </p:spPr>
        <p:txBody>
          <a:bodyPr wrap="square" lIns="0" tIns="0" rIns="0" bIns="0" rtlCol="0" anchor="ctr"/>
          <a:lstStyle/>
          <a:p>
            <a:pPr indent="0" marL="0">
              <a:buNone/>
            </a:pPr>
            <a:r>
              <a:rPr lang="en-US" sz="2000" dirty="0">
                <a:solidFill>
                  <a:srgbClr val="FFFFFF"/>
                </a:solidFill>
              </a:rPr>
              <a:t>Training deck + facilitator notes</a:t>
            </a:r>
            <a:endParaRPr lang="en-US" sz="2000" dirty="0"/>
          </a:p>
        </p:txBody>
      </p:sp>
      <p:sp>
        <p:nvSpPr>
          <p:cNvPr id="22" name="Text 19"/>
          <p:cNvSpPr/>
          <p:nvPr/>
        </p:nvSpPr>
        <p:spPr>
          <a:xfrm>
            <a:off x="914400" y="5257800"/>
            <a:ext cx="10332720" cy="548640"/>
          </a:xfrm>
          <a:prstGeom prst="rect">
            <a:avLst/>
          </a:prstGeom>
          <a:noFill/>
          <a:ln/>
        </p:spPr>
        <p:txBody>
          <a:bodyPr wrap="square" lIns="0" tIns="0" rIns="0" bIns="0" rtlCol="0" anchor="ctr"/>
          <a:lstStyle/>
          <a:p>
            <a:pPr algn="ctr" indent="0" marL="0">
              <a:buNone/>
            </a:pPr>
            <a:r>
              <a:rPr lang="en-US" sz="2500" b="1" dirty="0">
                <a:solidFill>
                  <a:srgbClr val="FFC928"/>
                </a:solidFill>
              </a:rPr>
              <a:t>Your people know the warehouse. Warehouse Wizard keeps their decisions visible.</a:t>
            </a:r>
            <a:endParaRPr lang="en-US" sz="2500" dirty="0"/>
          </a:p>
        </p:txBody>
      </p:sp>
      <p:sp>
        <p:nvSpPr>
          <p:cNvPr id="25" name="Slide Number Placeholder 0"/>
          <p:cNvSpPr>
            <a:spLocks noGrp="1"/>
          </p:cNvSpPr>
          <p:nvPr>
            <p:ph type="sldNum" sz="quarter" idx="4294967295"/>
          </p:nvPr>
        </p:nvSpPr>
        <p:spPr>
          <a:xfrm>
            <a:off x="1143000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7985"/>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Warehouse Wizard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Warehouse Wizard — Manager + Operator Training</dc:title>
  <dc:subject>Client manager and operator training</dc:subject>
  <dc:creator>Warehouse Wizard</dc:creator>
  <cp:lastModifiedBy>Warehouse Wizard</cp:lastModifiedBy>
  <cp:revision>1</cp:revision>
  <dcterms:created xsi:type="dcterms:W3CDTF">2026-08-09T11:26:50Z</dcterms:created>
  <dcterms:modified xsi:type="dcterms:W3CDTF">2026-08-09T11:26:50Z</dcterms:modified>
</cp:coreProperties>
</file>